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1" r:id="rId2"/>
    <p:sldId id="272" r:id="rId3"/>
    <p:sldId id="308" r:id="rId4"/>
    <p:sldId id="275" r:id="rId5"/>
    <p:sldId id="293" r:id="rId6"/>
    <p:sldId id="297" r:id="rId7"/>
    <p:sldId id="295" r:id="rId8"/>
    <p:sldId id="321" r:id="rId9"/>
    <p:sldId id="320" r:id="rId10"/>
    <p:sldId id="323" r:id="rId11"/>
    <p:sldId id="324" r:id="rId12"/>
    <p:sldId id="298" r:id="rId13"/>
    <p:sldId id="299" r:id="rId14"/>
    <p:sldId id="300" r:id="rId15"/>
    <p:sldId id="317" r:id="rId16"/>
    <p:sldId id="303" r:id="rId17"/>
    <p:sldId id="304" r:id="rId18"/>
    <p:sldId id="301" r:id="rId19"/>
    <p:sldId id="305" r:id="rId20"/>
    <p:sldId id="318" r:id="rId21"/>
    <p:sldId id="307" r:id="rId22"/>
    <p:sldId id="309" r:id="rId23"/>
    <p:sldId id="313" r:id="rId24"/>
    <p:sldId id="310" r:id="rId25"/>
    <p:sldId id="314" r:id="rId26"/>
    <p:sldId id="315" r:id="rId27"/>
    <p:sldId id="316" r:id="rId28"/>
    <p:sldId id="311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644"/>
    <a:srgbClr val="F2F2F2"/>
    <a:srgbClr val="FFFFFF"/>
    <a:srgbClr val="224D60"/>
    <a:srgbClr val="1F4CF5"/>
    <a:srgbClr val="404040"/>
    <a:srgbClr val="206236"/>
    <a:srgbClr val="C7EBD7"/>
    <a:srgbClr val="00B050"/>
    <a:srgbClr val="0FCA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43" autoAdjust="0"/>
  </p:normalViewPr>
  <p:slideViewPr>
    <p:cSldViewPr snapToGrid="0" showGuides="1">
      <p:cViewPr varScale="1">
        <p:scale>
          <a:sx n="139" d="100"/>
          <a:sy n="139" d="100"/>
        </p:scale>
        <p:origin x="1146" y="34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EF41B-3100-4919-B962-2CC5D83BB7D7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CEB0D-F7D4-4E75-A226-C4774B72C2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418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5CEB0D-F7D4-4E75-A226-C4774B72C2C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481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98245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82200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1200park" TargetMode="External"/><Relationship Id="rId4" Type="http://schemas.openxmlformats.org/officeDocument/2006/relationships/hyperlink" Target="http://www.linkedin.com/in/1200park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naver.me/xUFv3vkw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&#54617;&#44368;/&#54617;&#49324;&#54617;&#50948;%20&#51320;&#50629;&#45436;&#47928;.pdf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465221" y="962191"/>
            <a:ext cx="449193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b="1" spc="-150" dirty="0" err="1">
                <a:solidFill>
                  <a:schemeClr val="bg1"/>
                </a:solidFill>
                <a:latin typeface="+mj-ea"/>
                <a:ea typeface="+mj-ea"/>
              </a:rPr>
              <a:t>두나무</a:t>
            </a:r>
            <a:r>
              <a:rPr lang="ko-KR" altLang="en-US" sz="6600" b="1" spc="-150" dirty="0">
                <a:solidFill>
                  <a:schemeClr val="bg1"/>
                </a:solidFill>
                <a:latin typeface="+mj-ea"/>
                <a:ea typeface="+mj-ea"/>
              </a:rPr>
              <a:t> 지원</a:t>
            </a:r>
            <a:endParaRPr lang="en-US" altLang="ko-KR" sz="6600" b="1" spc="-15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6000" spc="-150" dirty="0">
                <a:solidFill>
                  <a:schemeClr val="bg1"/>
                </a:solidFill>
              </a:rPr>
              <a:t>포트폴리오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9289047" y="4592720"/>
            <a:ext cx="1301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지원자 박일주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318402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9A06E1-8C5F-D09A-18AE-1D0BE65EE5BE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952B65-17C6-5312-CAF9-475FA7B13DC4}"/>
              </a:ext>
            </a:extLst>
          </p:cNvPr>
          <p:cNvSpPr txBox="1"/>
          <p:nvPr/>
        </p:nvSpPr>
        <p:spPr>
          <a:xfrm>
            <a:off x="9289047" y="4999832"/>
            <a:ext cx="2375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Tel 010-6770-2816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Email dlfwnqkr12@gmail.com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E47EFE-E9D2-9295-B140-F82EFD77F020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2CED0DE-6F71-71B8-7E6B-E4BBFE0015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31"/>
          <a:stretch/>
        </p:blipFill>
        <p:spPr>
          <a:xfrm>
            <a:off x="6096000" y="0"/>
            <a:ext cx="6108378" cy="685800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95F5617-8CB3-2C90-D484-7E78AF629F77}"/>
              </a:ext>
            </a:extLst>
          </p:cNvPr>
          <p:cNvCxnSpPr/>
          <p:nvPr/>
        </p:nvCxnSpPr>
        <p:spPr>
          <a:xfrm>
            <a:off x="144378" y="176464"/>
            <a:ext cx="12060000" cy="0"/>
          </a:xfrm>
          <a:prstGeom prst="line">
            <a:avLst/>
          </a:prstGeom>
          <a:ln w="762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4A3B93-1F0C-9A0F-F5F7-F4FD3957F3AF}"/>
              </a:ext>
            </a:extLst>
          </p:cNvPr>
          <p:cNvCxnSpPr/>
          <p:nvPr/>
        </p:nvCxnSpPr>
        <p:spPr>
          <a:xfrm>
            <a:off x="144378" y="6705601"/>
            <a:ext cx="12060000" cy="0"/>
          </a:xfrm>
          <a:prstGeom prst="line">
            <a:avLst/>
          </a:prstGeom>
          <a:ln w="31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48DE9C-B5AD-BAA4-4EBD-53FA1916E9A2}"/>
              </a:ext>
            </a:extLst>
          </p:cNvPr>
          <p:cNvSpPr txBox="1"/>
          <p:nvPr/>
        </p:nvSpPr>
        <p:spPr>
          <a:xfrm>
            <a:off x="1229707" y="721892"/>
            <a:ext cx="982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solidFill>
                  <a:schemeClr val="accent1"/>
                </a:solidFill>
                <a:latin typeface="+mj-ea"/>
                <a:ea typeface="+mj-ea"/>
              </a:rPr>
              <a:t>목차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8183-DB54-F711-9B69-C8C5752AF7AF}"/>
              </a:ext>
            </a:extLst>
          </p:cNvPr>
          <p:cNvSpPr txBox="1"/>
          <p:nvPr/>
        </p:nvSpPr>
        <p:spPr>
          <a:xfrm>
            <a:off x="1856247" y="2362199"/>
            <a:ext cx="3048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1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F8E78-68AC-B048-5336-EE835D4169E6}"/>
              </a:ext>
            </a:extLst>
          </p:cNvPr>
          <p:cNvSpPr txBox="1"/>
          <p:nvPr/>
        </p:nvSpPr>
        <p:spPr>
          <a:xfrm>
            <a:off x="2585007" y="2300644"/>
            <a:ext cx="9324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Resume</a:t>
            </a:r>
            <a:endParaRPr lang="en-US" altLang="ko-KR" spc="-300" dirty="0">
              <a:solidFill>
                <a:schemeClr val="accent1"/>
              </a:solidFill>
            </a:endParaRPr>
          </a:p>
          <a:p>
            <a:r>
              <a:rPr lang="ko-KR" altLang="en-US" spc="-300" dirty="0">
                <a:solidFill>
                  <a:schemeClr val="accent1"/>
                </a:solidFill>
              </a:rPr>
              <a:t>이력서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F5BEB-A29E-EC98-4681-67E53CB0B3C2}"/>
              </a:ext>
            </a:extLst>
          </p:cNvPr>
          <p:cNvSpPr txBox="1"/>
          <p:nvPr/>
        </p:nvSpPr>
        <p:spPr>
          <a:xfrm>
            <a:off x="1856247" y="343841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2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F1453-BC33-8329-E803-35808F5E93AA}"/>
              </a:ext>
            </a:extLst>
          </p:cNvPr>
          <p:cNvSpPr txBox="1"/>
          <p:nvPr/>
        </p:nvSpPr>
        <p:spPr>
          <a:xfrm>
            <a:off x="2585007" y="3376862"/>
            <a:ext cx="1175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Education</a:t>
            </a:r>
          </a:p>
          <a:p>
            <a:r>
              <a:rPr lang="ko-KR" altLang="en-US" spc="-300" dirty="0">
                <a:solidFill>
                  <a:schemeClr val="accent1"/>
                </a:solidFill>
              </a:rPr>
              <a:t>교육 및 경험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7FBC02-6717-E326-10F3-EED37C2CE102}"/>
              </a:ext>
            </a:extLst>
          </p:cNvPr>
          <p:cNvSpPr txBox="1"/>
          <p:nvPr/>
        </p:nvSpPr>
        <p:spPr>
          <a:xfrm>
            <a:off x="1856247" y="4514635"/>
            <a:ext cx="348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3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A99F0-E26F-49EF-19FA-5DA225DF25D0}"/>
              </a:ext>
            </a:extLst>
          </p:cNvPr>
          <p:cNvSpPr txBox="1"/>
          <p:nvPr/>
        </p:nvSpPr>
        <p:spPr>
          <a:xfrm>
            <a:off x="2585007" y="4453080"/>
            <a:ext cx="1861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Work Experiences</a:t>
            </a:r>
            <a:endParaRPr lang="ko-KR" altLang="en-US" dirty="0">
              <a:solidFill>
                <a:schemeClr val="accent1"/>
              </a:solidFill>
              <a:latin typeface="+mn-ea"/>
            </a:endParaRPr>
          </a:p>
          <a:p>
            <a:r>
              <a:rPr lang="ko-KR" altLang="en-US" spc="-300" dirty="0">
                <a:solidFill>
                  <a:schemeClr val="accent1"/>
                </a:solidFill>
              </a:rPr>
              <a:t>직무경험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7B173C-BF4B-5D6B-514A-71779E736CDB}"/>
              </a:ext>
            </a:extLst>
          </p:cNvPr>
          <p:cNvSpPr txBox="1"/>
          <p:nvPr/>
        </p:nvSpPr>
        <p:spPr>
          <a:xfrm>
            <a:off x="2585007" y="986190"/>
            <a:ext cx="1935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table of contents</a:t>
            </a:r>
            <a:endParaRPr lang="ko-KR" altLang="en-US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59E43B-E157-1A82-13C7-A5AC8C623F78}"/>
              </a:ext>
            </a:extLst>
          </p:cNvPr>
          <p:cNvSpPr txBox="1"/>
          <p:nvPr/>
        </p:nvSpPr>
        <p:spPr>
          <a:xfrm>
            <a:off x="6501326" y="2362199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6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9AC50-4AC6-7263-7E5E-F9BB2385D91F}"/>
              </a:ext>
            </a:extLst>
          </p:cNvPr>
          <p:cNvSpPr txBox="1"/>
          <p:nvPr/>
        </p:nvSpPr>
        <p:spPr>
          <a:xfrm>
            <a:off x="7230086" y="2300644"/>
            <a:ext cx="2461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Extracurricular Activities</a:t>
            </a:r>
            <a:endParaRPr lang="ko-KR" altLang="en-US" dirty="0">
              <a:solidFill>
                <a:schemeClr val="accent1"/>
              </a:solidFill>
              <a:latin typeface="+mn-ea"/>
            </a:endParaRPr>
          </a:p>
          <a:p>
            <a:r>
              <a:rPr lang="ko-KR" altLang="en-US" spc="-300" dirty="0">
                <a:solidFill>
                  <a:schemeClr val="accent1"/>
                </a:solidFill>
              </a:rPr>
              <a:t>교외 활동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664C41-7100-4BC8-AB1A-757C9C1B0DD0}"/>
              </a:ext>
            </a:extLst>
          </p:cNvPr>
          <p:cNvSpPr txBox="1"/>
          <p:nvPr/>
        </p:nvSpPr>
        <p:spPr>
          <a:xfrm>
            <a:off x="6501326" y="3438417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7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266B8A-BDBE-6523-780B-07B0B355C57C}"/>
              </a:ext>
            </a:extLst>
          </p:cNvPr>
          <p:cNvSpPr txBox="1"/>
          <p:nvPr/>
        </p:nvSpPr>
        <p:spPr>
          <a:xfrm>
            <a:off x="7230086" y="3376862"/>
            <a:ext cx="2145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Certifications &amp; Skills</a:t>
            </a:r>
            <a:endParaRPr lang="en-US" altLang="ko-KR" spc="-300" dirty="0">
              <a:solidFill>
                <a:schemeClr val="accent1"/>
              </a:solidFill>
            </a:endParaRPr>
          </a:p>
          <a:p>
            <a:r>
              <a:rPr lang="ko-KR" altLang="en-US" spc="-300" dirty="0">
                <a:solidFill>
                  <a:schemeClr val="accent1"/>
                </a:solidFill>
              </a:rPr>
              <a:t>자격증   </a:t>
            </a:r>
            <a:r>
              <a:rPr lang="en-US" altLang="ko-KR" spc="-300" dirty="0">
                <a:solidFill>
                  <a:schemeClr val="accent1"/>
                </a:solidFill>
              </a:rPr>
              <a:t>&amp;   </a:t>
            </a:r>
            <a:r>
              <a:rPr lang="ko-KR" altLang="en-US" spc="-300" dirty="0">
                <a:solidFill>
                  <a:schemeClr val="accent1"/>
                </a:solidFill>
              </a:rPr>
              <a:t>스킬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9FE441-6450-AEA0-0957-C616FFE6AC0A}"/>
              </a:ext>
            </a:extLst>
          </p:cNvPr>
          <p:cNvSpPr txBox="1"/>
          <p:nvPr/>
        </p:nvSpPr>
        <p:spPr>
          <a:xfrm>
            <a:off x="4147329" y="2571659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… 3</a:t>
            </a:r>
            <a:endParaRPr lang="ko-KR" altLang="en-US" spc="-300" dirty="0">
              <a:solidFill>
                <a:schemeClr val="accent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9EEBA9-7B16-D940-9D8C-14D4EDB3219F}"/>
              </a:ext>
            </a:extLst>
          </p:cNvPr>
          <p:cNvSpPr txBox="1"/>
          <p:nvPr/>
        </p:nvSpPr>
        <p:spPr>
          <a:xfrm>
            <a:off x="4147329" y="3630340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… 6</a:t>
            </a:r>
            <a:endParaRPr lang="ko-KR" altLang="en-US" spc="-300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B7E9C3-470E-9B4A-1097-DDCEE6FC72D8}"/>
              </a:ext>
            </a:extLst>
          </p:cNvPr>
          <p:cNvSpPr txBox="1"/>
          <p:nvPr/>
        </p:nvSpPr>
        <p:spPr>
          <a:xfrm>
            <a:off x="4147329" y="4727971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… 8</a:t>
            </a:r>
            <a:endParaRPr lang="ko-KR" altLang="en-US" spc="-300" dirty="0">
              <a:solidFill>
                <a:schemeClr val="accent1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F4004D22-DF26-140A-02F4-A3B573B7B595}"/>
              </a:ext>
            </a:extLst>
          </p:cNvPr>
          <p:cNvGrpSpPr/>
          <p:nvPr/>
        </p:nvGrpSpPr>
        <p:grpSpPr>
          <a:xfrm>
            <a:off x="1856247" y="5529298"/>
            <a:ext cx="2921383" cy="646331"/>
            <a:chOff x="1856247" y="5529298"/>
            <a:chExt cx="2921383" cy="64633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C5CD14-4594-1730-18CF-710701846C6F}"/>
                </a:ext>
              </a:extLst>
            </p:cNvPr>
            <p:cNvSpPr txBox="1"/>
            <p:nvPr/>
          </p:nvSpPr>
          <p:spPr>
            <a:xfrm>
              <a:off x="1856247" y="5590853"/>
              <a:ext cx="3529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accent1"/>
                  </a:solidFill>
                </a:rPr>
                <a:t>4</a:t>
              </a:r>
              <a:endParaRPr lang="ko-KR" altLang="en-US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BB9965-4F0D-8E0C-4C5A-019C795529F3}"/>
                </a:ext>
              </a:extLst>
            </p:cNvPr>
            <p:cNvSpPr txBox="1"/>
            <p:nvPr/>
          </p:nvSpPr>
          <p:spPr>
            <a:xfrm>
              <a:off x="2585007" y="5529298"/>
              <a:ext cx="17886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accent1"/>
                  </a:solidFill>
                  <a:latin typeface="+mn-ea"/>
                </a:rPr>
                <a:t>Bachelor’s Thesis</a:t>
              </a:r>
              <a:endParaRPr lang="ko-KR" altLang="en-US" dirty="0">
                <a:solidFill>
                  <a:schemeClr val="accent1"/>
                </a:solidFill>
                <a:latin typeface="+mn-ea"/>
              </a:endParaRPr>
            </a:p>
            <a:p>
              <a:r>
                <a:rPr lang="ko-KR" altLang="en-US" spc="-300" dirty="0">
                  <a:solidFill>
                    <a:schemeClr val="accent1"/>
                  </a:solidFill>
                </a:rPr>
                <a:t>졸업논문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9B2F399-FC07-79A3-0CDE-F90C1810F4F4}"/>
                </a:ext>
              </a:extLst>
            </p:cNvPr>
            <p:cNvSpPr txBox="1"/>
            <p:nvPr/>
          </p:nvSpPr>
          <p:spPr>
            <a:xfrm>
              <a:off x="4147329" y="5800691"/>
              <a:ext cx="63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accent1"/>
                  </a:solidFill>
                  <a:latin typeface="+mn-ea"/>
                </a:rPr>
                <a:t>… 12</a:t>
              </a:r>
              <a:endParaRPr lang="ko-KR" altLang="en-US" spc="-3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3C97B5B-CE89-3D96-1340-1EAB141855E0}"/>
              </a:ext>
            </a:extLst>
          </p:cNvPr>
          <p:cNvSpPr txBox="1"/>
          <p:nvPr/>
        </p:nvSpPr>
        <p:spPr>
          <a:xfrm>
            <a:off x="8791507" y="2577643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… 18</a:t>
            </a:r>
            <a:endParaRPr lang="ko-KR" altLang="en-US" spc="-300" dirty="0">
              <a:solidFill>
                <a:schemeClr val="accent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BC997B-D831-6170-3AF5-2919C3F287D3}"/>
              </a:ext>
            </a:extLst>
          </p:cNvPr>
          <p:cNvSpPr txBox="1"/>
          <p:nvPr/>
        </p:nvSpPr>
        <p:spPr>
          <a:xfrm>
            <a:off x="8791507" y="3636324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… 22</a:t>
            </a:r>
            <a:endParaRPr lang="ko-KR" altLang="en-US" spc="-3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48CEA3-E459-F15C-B5D7-A25FDFA4387C}"/>
              </a:ext>
            </a:extLst>
          </p:cNvPr>
          <p:cNvSpPr txBox="1"/>
          <p:nvPr/>
        </p:nvSpPr>
        <p:spPr>
          <a:xfrm>
            <a:off x="6501326" y="451463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8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14112E-C6F4-F92D-CCF8-935FE36D7E5D}"/>
              </a:ext>
            </a:extLst>
          </p:cNvPr>
          <p:cNvSpPr txBox="1"/>
          <p:nvPr/>
        </p:nvSpPr>
        <p:spPr>
          <a:xfrm>
            <a:off x="7230086" y="4453080"/>
            <a:ext cx="1818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Awards &amp; Honors</a:t>
            </a:r>
            <a:endParaRPr lang="en-US" altLang="ko-KR" spc="-300" dirty="0">
              <a:solidFill>
                <a:schemeClr val="accent1"/>
              </a:solidFill>
            </a:endParaRPr>
          </a:p>
          <a:p>
            <a:r>
              <a:rPr lang="ko-KR" altLang="en-US" spc="-300" dirty="0">
                <a:solidFill>
                  <a:schemeClr val="accent1"/>
                </a:solidFill>
              </a:rPr>
              <a:t>수상내역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14BFC1-FE46-711C-5CB5-6DFF638C0FF3}"/>
              </a:ext>
            </a:extLst>
          </p:cNvPr>
          <p:cNvSpPr txBox="1"/>
          <p:nvPr/>
        </p:nvSpPr>
        <p:spPr>
          <a:xfrm>
            <a:off x="8791507" y="4712542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… 24</a:t>
            </a:r>
            <a:endParaRPr lang="ko-KR" altLang="en-US" spc="-300" dirty="0">
              <a:solidFill>
                <a:schemeClr val="accent1"/>
              </a:solidFill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2717FCF-4C54-C4F0-B657-AA9BDE4EB0FF}"/>
              </a:ext>
            </a:extLst>
          </p:cNvPr>
          <p:cNvGrpSpPr/>
          <p:nvPr/>
        </p:nvGrpSpPr>
        <p:grpSpPr>
          <a:xfrm>
            <a:off x="6482096" y="5529298"/>
            <a:ext cx="2920482" cy="646331"/>
            <a:chOff x="6482096" y="5403443"/>
            <a:chExt cx="2920482" cy="64633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28ECD66-6568-0A10-6189-5ABF83565F11}"/>
                </a:ext>
              </a:extLst>
            </p:cNvPr>
            <p:cNvSpPr txBox="1"/>
            <p:nvPr/>
          </p:nvSpPr>
          <p:spPr>
            <a:xfrm>
              <a:off x="6482096" y="5464998"/>
              <a:ext cx="3145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accent1"/>
                  </a:solidFill>
                </a:rPr>
                <a:t>9</a:t>
              </a:r>
              <a:endParaRPr lang="ko-KR" altLang="en-US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A3C9E3A-3A71-5B54-3FD7-5EFE5526B164}"/>
                </a:ext>
              </a:extLst>
            </p:cNvPr>
            <p:cNvSpPr txBox="1"/>
            <p:nvPr/>
          </p:nvSpPr>
          <p:spPr>
            <a:xfrm>
              <a:off x="7210856" y="5403443"/>
              <a:ext cx="164981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accent1"/>
                  </a:solidFill>
                  <a:latin typeface="+mn-ea"/>
                </a:rPr>
                <a:t>Vision &amp; Design</a:t>
              </a:r>
              <a:endParaRPr lang="en-US" altLang="ko-KR" spc="-300" dirty="0">
                <a:solidFill>
                  <a:schemeClr val="accent1"/>
                </a:solidFill>
                <a:latin typeface="+mn-ea"/>
              </a:endParaRPr>
            </a:p>
            <a:p>
              <a:r>
                <a:rPr lang="ko-KR" altLang="en-US" spc="-300" dirty="0">
                  <a:solidFill>
                    <a:schemeClr val="accent1"/>
                  </a:solidFill>
                  <a:latin typeface="+mn-ea"/>
                </a:rPr>
                <a:t>비전</a:t>
              </a:r>
              <a:r>
                <a:rPr lang="en-US" altLang="ko-KR" spc="-300" dirty="0">
                  <a:solidFill>
                    <a:schemeClr val="accent1"/>
                  </a:solidFill>
                  <a:latin typeface="+mn-ea"/>
                </a:rPr>
                <a:t>   &amp;  </a:t>
              </a:r>
              <a:r>
                <a:rPr lang="ko-KR" altLang="en-US" spc="-300" dirty="0">
                  <a:solidFill>
                    <a:schemeClr val="accent1"/>
                  </a:solidFill>
                  <a:latin typeface="+mn-ea"/>
                </a:rPr>
                <a:t>설계</a:t>
              </a:r>
              <a:endParaRPr lang="en-US" altLang="ko-KR" spc="-300" dirty="0">
                <a:solidFill>
                  <a:schemeClr val="accent1"/>
                </a:solidFill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6F76363-AD5A-304A-AF19-A77A6080C3C7}"/>
                </a:ext>
              </a:extLst>
            </p:cNvPr>
            <p:cNvSpPr txBox="1"/>
            <p:nvPr/>
          </p:nvSpPr>
          <p:spPr>
            <a:xfrm>
              <a:off x="8772277" y="5662905"/>
              <a:ext cx="63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chemeClr val="accent1"/>
                  </a:solidFill>
                  <a:latin typeface="+mn-ea"/>
                </a:rPr>
                <a:t>… 26</a:t>
              </a:r>
              <a:endParaRPr lang="ko-KR" altLang="en-US" spc="-3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5C73350-FFEA-77F5-6C6E-106DE573D965}"/>
              </a:ext>
            </a:extLst>
          </p:cNvPr>
          <p:cNvSpPr txBox="1"/>
          <p:nvPr/>
        </p:nvSpPr>
        <p:spPr>
          <a:xfrm>
            <a:off x="6501326" y="13496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chemeClr val="accent1"/>
                </a:solidFill>
              </a:rPr>
              <a:t>5</a:t>
            </a:r>
            <a:endParaRPr lang="ko-KR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8CEA38-30D8-2974-D315-5527F3D37921}"/>
              </a:ext>
            </a:extLst>
          </p:cNvPr>
          <p:cNvSpPr txBox="1"/>
          <p:nvPr/>
        </p:nvSpPr>
        <p:spPr>
          <a:xfrm>
            <a:off x="7230086" y="1288129"/>
            <a:ext cx="22082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Research Experiences</a:t>
            </a:r>
            <a:endParaRPr lang="ko-KR" altLang="en-US" dirty="0">
              <a:solidFill>
                <a:schemeClr val="accent1"/>
              </a:solidFill>
              <a:latin typeface="+mn-ea"/>
            </a:endParaRPr>
          </a:p>
          <a:p>
            <a:r>
              <a:rPr lang="ko-KR" altLang="en-US" spc="-300" dirty="0">
                <a:solidFill>
                  <a:schemeClr val="accent1"/>
                </a:solidFill>
              </a:rPr>
              <a:t>연구경험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9E2FEB-D5E1-8336-50B2-FF0C4DC22EB3}"/>
              </a:ext>
            </a:extLst>
          </p:cNvPr>
          <p:cNvSpPr txBox="1"/>
          <p:nvPr/>
        </p:nvSpPr>
        <p:spPr>
          <a:xfrm>
            <a:off x="8791507" y="156512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+mn-ea"/>
              </a:rPr>
              <a:t>… 14</a:t>
            </a:r>
            <a:endParaRPr lang="ko-KR" altLang="en-US" spc="-3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1714833"/>
            <a:ext cx="5374105" cy="2021435"/>
            <a:chOff x="6817895" y="1153359"/>
            <a:chExt cx="5374105" cy="202143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1153359"/>
              <a:ext cx="3570208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0" b="1" dirty="0">
                  <a:solidFill>
                    <a:schemeClr val="bg1"/>
                  </a:solidFill>
                  <a:latin typeface="+mj-ea"/>
                  <a:ea typeface="+mj-ea"/>
                </a:rPr>
                <a:t>1. </a:t>
              </a:r>
              <a:r>
                <a:rPr lang="ko-KR" altLang="en-US" sz="4800" b="1" dirty="0">
                  <a:solidFill>
                    <a:schemeClr val="bg1"/>
                  </a:solidFill>
                  <a:latin typeface="+mj-ea"/>
                  <a:ea typeface="+mj-ea"/>
                </a:rPr>
                <a:t>이력서</a:t>
              </a:r>
              <a:endParaRPr lang="ko-KR" altLang="en-US" sz="12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292614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317479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4B1C5-1DD9-AF15-DE3F-02859903813A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564E8-CED7-88F2-4C67-D20809ED5BEF}"/>
              </a:ext>
            </a:extLst>
          </p:cNvPr>
          <p:cNvSpPr txBox="1"/>
          <p:nvPr/>
        </p:nvSpPr>
        <p:spPr>
          <a:xfrm>
            <a:off x="95250" y="6406106"/>
            <a:ext cx="4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3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375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6BADED6-7BED-9318-BF0A-67D3E445EE7D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2409F6A-264C-0F3B-2131-ADDE5C36723D}"/>
              </a:ext>
            </a:extLst>
          </p:cNvPr>
          <p:cNvSpPr/>
          <p:nvPr/>
        </p:nvSpPr>
        <p:spPr>
          <a:xfrm>
            <a:off x="568234" y="4792959"/>
            <a:ext cx="11044646" cy="17350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817BFEA-645A-6739-36C6-BA9CE0B643D7}"/>
              </a:ext>
            </a:extLst>
          </p:cNvPr>
          <p:cNvSpPr/>
          <p:nvPr/>
        </p:nvSpPr>
        <p:spPr>
          <a:xfrm>
            <a:off x="6096000" y="4792959"/>
            <a:ext cx="5527766" cy="17350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7019FB7-1E7B-48DB-7723-A6CB9D239D68}"/>
              </a:ext>
            </a:extLst>
          </p:cNvPr>
          <p:cNvSpPr/>
          <p:nvPr/>
        </p:nvSpPr>
        <p:spPr>
          <a:xfrm>
            <a:off x="568234" y="2975275"/>
            <a:ext cx="11044646" cy="17350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4CA5F24-E63C-56E9-83E4-985D76F6ABE3}"/>
              </a:ext>
            </a:extLst>
          </p:cNvPr>
          <p:cNvSpPr/>
          <p:nvPr/>
        </p:nvSpPr>
        <p:spPr>
          <a:xfrm>
            <a:off x="568234" y="1156063"/>
            <a:ext cx="11044646" cy="1735017"/>
          </a:xfrm>
          <a:prstGeom prst="rect">
            <a:avLst/>
          </a:prstGeom>
          <a:solidFill>
            <a:srgbClr val="FFFFFF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5C1ACF7-8A35-25CF-FF70-3E0814963361}"/>
              </a:ext>
            </a:extLst>
          </p:cNvPr>
          <p:cNvCxnSpPr/>
          <p:nvPr/>
        </p:nvCxnSpPr>
        <p:spPr>
          <a:xfrm>
            <a:off x="0" y="107791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5FB81F6-76A1-1777-8953-CB7B9A32A7A3}"/>
              </a:ext>
            </a:extLst>
          </p:cNvPr>
          <p:cNvSpPr txBox="1"/>
          <p:nvPr/>
        </p:nvSpPr>
        <p:spPr>
          <a:xfrm flipH="1">
            <a:off x="438296" y="486035"/>
            <a:ext cx="4873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이력서 </a:t>
            </a:r>
            <a:r>
              <a:rPr lang="en-US" altLang="ko-KR" sz="28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| Resume</a:t>
            </a:r>
            <a:endParaRPr lang="ko-KR" altLang="en-US" sz="2800" b="1" spc="-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3615253-14B8-27BA-544A-3C0AED090786}"/>
              </a:ext>
            </a:extLst>
          </p:cNvPr>
          <p:cNvGrpSpPr/>
          <p:nvPr/>
        </p:nvGrpSpPr>
        <p:grpSpPr>
          <a:xfrm>
            <a:off x="635000" y="1218602"/>
            <a:ext cx="10922000" cy="1672478"/>
            <a:chOff x="635000" y="1170398"/>
            <a:chExt cx="10922000" cy="1672478"/>
          </a:xfrm>
          <a:noFill/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67D138-74BF-2B6D-2DE4-77C406BA588B}"/>
                </a:ext>
              </a:extLst>
            </p:cNvPr>
            <p:cNvSpPr txBox="1"/>
            <p:nvPr/>
          </p:nvSpPr>
          <p:spPr>
            <a:xfrm>
              <a:off x="635000" y="1682750"/>
              <a:ext cx="5461000" cy="1160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/>
                <a:t>이름 </a:t>
              </a:r>
              <a:r>
                <a:rPr lang="en-US" altLang="ko-KR" sz="1600" dirty="0"/>
                <a:t>: </a:t>
              </a:r>
              <a:r>
                <a:rPr lang="ko-KR" altLang="en-US" sz="1600" dirty="0"/>
                <a:t>박일주 </a:t>
              </a:r>
              <a:r>
                <a:rPr lang="en-US" altLang="ko-KR" sz="1600" dirty="0"/>
                <a:t>(</a:t>
              </a:r>
              <a:r>
                <a:rPr lang="ko-KR" altLang="en-US" sz="1600" dirty="0"/>
                <a:t>영문</a:t>
              </a:r>
              <a:r>
                <a:rPr lang="en-US" altLang="ko-KR" sz="1600" dirty="0"/>
                <a:t>: </a:t>
              </a:r>
              <a:r>
                <a:rPr lang="en-US" altLang="ko-KR" sz="1600" dirty="0" err="1"/>
                <a:t>Ilju</a:t>
              </a:r>
              <a:r>
                <a:rPr lang="en-US" altLang="ko-KR" sz="1600" dirty="0"/>
                <a:t> Park)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600" dirty="0"/>
                <a:t>생년월일 </a:t>
              </a:r>
              <a:r>
                <a:rPr lang="en-US" altLang="ko-KR" sz="1600" dirty="0"/>
                <a:t>: 1998</a:t>
              </a:r>
              <a:r>
                <a:rPr lang="ko-KR" altLang="en-US" sz="1600" dirty="0"/>
                <a:t>년 </a:t>
              </a:r>
              <a:r>
                <a:rPr lang="en-US" altLang="ko-KR" sz="1600" dirty="0"/>
                <a:t>07</a:t>
              </a:r>
              <a:r>
                <a:rPr lang="ko-KR" altLang="en-US" sz="1600" dirty="0"/>
                <a:t>월 </a:t>
              </a:r>
              <a:r>
                <a:rPr lang="en-US" altLang="ko-KR" sz="1600" dirty="0"/>
                <a:t>21</a:t>
              </a:r>
              <a:r>
                <a:rPr lang="ko-KR" altLang="en-US" sz="1600" dirty="0"/>
                <a:t>일</a:t>
              </a:r>
              <a:endParaRPr lang="en-US" altLang="ko-KR" sz="1600" dirty="0"/>
            </a:p>
            <a:p>
              <a:pPr>
                <a:lnSpc>
                  <a:spcPct val="150000"/>
                </a:lnSpc>
              </a:pPr>
              <a:r>
                <a:rPr lang="ko-KR" altLang="en-US" sz="1600" dirty="0"/>
                <a:t>이메일</a:t>
              </a:r>
              <a:r>
                <a:rPr lang="en-US" altLang="ko-KR" sz="1600" dirty="0"/>
                <a:t> : dlfwnqkr12@gmail.com</a:t>
              </a:r>
            </a:p>
          </p:txBody>
        </p:sp>
        <p:grpSp>
          <p:nvGrpSpPr>
            <p:cNvPr id="5" name="그룹 1005">
              <a:extLst>
                <a:ext uri="{FF2B5EF4-FFF2-40B4-BE49-F238E27FC236}">
                  <a16:creationId xmlns:a16="http://schemas.microsoft.com/office/drawing/2014/main" id="{FC36BB4E-0BD5-6BB9-9547-553E9BD58769}"/>
                </a:ext>
              </a:extLst>
            </p:cNvPr>
            <p:cNvGrpSpPr/>
            <p:nvPr/>
          </p:nvGrpSpPr>
          <p:grpSpPr>
            <a:xfrm>
              <a:off x="730250" y="1641066"/>
              <a:ext cx="3258466" cy="40389"/>
              <a:chOff x="2472234" y="5180255"/>
              <a:chExt cx="3258466" cy="40389"/>
            </a:xfrm>
            <a:grpFill/>
          </p:grpSpPr>
          <p:pic>
            <p:nvPicPr>
              <p:cNvPr id="6" name="Object 26">
                <a:extLst>
                  <a:ext uri="{FF2B5EF4-FFF2-40B4-BE49-F238E27FC236}">
                    <a16:creationId xmlns:a16="http://schemas.microsoft.com/office/drawing/2014/main" id="{F4B5870C-BDB4-B833-BF1F-5F4A6032B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472234" y="5180255"/>
                <a:ext cx="3258466" cy="40389"/>
              </a:xfrm>
              <a:prstGeom prst="rect">
                <a:avLst/>
              </a:prstGeom>
              <a:grpFill/>
            </p:spPr>
          </p:pic>
        </p:grpSp>
        <p:sp>
          <p:nvSpPr>
            <p:cNvPr id="14" name="Object 29">
              <a:extLst>
                <a:ext uri="{FF2B5EF4-FFF2-40B4-BE49-F238E27FC236}">
                  <a16:creationId xmlns:a16="http://schemas.microsoft.com/office/drawing/2014/main" id="{249DA84E-D628-ED37-B2B9-B7CBD3DA7492}"/>
                </a:ext>
              </a:extLst>
            </p:cNvPr>
            <p:cNvSpPr txBox="1"/>
            <p:nvPr/>
          </p:nvSpPr>
          <p:spPr>
            <a:xfrm>
              <a:off x="690586" y="1170398"/>
              <a:ext cx="4368555" cy="461665"/>
            </a:xfrm>
            <a:prstGeom prst="rect">
              <a:avLst/>
            </a:prstGeom>
            <a:grpFill/>
          </p:spPr>
          <p:txBody>
            <a:bodyPr wrap="square" rtlCol="0" anchor="t">
              <a:spAutoFit/>
            </a:bodyPr>
            <a:lstStyle/>
            <a:p>
              <a:r>
                <a:rPr lang="ko-KR" altLang="en-US" sz="2400" dirty="0">
                  <a:solidFill>
                    <a:srgbClr val="000000"/>
                  </a:solidFill>
                  <a:latin typeface="Pretendard" pitchFamily="34" charset="0"/>
                </a:rPr>
                <a:t>개인 프로필</a:t>
              </a:r>
              <a:endParaRPr lang="en-US" sz="2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E47ABC-30D0-3F5C-53B6-695DFBDB3721}"/>
                </a:ext>
              </a:extLst>
            </p:cNvPr>
            <p:cNvSpPr txBox="1"/>
            <p:nvPr/>
          </p:nvSpPr>
          <p:spPr>
            <a:xfrm>
              <a:off x="6096000" y="1311431"/>
              <a:ext cx="5461000" cy="153144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/>
                <a:t>핸드폰</a:t>
              </a:r>
              <a:r>
                <a:rPr lang="en-US" altLang="ko-KR" sz="1600" dirty="0"/>
                <a:t> : 010-6770-2816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600" dirty="0"/>
                <a:t>주소 </a:t>
              </a:r>
              <a:r>
                <a:rPr lang="en-US" altLang="ko-KR" sz="1600" dirty="0"/>
                <a:t>: </a:t>
              </a:r>
              <a:r>
                <a:rPr lang="ko-KR" altLang="en-US" sz="1600" dirty="0"/>
                <a:t>경기도 수원시 영통구 </a:t>
              </a:r>
              <a:r>
                <a:rPr lang="ko-KR" altLang="en-US" sz="1600" dirty="0" err="1"/>
                <a:t>이의동</a:t>
              </a:r>
              <a:r>
                <a:rPr lang="ko-KR" altLang="en-US" sz="1600" dirty="0"/>
                <a:t> 대학로</a:t>
              </a:r>
              <a:r>
                <a:rPr lang="en-US" altLang="ko-KR" sz="1600" dirty="0"/>
                <a:t>98 8103</a:t>
              </a:r>
              <a:r>
                <a:rPr lang="ko-KR" altLang="en-US" sz="1600" dirty="0"/>
                <a:t>동 </a:t>
              </a:r>
              <a:r>
                <a:rPr lang="en-US" altLang="ko-KR" sz="1600" dirty="0"/>
                <a:t>601</a:t>
              </a:r>
              <a:r>
                <a:rPr lang="ko-KR" altLang="en-US" sz="1600" dirty="0"/>
                <a:t>호</a:t>
              </a:r>
              <a:endParaRPr lang="en-US" altLang="ko-KR" sz="1600" dirty="0"/>
            </a:p>
            <a:p>
              <a:pPr>
                <a:lnSpc>
                  <a:spcPct val="150000"/>
                </a:lnSpc>
              </a:pPr>
              <a:r>
                <a:rPr lang="en-US" altLang="ko-KR" sz="1600" dirty="0" err="1"/>
                <a:t>Linkedin</a:t>
              </a:r>
              <a:r>
                <a:rPr lang="ko-KR" altLang="en-US" sz="1600" dirty="0"/>
                <a:t> </a:t>
              </a:r>
              <a:r>
                <a:rPr lang="en-US" altLang="ko-KR" sz="1600" dirty="0"/>
                <a:t>: </a:t>
              </a:r>
              <a:r>
                <a:rPr lang="en-US" altLang="ko-KR" sz="1600" b="0" i="0" dirty="0">
                  <a:effectLst/>
                  <a:latin typeface="Malgun Gothic" panose="020B0503020000020004" pitchFamily="50" charset="-127"/>
                  <a:ea typeface="Malgun Gothic" panose="020B0503020000020004" pitchFamily="50" charset="-127"/>
                  <a:hlinkClick r:id="rId4"/>
                </a:rPr>
                <a:t>linkedin.com/in/1200park</a:t>
              </a:r>
              <a:endParaRPr lang="en-US" altLang="ko-KR" sz="1600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600" dirty="0" err="1">
                  <a:latin typeface="+mn-ea"/>
                </a:rPr>
                <a:t>Github</a:t>
              </a:r>
              <a:r>
                <a:rPr lang="en-US" altLang="ko-KR" sz="1600" dirty="0">
                  <a:latin typeface="+mn-ea"/>
                </a:rPr>
                <a:t>: </a:t>
              </a:r>
              <a:r>
                <a:rPr lang="en-US" altLang="ko-KR" sz="1600" dirty="0">
                  <a:latin typeface="+mn-ea"/>
                  <a:hlinkClick r:id="rId5"/>
                </a:rPr>
                <a:t>github.com/1200park</a:t>
              </a:r>
              <a:endParaRPr lang="en-US" altLang="ko-KR" sz="1600" dirty="0">
                <a:latin typeface="+mn-ea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A067A78-626F-D89F-407B-FEEB6AFD904D}"/>
              </a:ext>
            </a:extLst>
          </p:cNvPr>
          <p:cNvGrpSpPr/>
          <p:nvPr/>
        </p:nvGrpSpPr>
        <p:grpSpPr>
          <a:xfrm>
            <a:off x="635000" y="3031768"/>
            <a:ext cx="10922000" cy="1303146"/>
            <a:chOff x="730250" y="3444518"/>
            <a:chExt cx="10922000" cy="130314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E866205-304D-0F85-2171-24C680829E19}"/>
                </a:ext>
              </a:extLst>
            </p:cNvPr>
            <p:cNvSpPr txBox="1"/>
            <p:nvPr/>
          </p:nvSpPr>
          <p:spPr>
            <a:xfrm>
              <a:off x="730250" y="3956870"/>
              <a:ext cx="10922000" cy="790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/>
                <a:t>2025.03 AVP</a:t>
              </a:r>
              <a:r>
                <a:rPr lang="ko-KR" altLang="en-US" sz="1600" dirty="0"/>
                <a:t>본부 </a:t>
              </a:r>
              <a:r>
                <a:rPr lang="ko-KR" altLang="en-US" sz="1600" dirty="0" err="1"/>
                <a:t>아키텍처시스템인테그레이션팀</a:t>
              </a:r>
              <a:r>
                <a:rPr lang="ko-KR" altLang="en-US" sz="1600" dirty="0"/>
                <a:t> 연구원</a:t>
              </a:r>
              <a:r>
                <a:rPr lang="en-US" altLang="ko-KR" sz="1600" dirty="0"/>
                <a:t> (Research Engineer)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/>
                <a:t>2024.08 </a:t>
              </a:r>
              <a:r>
                <a:rPr lang="ko-KR" altLang="en-US" sz="1600" dirty="0"/>
                <a:t>현대자동차 입사 </a:t>
              </a:r>
              <a:r>
                <a:rPr lang="en-US" altLang="ko-KR" sz="1600" dirty="0"/>
                <a:t>: AVP</a:t>
              </a:r>
              <a:r>
                <a:rPr lang="ko-KR" altLang="en-US" sz="1600" dirty="0"/>
                <a:t>본부 </a:t>
              </a:r>
              <a:r>
                <a:rPr lang="ko-KR" altLang="en-US" sz="1600" dirty="0" err="1"/>
                <a:t>차량아키텍처모듈기획팀</a:t>
              </a:r>
              <a:r>
                <a:rPr lang="ko-KR" altLang="en-US" sz="1600" dirty="0"/>
                <a:t> 연구원 </a:t>
              </a:r>
              <a:r>
                <a:rPr lang="en-US" altLang="ko-KR" sz="1600" dirty="0"/>
                <a:t>(Research Engineer)</a:t>
              </a:r>
            </a:p>
          </p:txBody>
        </p:sp>
        <p:grpSp>
          <p:nvGrpSpPr>
            <p:cNvPr id="20" name="그룹 1005">
              <a:extLst>
                <a:ext uri="{FF2B5EF4-FFF2-40B4-BE49-F238E27FC236}">
                  <a16:creationId xmlns:a16="http://schemas.microsoft.com/office/drawing/2014/main" id="{C9ECA2CA-F9D8-6A74-2583-DE1332F58062}"/>
                </a:ext>
              </a:extLst>
            </p:cNvPr>
            <p:cNvGrpSpPr/>
            <p:nvPr/>
          </p:nvGrpSpPr>
          <p:grpSpPr>
            <a:xfrm>
              <a:off x="825500" y="3915186"/>
              <a:ext cx="3258466" cy="40389"/>
              <a:chOff x="2472234" y="5180255"/>
              <a:chExt cx="3258466" cy="40389"/>
            </a:xfrm>
          </p:grpSpPr>
          <p:pic>
            <p:nvPicPr>
              <p:cNvPr id="21" name="Object 26">
                <a:extLst>
                  <a:ext uri="{FF2B5EF4-FFF2-40B4-BE49-F238E27FC236}">
                    <a16:creationId xmlns:a16="http://schemas.microsoft.com/office/drawing/2014/main" id="{4270D92C-1ADE-988E-A285-126ACCCF33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472234" y="5180255"/>
                <a:ext cx="3258466" cy="40389"/>
              </a:xfrm>
              <a:prstGeom prst="rect">
                <a:avLst/>
              </a:prstGeom>
            </p:spPr>
          </p:pic>
        </p:grpSp>
        <p:sp>
          <p:nvSpPr>
            <p:cNvPr id="22" name="Object 29">
              <a:extLst>
                <a:ext uri="{FF2B5EF4-FFF2-40B4-BE49-F238E27FC236}">
                  <a16:creationId xmlns:a16="http://schemas.microsoft.com/office/drawing/2014/main" id="{A69CC7FD-A9D3-01B0-D896-A76E833792F2}"/>
                </a:ext>
              </a:extLst>
            </p:cNvPr>
            <p:cNvSpPr txBox="1"/>
            <p:nvPr/>
          </p:nvSpPr>
          <p:spPr>
            <a:xfrm>
              <a:off x="785836" y="3444518"/>
              <a:ext cx="436855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2400" dirty="0"/>
                <a:t>Work Experience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FE1FB5D-1396-2B55-1BE7-64858FBE1D6B}"/>
              </a:ext>
            </a:extLst>
          </p:cNvPr>
          <p:cNvSpPr txBox="1"/>
          <p:nvPr/>
        </p:nvSpPr>
        <p:spPr>
          <a:xfrm>
            <a:off x="95250" y="6406106"/>
            <a:ext cx="4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163644"/>
                </a:solidFill>
              </a:rPr>
              <a:t>4</a:t>
            </a:r>
            <a:endParaRPr lang="ko-KR" altLang="en-US" dirty="0">
              <a:solidFill>
                <a:srgbClr val="163644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2A263F2-3031-BBCF-EE11-6CF46644E65F}"/>
              </a:ext>
            </a:extLst>
          </p:cNvPr>
          <p:cNvGrpSpPr/>
          <p:nvPr/>
        </p:nvGrpSpPr>
        <p:grpSpPr>
          <a:xfrm>
            <a:off x="635000" y="4791664"/>
            <a:ext cx="5461000" cy="1674465"/>
            <a:chOff x="730250" y="3444518"/>
            <a:chExt cx="5461000" cy="16744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8BB01B-4CDB-AAED-0AB4-C7483F3C1244}"/>
                </a:ext>
              </a:extLst>
            </p:cNvPr>
            <p:cNvSpPr txBox="1"/>
            <p:nvPr/>
          </p:nvSpPr>
          <p:spPr>
            <a:xfrm>
              <a:off x="730250" y="3956870"/>
              <a:ext cx="5461000" cy="116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/>
                <a:t>2018.03 </a:t>
              </a:r>
              <a:r>
                <a:rPr lang="ko-KR" altLang="en-US" sz="1600" dirty="0"/>
                <a:t>한양대학교 학사 입학</a:t>
              </a:r>
              <a:endParaRPr lang="en-US" altLang="ko-KR" sz="1600" dirty="0"/>
            </a:p>
            <a:p>
              <a:pPr>
                <a:lnSpc>
                  <a:spcPct val="150000"/>
                </a:lnSpc>
              </a:pPr>
              <a:r>
                <a:rPr lang="ko-KR" altLang="en-US" sz="1600" dirty="0"/>
                <a:t>산업공학 </a:t>
              </a:r>
              <a:r>
                <a:rPr lang="en-US" altLang="ko-KR" sz="1600" dirty="0"/>
                <a:t>&amp; </a:t>
              </a:r>
              <a:r>
                <a:rPr lang="ko-KR" altLang="en-US" sz="1600" dirty="0" err="1"/>
                <a:t>파이낸스경영학</a:t>
              </a:r>
              <a:r>
                <a:rPr lang="ko-KR" altLang="en-US" sz="1600" dirty="0"/>
                <a:t> 복수전공</a:t>
              </a:r>
              <a:endParaRPr lang="en-US" altLang="ko-KR" sz="1600" dirty="0"/>
            </a:p>
            <a:p>
              <a:pPr>
                <a:lnSpc>
                  <a:spcPct val="150000"/>
                </a:lnSpc>
              </a:pPr>
              <a:r>
                <a:rPr lang="en-US" altLang="ko-KR" sz="1600" dirty="0"/>
                <a:t>2017.02 </a:t>
              </a:r>
              <a:r>
                <a:rPr lang="ko-KR" altLang="en-US" sz="1600" dirty="0"/>
                <a:t>수지고등학교 졸업</a:t>
              </a:r>
              <a:endParaRPr lang="en-US" altLang="ko-KR" sz="1600" dirty="0"/>
            </a:p>
          </p:txBody>
        </p:sp>
        <p:grpSp>
          <p:nvGrpSpPr>
            <p:cNvPr id="11" name="그룹 1005">
              <a:extLst>
                <a:ext uri="{FF2B5EF4-FFF2-40B4-BE49-F238E27FC236}">
                  <a16:creationId xmlns:a16="http://schemas.microsoft.com/office/drawing/2014/main" id="{C1F699A6-BB54-CB81-CA91-63A778DC04A3}"/>
                </a:ext>
              </a:extLst>
            </p:cNvPr>
            <p:cNvGrpSpPr/>
            <p:nvPr/>
          </p:nvGrpSpPr>
          <p:grpSpPr>
            <a:xfrm>
              <a:off x="825500" y="3915186"/>
              <a:ext cx="3258466" cy="40389"/>
              <a:chOff x="2472234" y="5180255"/>
              <a:chExt cx="3258466" cy="40389"/>
            </a:xfrm>
          </p:grpSpPr>
          <p:pic>
            <p:nvPicPr>
              <p:cNvPr id="13" name="Object 26">
                <a:extLst>
                  <a:ext uri="{FF2B5EF4-FFF2-40B4-BE49-F238E27FC236}">
                    <a16:creationId xmlns:a16="http://schemas.microsoft.com/office/drawing/2014/main" id="{EB45600D-4268-CD2B-1783-8CC87C0DDB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472234" y="5180255"/>
                <a:ext cx="3258466" cy="40389"/>
              </a:xfrm>
              <a:prstGeom prst="rect">
                <a:avLst/>
              </a:prstGeom>
            </p:spPr>
          </p:pic>
        </p:grpSp>
        <p:sp>
          <p:nvSpPr>
            <p:cNvPr id="12" name="Object 29">
              <a:extLst>
                <a:ext uri="{FF2B5EF4-FFF2-40B4-BE49-F238E27FC236}">
                  <a16:creationId xmlns:a16="http://schemas.microsoft.com/office/drawing/2014/main" id="{4AB25984-0793-7E2A-C941-5274493FAF6E}"/>
                </a:ext>
              </a:extLst>
            </p:cNvPr>
            <p:cNvSpPr txBox="1"/>
            <p:nvPr/>
          </p:nvSpPr>
          <p:spPr>
            <a:xfrm>
              <a:off x="785836" y="3444518"/>
              <a:ext cx="436855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2400" dirty="0"/>
                <a:t>Education</a:t>
              </a: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4F9F078-D46A-A1F0-0C9B-55B5C9D3BF59}"/>
              </a:ext>
            </a:extLst>
          </p:cNvPr>
          <p:cNvGrpSpPr/>
          <p:nvPr/>
        </p:nvGrpSpPr>
        <p:grpSpPr>
          <a:xfrm>
            <a:off x="6096000" y="4791664"/>
            <a:ext cx="5461000" cy="1303146"/>
            <a:chOff x="730250" y="3444518"/>
            <a:chExt cx="5461000" cy="130314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4BB71E2-632C-6094-4576-290FD2D4748C}"/>
                </a:ext>
              </a:extLst>
            </p:cNvPr>
            <p:cNvSpPr txBox="1"/>
            <p:nvPr/>
          </p:nvSpPr>
          <p:spPr>
            <a:xfrm>
              <a:off x="730250" y="3956870"/>
              <a:ext cx="5461000" cy="790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/>
                <a:t>2021.06 [</a:t>
              </a:r>
              <a:r>
                <a:rPr lang="ko-KR" altLang="en-US" sz="1600" dirty="0"/>
                <a:t>졸업논문</a:t>
              </a:r>
              <a:r>
                <a:rPr lang="en-US" altLang="ko-KR" sz="1600" dirty="0"/>
                <a:t>] </a:t>
              </a:r>
              <a:r>
                <a:rPr lang="ko-KR" altLang="en-US" sz="1600" dirty="0"/>
                <a:t>회귀모델을 통한 국내 의사 수 적정성 평가 연구</a:t>
              </a:r>
              <a:r>
                <a:rPr lang="en-US" altLang="ko-KR" sz="1600" dirty="0"/>
                <a:t>: OECD </a:t>
              </a:r>
              <a:r>
                <a:rPr lang="ko-KR" altLang="en-US" sz="1600" dirty="0"/>
                <a:t>국가들의 데이터를 중심으로</a:t>
              </a:r>
              <a:endParaRPr lang="en-US" altLang="ko-KR" sz="1600" dirty="0"/>
            </a:p>
          </p:txBody>
        </p:sp>
        <p:grpSp>
          <p:nvGrpSpPr>
            <p:cNvPr id="35" name="그룹 1005">
              <a:extLst>
                <a:ext uri="{FF2B5EF4-FFF2-40B4-BE49-F238E27FC236}">
                  <a16:creationId xmlns:a16="http://schemas.microsoft.com/office/drawing/2014/main" id="{6638F3B8-6DE3-6D5C-CE28-D3F4B0BAD0D6}"/>
                </a:ext>
              </a:extLst>
            </p:cNvPr>
            <p:cNvGrpSpPr/>
            <p:nvPr/>
          </p:nvGrpSpPr>
          <p:grpSpPr>
            <a:xfrm>
              <a:off x="825500" y="3915186"/>
              <a:ext cx="3258466" cy="40389"/>
              <a:chOff x="2472234" y="5180255"/>
              <a:chExt cx="3258466" cy="40389"/>
            </a:xfrm>
          </p:grpSpPr>
          <p:pic>
            <p:nvPicPr>
              <p:cNvPr id="39" name="Object 26">
                <a:extLst>
                  <a:ext uri="{FF2B5EF4-FFF2-40B4-BE49-F238E27FC236}">
                    <a16:creationId xmlns:a16="http://schemas.microsoft.com/office/drawing/2014/main" id="{FC3FB126-5381-ECFA-9B76-5AD9D387F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472234" y="5180255"/>
                <a:ext cx="3258466" cy="40389"/>
              </a:xfrm>
              <a:prstGeom prst="rect">
                <a:avLst/>
              </a:prstGeom>
            </p:spPr>
          </p:pic>
        </p:grpSp>
        <p:sp>
          <p:nvSpPr>
            <p:cNvPr id="36" name="Object 29">
              <a:extLst>
                <a:ext uri="{FF2B5EF4-FFF2-40B4-BE49-F238E27FC236}">
                  <a16:creationId xmlns:a16="http://schemas.microsoft.com/office/drawing/2014/main" id="{94158CAF-7F75-71FE-79AC-8E724D3E6452}"/>
                </a:ext>
              </a:extLst>
            </p:cNvPr>
            <p:cNvSpPr txBox="1"/>
            <p:nvPr/>
          </p:nvSpPr>
          <p:spPr>
            <a:xfrm>
              <a:off x="785836" y="3444518"/>
              <a:ext cx="436855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2400" dirty="0"/>
                <a:t>Bachelor’s Thesis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97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84C219-2E26-0933-1300-45D305D905CC}"/>
              </a:ext>
            </a:extLst>
          </p:cNvPr>
          <p:cNvSpPr/>
          <p:nvPr/>
        </p:nvSpPr>
        <p:spPr>
          <a:xfrm>
            <a:off x="568234" y="1156063"/>
            <a:ext cx="11044646" cy="17350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1605F5-75B5-693A-8604-74C6E59B4449}"/>
              </a:ext>
            </a:extLst>
          </p:cNvPr>
          <p:cNvSpPr/>
          <p:nvPr/>
        </p:nvSpPr>
        <p:spPr>
          <a:xfrm>
            <a:off x="6085114" y="1156063"/>
            <a:ext cx="5527766" cy="17350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BADED6-7BED-9318-BF0A-67D3E445EE7D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130BDA-BBEB-CD6F-3A40-286D39D816AE}"/>
              </a:ext>
            </a:extLst>
          </p:cNvPr>
          <p:cNvSpPr/>
          <p:nvPr/>
        </p:nvSpPr>
        <p:spPr>
          <a:xfrm>
            <a:off x="568234" y="4792959"/>
            <a:ext cx="5527766" cy="17350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0AFE57D-8575-03EF-D2E1-CC3781DD9814}"/>
              </a:ext>
            </a:extLst>
          </p:cNvPr>
          <p:cNvSpPr/>
          <p:nvPr/>
        </p:nvSpPr>
        <p:spPr>
          <a:xfrm>
            <a:off x="568234" y="2975275"/>
            <a:ext cx="11044646" cy="17350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5C1ACF7-8A35-25CF-FF70-3E0814963361}"/>
              </a:ext>
            </a:extLst>
          </p:cNvPr>
          <p:cNvCxnSpPr/>
          <p:nvPr/>
        </p:nvCxnSpPr>
        <p:spPr>
          <a:xfrm>
            <a:off x="0" y="107791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5FB81F6-76A1-1777-8953-CB7B9A32A7A3}"/>
              </a:ext>
            </a:extLst>
          </p:cNvPr>
          <p:cNvSpPr txBox="1"/>
          <p:nvPr/>
        </p:nvSpPr>
        <p:spPr>
          <a:xfrm flipH="1">
            <a:off x="438296" y="486035"/>
            <a:ext cx="4873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이력서 </a:t>
            </a:r>
            <a:r>
              <a:rPr lang="en-US" altLang="ko-KR" sz="28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| Resume</a:t>
            </a:r>
            <a:endParaRPr lang="ko-KR" altLang="en-US" sz="2800" b="1" spc="-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13615253-14B8-27BA-544A-3C0AED090786}"/>
              </a:ext>
            </a:extLst>
          </p:cNvPr>
          <p:cNvGrpSpPr/>
          <p:nvPr/>
        </p:nvGrpSpPr>
        <p:grpSpPr>
          <a:xfrm>
            <a:off x="635000" y="1218602"/>
            <a:ext cx="5460999" cy="1674465"/>
            <a:chOff x="635000" y="1170398"/>
            <a:chExt cx="4795599" cy="167446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67D138-74BF-2B6D-2DE4-77C406BA588B}"/>
                </a:ext>
              </a:extLst>
            </p:cNvPr>
            <p:cNvSpPr txBox="1"/>
            <p:nvPr/>
          </p:nvSpPr>
          <p:spPr>
            <a:xfrm>
              <a:off x="635000" y="1682750"/>
              <a:ext cx="4795599" cy="116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/>
                <a:t>2023.12 – 2024.02 KAIST</a:t>
              </a:r>
              <a:r>
                <a:rPr lang="ko-KR" altLang="en-US" sz="1600" dirty="0"/>
                <a:t> 동계 연구실 인턴 </a:t>
              </a:r>
              <a:r>
                <a:rPr lang="en-US" altLang="ko-KR" sz="1600" dirty="0"/>
                <a:t>: </a:t>
              </a:r>
              <a:r>
                <a:rPr lang="ko-KR" altLang="en-US" sz="1600" dirty="0" err="1"/>
                <a:t>문일철</a:t>
              </a:r>
              <a:r>
                <a:rPr lang="ko-KR" altLang="en-US" sz="1600" dirty="0"/>
                <a:t> 교수님</a:t>
              </a:r>
              <a:endParaRPr lang="en-US" altLang="ko-KR" sz="1600" dirty="0"/>
            </a:p>
            <a:p>
              <a:pPr>
                <a:lnSpc>
                  <a:spcPct val="150000"/>
                </a:lnSpc>
              </a:pPr>
              <a:r>
                <a:rPr lang="ko-KR" altLang="en-US" sz="1600" dirty="0"/>
                <a:t>프로젝트</a:t>
              </a:r>
              <a:r>
                <a:rPr lang="en-US" altLang="ko-KR" sz="1600" dirty="0"/>
                <a:t>: Analyzing the Supply Chain Network Created from the Conventional Relation Extraction Model and Chat-GPT</a:t>
              </a:r>
            </a:p>
          </p:txBody>
        </p:sp>
        <p:grpSp>
          <p:nvGrpSpPr>
            <p:cNvPr id="5" name="그룹 1005">
              <a:extLst>
                <a:ext uri="{FF2B5EF4-FFF2-40B4-BE49-F238E27FC236}">
                  <a16:creationId xmlns:a16="http://schemas.microsoft.com/office/drawing/2014/main" id="{FC36BB4E-0BD5-6BB9-9547-553E9BD58769}"/>
                </a:ext>
              </a:extLst>
            </p:cNvPr>
            <p:cNvGrpSpPr/>
            <p:nvPr/>
          </p:nvGrpSpPr>
          <p:grpSpPr>
            <a:xfrm>
              <a:off x="730250" y="1641066"/>
              <a:ext cx="3258466" cy="40389"/>
              <a:chOff x="2472234" y="5180255"/>
              <a:chExt cx="3258466" cy="40389"/>
            </a:xfrm>
          </p:grpSpPr>
          <p:pic>
            <p:nvPicPr>
              <p:cNvPr id="6" name="Object 26">
                <a:extLst>
                  <a:ext uri="{FF2B5EF4-FFF2-40B4-BE49-F238E27FC236}">
                    <a16:creationId xmlns:a16="http://schemas.microsoft.com/office/drawing/2014/main" id="{F4B5870C-BDB4-B833-BF1F-5F4A6032B4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72234" y="5180255"/>
                <a:ext cx="3258466" cy="40389"/>
              </a:xfrm>
              <a:prstGeom prst="rect">
                <a:avLst/>
              </a:prstGeom>
            </p:spPr>
          </p:pic>
        </p:grpSp>
        <p:sp>
          <p:nvSpPr>
            <p:cNvPr id="14" name="Object 29">
              <a:extLst>
                <a:ext uri="{FF2B5EF4-FFF2-40B4-BE49-F238E27FC236}">
                  <a16:creationId xmlns:a16="http://schemas.microsoft.com/office/drawing/2014/main" id="{249DA84E-D628-ED37-B2B9-B7CBD3DA7492}"/>
                </a:ext>
              </a:extLst>
            </p:cNvPr>
            <p:cNvSpPr txBox="1"/>
            <p:nvPr/>
          </p:nvSpPr>
          <p:spPr>
            <a:xfrm>
              <a:off x="690586" y="1170398"/>
              <a:ext cx="436855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2400" dirty="0">
                  <a:solidFill>
                    <a:srgbClr val="000000"/>
                  </a:solidFill>
                  <a:latin typeface="Pretendard" pitchFamily="34" charset="0"/>
                </a:rPr>
                <a:t>Research Experience</a:t>
              </a:r>
              <a:endParaRPr lang="en-US" sz="2400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A067A78-626F-D89F-407B-FEEB6AFD904D}"/>
              </a:ext>
            </a:extLst>
          </p:cNvPr>
          <p:cNvGrpSpPr/>
          <p:nvPr/>
        </p:nvGrpSpPr>
        <p:grpSpPr>
          <a:xfrm>
            <a:off x="635000" y="3031768"/>
            <a:ext cx="5461000" cy="1672478"/>
            <a:chOff x="730250" y="3444518"/>
            <a:chExt cx="5461000" cy="167247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E866205-304D-0F85-2171-24C680829E19}"/>
                </a:ext>
              </a:extLst>
            </p:cNvPr>
            <p:cNvSpPr txBox="1"/>
            <p:nvPr/>
          </p:nvSpPr>
          <p:spPr>
            <a:xfrm>
              <a:off x="730250" y="3956870"/>
              <a:ext cx="5461000" cy="1160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/>
                <a:t>2025.10 HDAT-DA</a:t>
              </a:r>
              <a:r>
                <a:rPr lang="ko-KR" altLang="en-US" sz="1600" dirty="0"/>
                <a:t> </a:t>
              </a:r>
              <a:r>
                <a:rPr lang="en-US" altLang="ko-KR" sz="1600" dirty="0"/>
                <a:t>: Hyundai Motor Group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/>
                <a:t>2023.06 </a:t>
              </a:r>
              <a:r>
                <a:rPr lang="ko-KR" altLang="en-US" sz="1600" dirty="0"/>
                <a:t>정보처리기사 </a:t>
              </a:r>
              <a:r>
                <a:rPr lang="en-US" altLang="ko-KR" sz="1600" dirty="0"/>
                <a:t>: </a:t>
              </a:r>
              <a:r>
                <a:rPr lang="ko-KR" altLang="en-US" sz="1600" dirty="0"/>
                <a:t>한국산업인력공단</a:t>
              </a:r>
              <a:endParaRPr lang="en-US" altLang="ko-KR" sz="1600" dirty="0"/>
            </a:p>
            <a:p>
              <a:pPr>
                <a:lnSpc>
                  <a:spcPct val="150000"/>
                </a:lnSpc>
              </a:pPr>
              <a:r>
                <a:rPr lang="en-US" altLang="ko-KR" sz="1600" dirty="0"/>
                <a:t>2022.09 SQLD : </a:t>
              </a:r>
              <a:r>
                <a:rPr lang="ko-KR" altLang="en-US" sz="1600" dirty="0" err="1"/>
                <a:t>한국데이터산업진흥원</a:t>
              </a:r>
              <a:endParaRPr lang="en-US" altLang="ko-KR" sz="1600" dirty="0"/>
            </a:p>
          </p:txBody>
        </p:sp>
        <p:grpSp>
          <p:nvGrpSpPr>
            <p:cNvPr id="20" name="그룹 1005">
              <a:extLst>
                <a:ext uri="{FF2B5EF4-FFF2-40B4-BE49-F238E27FC236}">
                  <a16:creationId xmlns:a16="http://schemas.microsoft.com/office/drawing/2014/main" id="{C9ECA2CA-F9D8-6A74-2583-DE1332F58062}"/>
                </a:ext>
              </a:extLst>
            </p:cNvPr>
            <p:cNvGrpSpPr/>
            <p:nvPr/>
          </p:nvGrpSpPr>
          <p:grpSpPr>
            <a:xfrm>
              <a:off x="825500" y="3915186"/>
              <a:ext cx="3258466" cy="40389"/>
              <a:chOff x="2472234" y="5180255"/>
              <a:chExt cx="3258466" cy="40389"/>
            </a:xfrm>
          </p:grpSpPr>
          <p:pic>
            <p:nvPicPr>
              <p:cNvPr id="21" name="Object 26">
                <a:extLst>
                  <a:ext uri="{FF2B5EF4-FFF2-40B4-BE49-F238E27FC236}">
                    <a16:creationId xmlns:a16="http://schemas.microsoft.com/office/drawing/2014/main" id="{4270D92C-1ADE-988E-A285-126ACCCF33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72234" y="5180255"/>
                <a:ext cx="3258466" cy="40389"/>
              </a:xfrm>
              <a:prstGeom prst="rect">
                <a:avLst/>
              </a:prstGeom>
            </p:spPr>
          </p:pic>
        </p:grpSp>
        <p:sp>
          <p:nvSpPr>
            <p:cNvPr id="22" name="Object 29">
              <a:extLst>
                <a:ext uri="{FF2B5EF4-FFF2-40B4-BE49-F238E27FC236}">
                  <a16:creationId xmlns:a16="http://schemas.microsoft.com/office/drawing/2014/main" id="{A69CC7FD-A9D3-01B0-D896-A76E833792F2}"/>
                </a:ext>
              </a:extLst>
            </p:cNvPr>
            <p:cNvSpPr txBox="1"/>
            <p:nvPr/>
          </p:nvSpPr>
          <p:spPr>
            <a:xfrm>
              <a:off x="785836" y="3444518"/>
              <a:ext cx="436855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2400" dirty="0"/>
                <a:t>Certifications &amp; Licenses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016CB921-BDB5-BB2F-FE8F-C9F1605EAD2B}"/>
              </a:ext>
            </a:extLst>
          </p:cNvPr>
          <p:cNvGrpSpPr/>
          <p:nvPr/>
        </p:nvGrpSpPr>
        <p:grpSpPr>
          <a:xfrm>
            <a:off x="635000" y="4850369"/>
            <a:ext cx="6000750" cy="1303146"/>
            <a:chOff x="730250" y="3444518"/>
            <a:chExt cx="6000750" cy="130314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5D0E1D9-B9F6-A46A-B182-87CD9498A668}"/>
                </a:ext>
              </a:extLst>
            </p:cNvPr>
            <p:cNvSpPr txBox="1"/>
            <p:nvPr/>
          </p:nvSpPr>
          <p:spPr>
            <a:xfrm>
              <a:off x="730250" y="3956870"/>
              <a:ext cx="6000750" cy="790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/>
                <a:t>2022.04 </a:t>
              </a:r>
              <a:r>
                <a:rPr lang="ko-KR" altLang="en-US" sz="1600" dirty="0"/>
                <a:t>표창장 </a:t>
              </a:r>
              <a:r>
                <a:rPr lang="en-US" altLang="ko-KR" sz="1600" dirty="0"/>
                <a:t>: </a:t>
              </a:r>
              <a:r>
                <a:rPr lang="ko-KR" altLang="en-US" sz="1600" dirty="0"/>
                <a:t>경인지방병무청장</a:t>
              </a:r>
              <a:endParaRPr lang="en-US" altLang="ko-KR" sz="1600" dirty="0"/>
            </a:p>
            <a:p>
              <a:pPr>
                <a:lnSpc>
                  <a:spcPct val="150000"/>
                </a:lnSpc>
              </a:pPr>
              <a:r>
                <a:rPr lang="en-US" altLang="ko-KR" sz="1600" dirty="0"/>
                <a:t>2018.06 </a:t>
              </a:r>
              <a:r>
                <a:rPr lang="ko-KR" altLang="en-US" sz="1600" dirty="0" err="1"/>
                <a:t>한양브레인</a:t>
              </a:r>
              <a:r>
                <a:rPr lang="ko-KR" altLang="en-US" sz="1600" dirty="0"/>
                <a:t> 장학금 </a:t>
              </a:r>
              <a:r>
                <a:rPr lang="en-US" altLang="ko-KR" sz="1600" dirty="0"/>
                <a:t>: </a:t>
              </a:r>
              <a:r>
                <a:rPr lang="ko-KR" altLang="en-US" sz="1600" dirty="0"/>
                <a:t>한양대학교 </a:t>
              </a:r>
              <a:r>
                <a:rPr lang="en-US" altLang="ko-KR" sz="1600" dirty="0"/>
                <a:t>(Ranked 1st)</a:t>
              </a:r>
            </a:p>
          </p:txBody>
        </p:sp>
        <p:grpSp>
          <p:nvGrpSpPr>
            <p:cNvPr id="31" name="그룹 1005">
              <a:extLst>
                <a:ext uri="{FF2B5EF4-FFF2-40B4-BE49-F238E27FC236}">
                  <a16:creationId xmlns:a16="http://schemas.microsoft.com/office/drawing/2014/main" id="{77C6404C-7783-37EA-AA6D-56B7B1BF5164}"/>
                </a:ext>
              </a:extLst>
            </p:cNvPr>
            <p:cNvGrpSpPr/>
            <p:nvPr/>
          </p:nvGrpSpPr>
          <p:grpSpPr>
            <a:xfrm>
              <a:off x="825500" y="3915186"/>
              <a:ext cx="3258466" cy="40389"/>
              <a:chOff x="2472234" y="5180255"/>
              <a:chExt cx="3258466" cy="40389"/>
            </a:xfrm>
          </p:grpSpPr>
          <p:pic>
            <p:nvPicPr>
              <p:cNvPr id="33" name="Object 26">
                <a:extLst>
                  <a:ext uri="{FF2B5EF4-FFF2-40B4-BE49-F238E27FC236}">
                    <a16:creationId xmlns:a16="http://schemas.microsoft.com/office/drawing/2014/main" id="{DAC6D943-CD18-79B8-DFDF-A6FF1A50AF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72234" y="5180255"/>
                <a:ext cx="3258466" cy="40389"/>
              </a:xfrm>
              <a:prstGeom prst="rect">
                <a:avLst/>
              </a:prstGeom>
            </p:spPr>
          </p:pic>
        </p:grp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0A26BDDF-DA9D-7897-EC75-5EE921788B94}"/>
                </a:ext>
              </a:extLst>
            </p:cNvPr>
            <p:cNvSpPr txBox="1"/>
            <p:nvPr/>
          </p:nvSpPr>
          <p:spPr>
            <a:xfrm>
              <a:off x="785836" y="3444518"/>
              <a:ext cx="436855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2400" dirty="0"/>
                <a:t>Awards &amp; Honors</a:t>
              </a: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0FAF87-A6A0-69BD-2223-A35D848F5E00}"/>
              </a:ext>
            </a:extLst>
          </p:cNvPr>
          <p:cNvSpPr/>
          <p:nvPr/>
        </p:nvSpPr>
        <p:spPr>
          <a:xfrm>
            <a:off x="6096000" y="4792959"/>
            <a:ext cx="5527766" cy="17350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D176706-1854-C9D5-3989-C2315DE70825}"/>
              </a:ext>
            </a:extLst>
          </p:cNvPr>
          <p:cNvGrpSpPr/>
          <p:nvPr/>
        </p:nvGrpSpPr>
        <p:grpSpPr>
          <a:xfrm>
            <a:off x="6258016" y="4850369"/>
            <a:ext cx="6000750" cy="1305133"/>
            <a:chOff x="730250" y="3444518"/>
            <a:chExt cx="6000750" cy="130513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CFF7A06-FCCD-F217-D341-FEA7FA1773EB}"/>
                </a:ext>
              </a:extLst>
            </p:cNvPr>
            <p:cNvSpPr txBox="1"/>
            <p:nvPr/>
          </p:nvSpPr>
          <p:spPr>
            <a:xfrm>
              <a:off x="730250" y="3956870"/>
              <a:ext cx="6000750" cy="7927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600" dirty="0"/>
                <a:t>프로그래밍 </a:t>
              </a:r>
              <a:r>
                <a:rPr lang="en-US" altLang="ko-KR" sz="1600" dirty="0"/>
                <a:t>: Python, R, Java, SQL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600" dirty="0"/>
                <a:t>언어 </a:t>
              </a:r>
              <a:r>
                <a:rPr lang="en-US" altLang="ko-KR" sz="1600" dirty="0"/>
                <a:t>: Korean(native), English(</a:t>
              </a:r>
              <a:r>
                <a:rPr lang="ko-KR" altLang="en-US" sz="1600" dirty="0"/>
                <a:t>구술 </a:t>
              </a:r>
              <a:r>
                <a:rPr lang="en-US" altLang="ko-KR" sz="1600" dirty="0"/>
                <a:t>intermediate)</a:t>
              </a:r>
            </a:p>
          </p:txBody>
        </p:sp>
        <p:grpSp>
          <p:nvGrpSpPr>
            <p:cNvPr id="34" name="그룹 1005">
              <a:extLst>
                <a:ext uri="{FF2B5EF4-FFF2-40B4-BE49-F238E27FC236}">
                  <a16:creationId xmlns:a16="http://schemas.microsoft.com/office/drawing/2014/main" id="{165F1A45-DE9E-07E1-CB24-1CA9DF7D545E}"/>
                </a:ext>
              </a:extLst>
            </p:cNvPr>
            <p:cNvGrpSpPr/>
            <p:nvPr/>
          </p:nvGrpSpPr>
          <p:grpSpPr>
            <a:xfrm>
              <a:off x="825500" y="3915186"/>
              <a:ext cx="3258466" cy="40389"/>
              <a:chOff x="2472234" y="5180255"/>
              <a:chExt cx="3258466" cy="40389"/>
            </a:xfrm>
          </p:grpSpPr>
          <p:pic>
            <p:nvPicPr>
              <p:cNvPr id="36" name="Object 26">
                <a:extLst>
                  <a:ext uri="{FF2B5EF4-FFF2-40B4-BE49-F238E27FC236}">
                    <a16:creationId xmlns:a16="http://schemas.microsoft.com/office/drawing/2014/main" id="{1E4716B7-C292-974C-E235-B40FF260F5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72234" y="5180255"/>
                <a:ext cx="3258466" cy="40389"/>
              </a:xfrm>
              <a:prstGeom prst="rect">
                <a:avLst/>
              </a:prstGeom>
            </p:spPr>
          </p:pic>
        </p:grpSp>
        <p:sp>
          <p:nvSpPr>
            <p:cNvPr id="35" name="Object 29">
              <a:extLst>
                <a:ext uri="{FF2B5EF4-FFF2-40B4-BE49-F238E27FC236}">
                  <a16:creationId xmlns:a16="http://schemas.microsoft.com/office/drawing/2014/main" id="{741AF497-FD19-0939-C523-E11C111D4973}"/>
                </a:ext>
              </a:extLst>
            </p:cNvPr>
            <p:cNvSpPr txBox="1"/>
            <p:nvPr/>
          </p:nvSpPr>
          <p:spPr>
            <a:xfrm>
              <a:off x="785836" y="3444518"/>
              <a:ext cx="436855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sz="2400" dirty="0"/>
                <a:t>Skills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EEE80B0-9FE6-84D9-88CE-8FD5D031C8AE}"/>
              </a:ext>
            </a:extLst>
          </p:cNvPr>
          <p:cNvSpPr txBox="1"/>
          <p:nvPr/>
        </p:nvSpPr>
        <p:spPr>
          <a:xfrm>
            <a:off x="95250" y="6406106"/>
            <a:ext cx="4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163644"/>
                </a:solidFill>
              </a:rPr>
              <a:t>5</a:t>
            </a:r>
            <a:endParaRPr lang="ko-KR" altLang="en-US" dirty="0">
              <a:solidFill>
                <a:srgbClr val="16364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979A25-8CBC-298D-7E74-35B25D8F6E1B}"/>
              </a:ext>
            </a:extLst>
          </p:cNvPr>
          <p:cNvSpPr txBox="1"/>
          <p:nvPr/>
        </p:nvSpPr>
        <p:spPr>
          <a:xfrm>
            <a:off x="6139870" y="3522830"/>
            <a:ext cx="5461000" cy="421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2022.07 </a:t>
            </a:r>
            <a:r>
              <a:rPr lang="ko-KR" altLang="en-US" sz="1600" dirty="0" err="1"/>
              <a:t>빅데이터분석기사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한국데이터산업진흥원</a:t>
            </a:r>
            <a:endParaRPr lang="en-US" altLang="ko-KR" sz="16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4F8AC3E-53F5-9F96-81C8-B24392629836}"/>
              </a:ext>
            </a:extLst>
          </p:cNvPr>
          <p:cNvGrpSpPr/>
          <p:nvPr/>
        </p:nvGrpSpPr>
        <p:grpSpPr>
          <a:xfrm>
            <a:off x="6096000" y="1214148"/>
            <a:ext cx="5461000" cy="1672478"/>
            <a:chOff x="730250" y="3444518"/>
            <a:chExt cx="5461000" cy="167247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0343D8-8162-F94C-D0B7-0AAA427C2408}"/>
                </a:ext>
              </a:extLst>
            </p:cNvPr>
            <p:cNvSpPr txBox="1"/>
            <p:nvPr/>
          </p:nvSpPr>
          <p:spPr>
            <a:xfrm>
              <a:off x="730250" y="3956870"/>
              <a:ext cx="5461000" cy="1160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600" dirty="0"/>
                <a:t>2023.10 – 2023.11 Kaggle </a:t>
              </a:r>
              <a:r>
                <a:rPr lang="ko-KR" altLang="en-US" sz="1600" dirty="0"/>
                <a:t>대회 </a:t>
              </a:r>
              <a:r>
                <a:rPr lang="en-US" altLang="ko-KR" sz="1600" dirty="0"/>
                <a:t>: Binary Prediction of Smoker Status using Bio-Signals (166/1908)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600" dirty="0"/>
                <a:t>2023.09 – 2023.11 </a:t>
              </a:r>
              <a:r>
                <a:rPr lang="ko-KR" altLang="en-US" sz="1600" dirty="0"/>
                <a:t>구글 </a:t>
              </a:r>
              <a:r>
                <a:rPr lang="ko-KR" altLang="en-US" sz="1600" dirty="0" err="1"/>
                <a:t>머신러닝</a:t>
              </a:r>
              <a:r>
                <a:rPr lang="ko-KR" altLang="en-US" sz="1600" dirty="0"/>
                <a:t> 부트캠프</a:t>
              </a:r>
              <a:endParaRPr lang="en-US" altLang="ko-KR" sz="1600" dirty="0"/>
            </a:p>
          </p:txBody>
        </p:sp>
        <p:grpSp>
          <p:nvGrpSpPr>
            <p:cNvPr id="12" name="그룹 1005">
              <a:extLst>
                <a:ext uri="{FF2B5EF4-FFF2-40B4-BE49-F238E27FC236}">
                  <a16:creationId xmlns:a16="http://schemas.microsoft.com/office/drawing/2014/main" id="{3F3627BA-1E32-DE18-59B2-E925A215F52A}"/>
                </a:ext>
              </a:extLst>
            </p:cNvPr>
            <p:cNvGrpSpPr/>
            <p:nvPr/>
          </p:nvGrpSpPr>
          <p:grpSpPr>
            <a:xfrm>
              <a:off x="825500" y="3915186"/>
              <a:ext cx="3258466" cy="40389"/>
              <a:chOff x="2472234" y="5180255"/>
              <a:chExt cx="3258466" cy="40389"/>
            </a:xfrm>
          </p:grpSpPr>
          <p:pic>
            <p:nvPicPr>
              <p:cNvPr id="15" name="Object 26">
                <a:extLst>
                  <a:ext uri="{FF2B5EF4-FFF2-40B4-BE49-F238E27FC236}">
                    <a16:creationId xmlns:a16="http://schemas.microsoft.com/office/drawing/2014/main" id="{DB7B6F6F-1949-A8FC-FE78-30C4E2276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72234" y="5180255"/>
                <a:ext cx="3258466" cy="40389"/>
              </a:xfrm>
              <a:prstGeom prst="rect">
                <a:avLst/>
              </a:prstGeom>
            </p:spPr>
          </p:pic>
        </p:grpSp>
        <p:sp>
          <p:nvSpPr>
            <p:cNvPr id="13" name="Object 29">
              <a:extLst>
                <a:ext uri="{FF2B5EF4-FFF2-40B4-BE49-F238E27FC236}">
                  <a16:creationId xmlns:a16="http://schemas.microsoft.com/office/drawing/2014/main" id="{0CB93CBC-9DAD-66A4-681F-7670BE4C8B17}"/>
                </a:ext>
              </a:extLst>
            </p:cNvPr>
            <p:cNvSpPr txBox="1"/>
            <p:nvPr/>
          </p:nvSpPr>
          <p:spPr>
            <a:xfrm>
              <a:off x="785836" y="3444518"/>
              <a:ext cx="4368555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2400" dirty="0">
                  <a:solidFill>
                    <a:srgbClr val="000000"/>
                  </a:solidFill>
                  <a:latin typeface="Pretendard" pitchFamily="34" charset="0"/>
                </a:rPr>
                <a:t>Extracurricular Activities</a:t>
              </a:r>
              <a:endParaRPr lang="en-US" altLang="ko-KR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3610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1714833"/>
            <a:ext cx="5374105" cy="2021435"/>
            <a:chOff x="6817895" y="1153359"/>
            <a:chExt cx="5374105" cy="202143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1153359"/>
              <a:ext cx="5080237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0" b="1" dirty="0">
                  <a:solidFill>
                    <a:schemeClr val="bg1"/>
                  </a:solidFill>
                  <a:latin typeface="+mj-ea"/>
                  <a:ea typeface="+mj-ea"/>
                </a:rPr>
                <a:t>2. </a:t>
              </a:r>
              <a:r>
                <a:rPr lang="ko-KR" altLang="en-US" sz="4800" b="1" dirty="0">
                  <a:solidFill>
                    <a:schemeClr val="bg1"/>
                  </a:solidFill>
                  <a:latin typeface="+mj-ea"/>
                  <a:ea typeface="+mj-ea"/>
                </a:rPr>
                <a:t>교육 및 경험</a:t>
              </a:r>
              <a:endParaRPr lang="ko-KR" altLang="en-US" sz="12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292614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317479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4B1C5-1DD9-AF15-DE3F-02859903813A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A7C2AA-5D59-7289-F5CC-083DBC338F2C}"/>
              </a:ext>
            </a:extLst>
          </p:cNvPr>
          <p:cNvSpPr txBox="1"/>
          <p:nvPr/>
        </p:nvSpPr>
        <p:spPr>
          <a:xfrm>
            <a:off x="95250" y="6406106"/>
            <a:ext cx="4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6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937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874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교육 및 경험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D278407E-EB25-F134-45BA-EF2F1A5C438D}"/>
              </a:ext>
            </a:extLst>
          </p:cNvPr>
          <p:cNvGrpSpPr/>
          <p:nvPr/>
        </p:nvGrpSpPr>
        <p:grpSpPr>
          <a:xfrm>
            <a:off x="699636" y="2089001"/>
            <a:ext cx="2681474" cy="2920962"/>
            <a:chOff x="928225" y="2624382"/>
            <a:chExt cx="2041451" cy="2920962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D60A2222-1861-0C93-F3FF-B480F0A8C532}"/>
                </a:ext>
              </a:extLst>
            </p:cNvPr>
            <p:cNvSpPr/>
            <p:nvPr/>
          </p:nvSpPr>
          <p:spPr>
            <a:xfrm>
              <a:off x="928225" y="2624382"/>
              <a:ext cx="2041451" cy="29209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C86559F-3837-B749-A77F-EE960F0146CE}"/>
                </a:ext>
              </a:extLst>
            </p:cNvPr>
            <p:cNvSpPr/>
            <p:nvPr/>
          </p:nvSpPr>
          <p:spPr>
            <a:xfrm>
              <a:off x="928225" y="2624382"/>
              <a:ext cx="2041451" cy="6042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9B041E-DDEB-6C62-ECA0-3BC0C2E9BA85}"/>
                </a:ext>
              </a:extLst>
            </p:cNvPr>
            <p:cNvSpPr txBox="1"/>
            <p:nvPr/>
          </p:nvSpPr>
          <p:spPr>
            <a:xfrm>
              <a:off x="1511632" y="2739355"/>
              <a:ext cx="843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학력사항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E2E9DD-A907-410C-F125-ADC1C9942C5F}"/>
                </a:ext>
              </a:extLst>
            </p:cNvPr>
            <p:cNvSpPr txBox="1"/>
            <p:nvPr/>
          </p:nvSpPr>
          <p:spPr>
            <a:xfrm>
              <a:off x="1027095" y="3273238"/>
              <a:ext cx="1839819" cy="1883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ko-KR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2019.03</a:t>
              </a:r>
              <a:r>
                <a:rPr lang="en-US" altLang="ko-KR" sz="14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한양대학교 </a:t>
              </a:r>
              <a:r>
                <a:rPr lang="ko-KR" altLang="en-US" sz="14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파이낸스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경영학과 복수전공</a:t>
              </a:r>
              <a:endPara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ko-KR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2018.03</a:t>
              </a:r>
              <a:r>
                <a:rPr lang="en-US" altLang="ko-KR" sz="14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한양대학교 산업공학과 입학</a:t>
              </a:r>
              <a:endPara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en-US" altLang="ko-KR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2017.02 </a:t>
              </a: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수지고등학교 졸업</a:t>
              </a: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A11B5A-83BB-081D-E73D-91C9BDEA3CF0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F86137-706A-7C35-3E7B-48C64B8441B0}"/>
              </a:ext>
            </a:extLst>
          </p:cNvPr>
          <p:cNvSpPr txBox="1"/>
          <p:nvPr/>
        </p:nvSpPr>
        <p:spPr>
          <a:xfrm>
            <a:off x="6240608" y="3357673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2F008271-6863-4C95-8B2F-3C2B37429789}"/>
              </a:ext>
            </a:extLst>
          </p:cNvPr>
          <p:cNvGrpSpPr/>
          <p:nvPr/>
        </p:nvGrpSpPr>
        <p:grpSpPr>
          <a:xfrm>
            <a:off x="4019882" y="1439438"/>
            <a:ext cx="2041452" cy="4220088"/>
            <a:chOff x="4019882" y="1439438"/>
            <a:chExt cx="2041452" cy="4220088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AF95BF3-A33E-3ED4-D4B8-1B89DC6B1DC5}"/>
                </a:ext>
              </a:extLst>
            </p:cNvPr>
            <p:cNvSpPr/>
            <p:nvPr/>
          </p:nvSpPr>
          <p:spPr>
            <a:xfrm>
              <a:off x="4019882" y="1439438"/>
              <a:ext cx="2041451" cy="4220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71F45B0-605A-3EEB-231C-67A24AD70A01}"/>
                </a:ext>
              </a:extLst>
            </p:cNvPr>
            <p:cNvSpPr/>
            <p:nvPr/>
          </p:nvSpPr>
          <p:spPr>
            <a:xfrm>
              <a:off x="4019883" y="1463577"/>
              <a:ext cx="2041451" cy="6042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D46FD89-E348-2DE4-1889-54E2ADFDD6B6}"/>
                </a:ext>
              </a:extLst>
            </p:cNvPr>
            <p:cNvSpPr txBox="1"/>
            <p:nvPr/>
          </p:nvSpPr>
          <p:spPr>
            <a:xfrm>
              <a:off x="4666626" y="1578550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95000"/>
                    </a:schemeClr>
                  </a:solidFill>
                </a:rPr>
                <a:t>2</a:t>
              </a:r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학년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245D7FA-2EDE-736A-9A25-5D557ABCECD3}"/>
                </a:ext>
              </a:extLst>
            </p:cNvPr>
            <p:cNvSpPr txBox="1"/>
            <p:nvPr/>
          </p:nvSpPr>
          <p:spPr>
            <a:xfrm>
              <a:off x="4180103" y="2182828"/>
              <a:ext cx="1682895" cy="16245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산업공학</a:t>
              </a:r>
              <a:endPara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 err="1">
                  <a:solidFill>
                    <a:srgbClr val="404040"/>
                  </a:solidFill>
                  <a:latin typeface="+mn-ea"/>
                </a:rPr>
                <a:t>산공수학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선형대수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, AO),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수치해석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(A+),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확률통계론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(A+),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공업수학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(B+),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응용통계학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(A0),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선형계획법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(B0),</a:t>
              </a:r>
              <a:endParaRPr lang="ko-KR" altLang="en-US" sz="1400" spc="-150" dirty="0">
                <a:solidFill>
                  <a:srgbClr val="404040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F3901-88AA-C691-84BC-618131E3AC73}"/>
                </a:ext>
              </a:extLst>
            </p:cNvPr>
            <p:cNvSpPr txBox="1"/>
            <p:nvPr/>
          </p:nvSpPr>
          <p:spPr>
            <a:xfrm>
              <a:off x="4199159" y="3774099"/>
              <a:ext cx="1682895" cy="1109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400" b="1" u="sng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파이낸스경영학</a:t>
              </a:r>
              <a:endPara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미시경제이론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(A0), </a:t>
              </a: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비즈니스데이터분석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(A+)</a:t>
              </a:r>
              <a:endParaRPr lang="ko-KR" altLang="en-US" sz="1400" spc="-150" dirty="0">
                <a:solidFill>
                  <a:srgbClr val="404040"/>
                </a:solidFill>
                <a:latin typeface="+mn-ea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72AFCB4-70C9-58E5-F2A7-831DC41BFDD2}"/>
              </a:ext>
            </a:extLst>
          </p:cNvPr>
          <p:cNvSpPr txBox="1"/>
          <p:nvPr/>
        </p:nvSpPr>
        <p:spPr>
          <a:xfrm>
            <a:off x="8967868" y="313870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n-ea"/>
              </a:rPr>
              <a:t>&gt;&gt;</a:t>
            </a:r>
            <a:endParaRPr lang="ko-KR" altLang="en-US" dirty="0">
              <a:latin typeface="+mn-ea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8586422-C5B4-A1AE-6E18-1D8DF3C5416F}"/>
              </a:ext>
            </a:extLst>
          </p:cNvPr>
          <p:cNvGrpSpPr/>
          <p:nvPr/>
        </p:nvGrpSpPr>
        <p:grpSpPr>
          <a:xfrm>
            <a:off x="6778440" y="1452681"/>
            <a:ext cx="2041453" cy="4193602"/>
            <a:chOff x="6778440" y="1451506"/>
            <a:chExt cx="2041453" cy="419360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7970CC38-9B93-3086-7155-DB6D495644D4}"/>
                </a:ext>
              </a:extLst>
            </p:cNvPr>
            <p:cNvSpPr/>
            <p:nvPr/>
          </p:nvSpPr>
          <p:spPr>
            <a:xfrm>
              <a:off x="6778442" y="1451507"/>
              <a:ext cx="2041451" cy="4193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E1A3D78-ED92-F94F-B0D0-BC15DEBDC75A}"/>
                </a:ext>
              </a:extLst>
            </p:cNvPr>
            <p:cNvSpPr/>
            <p:nvPr/>
          </p:nvSpPr>
          <p:spPr>
            <a:xfrm>
              <a:off x="6778440" y="1451506"/>
              <a:ext cx="2041451" cy="6042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109BDDB-F8CF-CC54-B1E4-A028C81111AD}"/>
                </a:ext>
              </a:extLst>
            </p:cNvPr>
            <p:cNvSpPr txBox="1"/>
            <p:nvPr/>
          </p:nvSpPr>
          <p:spPr>
            <a:xfrm>
              <a:off x="7425984" y="1566479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95000"/>
                    </a:schemeClr>
                  </a:solidFill>
                </a:rPr>
                <a:t>3</a:t>
              </a:r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학년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67BD25-5B93-EA6F-5BCB-D6D765DDE32D}"/>
                </a:ext>
              </a:extLst>
            </p:cNvPr>
            <p:cNvSpPr txBox="1"/>
            <p:nvPr/>
          </p:nvSpPr>
          <p:spPr>
            <a:xfrm>
              <a:off x="6957717" y="2170757"/>
              <a:ext cx="1729083" cy="848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산업공학</a:t>
              </a:r>
              <a:endPara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 err="1">
                  <a:solidFill>
                    <a:srgbClr val="404040"/>
                  </a:solidFill>
                  <a:latin typeface="+mn-ea"/>
                </a:rPr>
                <a:t>경영과학과운영연구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1(B+),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품질경영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(B+)</a:t>
              </a:r>
              <a:endParaRPr lang="ko-KR" altLang="en-US" sz="1400" spc="-150" dirty="0">
                <a:solidFill>
                  <a:srgbClr val="404040"/>
                </a:solidFill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92F971-1911-6763-D0F7-171F5BEF10E3}"/>
                </a:ext>
              </a:extLst>
            </p:cNvPr>
            <p:cNvSpPr txBox="1"/>
            <p:nvPr/>
          </p:nvSpPr>
          <p:spPr>
            <a:xfrm>
              <a:off x="6957716" y="3762028"/>
              <a:ext cx="1729083" cy="18830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400" b="1" u="sng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파이낸스경영학</a:t>
              </a:r>
              <a:endPara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계량금융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(B+),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재무관리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(B+),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고급투자론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(A0),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 거시경제이론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(A+),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금융시장의 이해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(A+),</a:t>
              </a: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경영정보시스템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(B+), </a:t>
              </a: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수리경제입문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(A+)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B378F25-04D3-1434-43C7-C5FD09FEFC30}"/>
              </a:ext>
            </a:extLst>
          </p:cNvPr>
          <p:cNvGrpSpPr/>
          <p:nvPr/>
        </p:nvGrpSpPr>
        <p:grpSpPr>
          <a:xfrm>
            <a:off x="9536997" y="1452685"/>
            <a:ext cx="2041455" cy="4193594"/>
            <a:chOff x="9536997" y="1451509"/>
            <a:chExt cx="2041455" cy="419359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3C8C25A-844B-8FFA-1272-6223DD0085C9}"/>
                </a:ext>
              </a:extLst>
            </p:cNvPr>
            <p:cNvSpPr/>
            <p:nvPr/>
          </p:nvSpPr>
          <p:spPr>
            <a:xfrm>
              <a:off x="9537001" y="1451510"/>
              <a:ext cx="2041451" cy="41935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D681D37-D302-8C28-4973-B7F299E24EAC}"/>
                </a:ext>
              </a:extLst>
            </p:cNvPr>
            <p:cNvSpPr/>
            <p:nvPr/>
          </p:nvSpPr>
          <p:spPr>
            <a:xfrm>
              <a:off x="9536997" y="1451509"/>
              <a:ext cx="2041451" cy="6042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03BEDFB-CD23-0158-3EC2-D039ED625191}"/>
                </a:ext>
              </a:extLst>
            </p:cNvPr>
            <p:cNvSpPr txBox="1"/>
            <p:nvPr/>
          </p:nvSpPr>
          <p:spPr>
            <a:xfrm>
              <a:off x="10176313" y="1566482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bg1">
                      <a:lumMod val="95000"/>
                    </a:schemeClr>
                  </a:solidFill>
                </a:rPr>
                <a:t>4</a:t>
              </a:r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학년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F1A75A-F9AD-51E4-5D28-6203D62F310F}"/>
                </a:ext>
              </a:extLst>
            </p:cNvPr>
            <p:cNvSpPr txBox="1"/>
            <p:nvPr/>
          </p:nvSpPr>
          <p:spPr>
            <a:xfrm>
              <a:off x="9716274" y="2170760"/>
              <a:ext cx="1682895" cy="1366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산업공학</a:t>
              </a:r>
              <a:endPara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객체지향프로그래밍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(A0),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산업공학종합설계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1(A+),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금융공학개론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(A+),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공업경제학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(A0)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04B669-2940-B3F1-B305-34C62F441B84}"/>
                </a:ext>
              </a:extLst>
            </p:cNvPr>
            <p:cNvSpPr txBox="1"/>
            <p:nvPr/>
          </p:nvSpPr>
          <p:spPr>
            <a:xfrm>
              <a:off x="9716273" y="3762031"/>
              <a:ext cx="1682895" cy="1107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ko-KR" altLang="en-US" sz="1400" b="1" u="sng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파이낸스경영학</a:t>
              </a:r>
              <a:endPara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기업가치평가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(A0), </a:t>
              </a:r>
            </a:p>
            <a:p>
              <a:pPr algn="just">
                <a:lnSpc>
                  <a:spcPct val="120000"/>
                </a:lnSpc>
              </a:pP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파생증권론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(A+), 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투자론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(A+)</a:t>
              </a:r>
            </a:p>
          </p:txBody>
        </p:sp>
      </p:grp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4077689-6357-8CC3-F0F1-FA7AC3F42A1A}"/>
              </a:ext>
            </a:extLst>
          </p:cNvPr>
          <p:cNvCxnSpPr>
            <a:cxnSpLocks/>
          </p:cNvCxnSpPr>
          <p:nvPr/>
        </p:nvCxnSpPr>
        <p:spPr>
          <a:xfrm flipV="1">
            <a:off x="3381110" y="1459806"/>
            <a:ext cx="638771" cy="6210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01F0B18-B9AB-72FA-6A46-17D365D8169E}"/>
              </a:ext>
            </a:extLst>
          </p:cNvPr>
          <p:cNvCxnSpPr>
            <a:cxnSpLocks/>
          </p:cNvCxnSpPr>
          <p:nvPr/>
        </p:nvCxnSpPr>
        <p:spPr>
          <a:xfrm>
            <a:off x="3381110" y="5009963"/>
            <a:ext cx="638771" cy="6495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8DF7F59-3F46-4EC4-0BA7-1075A90A4C9D}"/>
              </a:ext>
            </a:extLst>
          </p:cNvPr>
          <p:cNvSpPr txBox="1"/>
          <p:nvPr/>
        </p:nvSpPr>
        <p:spPr>
          <a:xfrm>
            <a:off x="95250" y="6406106"/>
            <a:ext cx="4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7</a:t>
            </a:r>
            <a:endParaRPr lang="ko-KR" altLang="en-US" dirty="0">
              <a:solidFill>
                <a:srgbClr val="224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429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8CBA0-1CBC-328D-A5B5-4B667C0DF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67AE7C-EDB7-D60C-DB71-EDA5EDFE8121}"/>
              </a:ext>
            </a:extLst>
          </p:cNvPr>
          <p:cNvSpPr txBox="1"/>
          <p:nvPr/>
        </p:nvSpPr>
        <p:spPr>
          <a:xfrm>
            <a:off x="6817895" y="428138"/>
            <a:ext cx="41857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0" b="1" dirty="0">
                <a:solidFill>
                  <a:prstClr val="white"/>
                </a:solidFill>
                <a:latin typeface="Pretendard Black"/>
                <a:ea typeface="+mj-ea"/>
              </a:rPr>
              <a:t>3</a:t>
            </a:r>
            <a:r>
              <a:rPr kumimoji="0" lang="en-US" altLang="ko-KR" sz="1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lack"/>
                <a:ea typeface="+mj-ea"/>
                <a:cs typeface="+mn-cs"/>
              </a:rPr>
              <a:t>. </a:t>
            </a: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Black"/>
                <a:ea typeface="+mj-ea"/>
                <a:cs typeface="+mn-cs"/>
              </a:rPr>
              <a:t>직무경험</a:t>
            </a:r>
            <a:endParaRPr kumimoji="0" lang="ko-KR" altLang="en-US" sz="1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 Black"/>
              <a:ea typeface="+mj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A7D71-7627-17EC-13BA-CAC24E9357B5}"/>
              </a:ext>
            </a:extLst>
          </p:cNvPr>
          <p:cNvSpPr txBox="1"/>
          <p:nvPr/>
        </p:nvSpPr>
        <p:spPr>
          <a:xfrm>
            <a:off x="6817895" y="2044280"/>
            <a:ext cx="230063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600" b="1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rPr>
              <a:t>현대자동차</a:t>
            </a:r>
            <a:endParaRPr kumimoji="0" lang="en-US" altLang="ko-KR" sz="3600" b="1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2024.08.26 –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현재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06F1D7D-6401-6CEE-507B-EC7F422F985B}"/>
              </a:ext>
            </a:extLst>
          </p:cNvPr>
          <p:cNvCxnSpPr>
            <a:cxnSpLocks/>
          </p:cNvCxnSpPr>
          <p:nvPr/>
        </p:nvCxnSpPr>
        <p:spPr>
          <a:xfrm>
            <a:off x="6817895" y="3036947"/>
            <a:ext cx="537410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ACEEFA2-9559-8C6D-AFF4-2069D421EDF9}"/>
              </a:ext>
            </a:extLst>
          </p:cNvPr>
          <p:cNvCxnSpPr>
            <a:cxnSpLocks/>
          </p:cNvCxnSpPr>
          <p:nvPr/>
        </p:nvCxnSpPr>
        <p:spPr>
          <a:xfrm>
            <a:off x="6817895" y="3285600"/>
            <a:ext cx="537410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5FAFD8-57F0-67DA-FE7E-271295728C28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3ED36-5736-7E1C-46E9-2C2A04E78D72}"/>
              </a:ext>
            </a:extLst>
          </p:cNvPr>
          <p:cNvSpPr txBox="1"/>
          <p:nvPr/>
        </p:nvSpPr>
        <p:spPr>
          <a:xfrm>
            <a:off x="6817895" y="3318591"/>
            <a:ext cx="51668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AVP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본부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아키텍처시스템인테그레이션팀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2000" dirty="0">
                <a:solidFill>
                  <a:srgbClr val="FFFFFF"/>
                </a:solidFill>
                <a:latin typeface="Pretendard"/>
              </a:rPr>
              <a:t>AVP </a:t>
            </a:r>
            <a:r>
              <a:rPr lang="ko-KR" altLang="en-US" sz="2000" dirty="0">
                <a:solidFill>
                  <a:srgbClr val="FFFFFF"/>
                </a:solidFill>
                <a:latin typeface="Pretendard"/>
              </a:rPr>
              <a:t>본부 </a:t>
            </a:r>
            <a:r>
              <a:rPr lang="ko-KR" altLang="en-US" sz="2000" dirty="0" err="1">
                <a:solidFill>
                  <a:srgbClr val="FFFFFF"/>
                </a:solidFill>
                <a:latin typeface="Pretendard"/>
              </a:rPr>
              <a:t>차량아키텍처모듈기획팀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B3674A9-3D2C-07E8-2581-9B3BEED770A0}"/>
              </a:ext>
            </a:extLst>
          </p:cNvPr>
          <p:cNvCxnSpPr>
            <a:cxnSpLocks/>
          </p:cNvCxnSpPr>
          <p:nvPr/>
        </p:nvCxnSpPr>
        <p:spPr>
          <a:xfrm>
            <a:off x="822960" y="4803074"/>
            <a:ext cx="2638697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D72C5A8-CCA7-4A04-B5BD-F39F4A32DFFC}"/>
              </a:ext>
            </a:extLst>
          </p:cNvPr>
          <p:cNvSpPr txBox="1"/>
          <p:nvPr/>
        </p:nvSpPr>
        <p:spPr>
          <a:xfrm>
            <a:off x="719719" y="4902696"/>
            <a:ext cx="8998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ABOUT PROJECT</a:t>
            </a: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600" dirty="0">
                <a:solidFill>
                  <a:srgbClr val="FFFFFF"/>
                </a:solidFill>
                <a:latin typeface="Pretendard"/>
              </a:rPr>
              <a:t>현재 현대자동차 </a:t>
            </a:r>
            <a:r>
              <a:rPr lang="en-US" altLang="ko-KR" sz="1600" dirty="0">
                <a:solidFill>
                  <a:srgbClr val="FFFFFF"/>
                </a:solidFill>
                <a:latin typeface="Pretendard"/>
              </a:rPr>
              <a:t>AVP</a:t>
            </a:r>
            <a:r>
              <a:rPr lang="ko-KR" altLang="en-US" sz="1600" dirty="0">
                <a:solidFill>
                  <a:srgbClr val="FFFFFF"/>
                </a:solidFill>
                <a:latin typeface="Pretendard"/>
              </a:rPr>
              <a:t>본부에서 데이터분석을 활용한 시스템 </a:t>
            </a:r>
            <a:r>
              <a:rPr lang="ko-KR" altLang="en-US" sz="1600" dirty="0" err="1">
                <a:solidFill>
                  <a:srgbClr val="FFFFFF"/>
                </a:solidFill>
                <a:latin typeface="Pretendard"/>
              </a:rPr>
              <a:t>인테그레이션</a:t>
            </a:r>
            <a:r>
              <a:rPr lang="en-US" altLang="ko-KR" sz="1600" dirty="0">
                <a:solidFill>
                  <a:srgbClr val="FFFFFF"/>
                </a:solidFill>
                <a:latin typeface="Pretendard"/>
              </a:rPr>
              <a:t>(</a:t>
            </a:r>
            <a:r>
              <a:rPr lang="ko-KR" altLang="en-US" sz="1600" dirty="0">
                <a:solidFill>
                  <a:srgbClr val="FFFFFF"/>
                </a:solidFill>
                <a:latin typeface="Pretendard"/>
              </a:rPr>
              <a:t>모듈 </a:t>
            </a:r>
            <a:r>
              <a:rPr lang="ko-KR" altLang="en-US" sz="1600" dirty="0" err="1">
                <a:solidFill>
                  <a:srgbClr val="FFFFFF"/>
                </a:solidFill>
                <a:latin typeface="Pretendard"/>
              </a:rPr>
              <a:t>컨피규레이션</a:t>
            </a:r>
            <a:r>
              <a:rPr lang="en-US" altLang="ko-KR" sz="1600" dirty="0">
                <a:solidFill>
                  <a:srgbClr val="FFFFFF"/>
                </a:solidFill>
                <a:latin typeface="Pretendard"/>
              </a:rPr>
              <a:t>), </a:t>
            </a:r>
            <a:r>
              <a:rPr lang="ko-KR" altLang="en-US" sz="1600" dirty="0">
                <a:solidFill>
                  <a:srgbClr val="FFFFFF"/>
                </a:solidFill>
                <a:latin typeface="Pretendard"/>
              </a:rPr>
              <a:t>모듈 관리</a:t>
            </a:r>
            <a:r>
              <a:rPr lang="en-US" altLang="ko-KR" sz="1600" dirty="0">
                <a:solidFill>
                  <a:srgbClr val="FFFFFF"/>
                </a:solidFill>
                <a:latin typeface="Pretendard"/>
              </a:rPr>
              <a:t>(Management), </a:t>
            </a:r>
            <a:r>
              <a:rPr lang="ko-KR" altLang="en-US" sz="1600" dirty="0">
                <a:solidFill>
                  <a:srgbClr val="FFFFFF"/>
                </a:solidFill>
                <a:latin typeface="Pretendard"/>
              </a:rPr>
              <a:t>모듈 </a:t>
            </a:r>
            <a:r>
              <a:rPr lang="ko-KR" altLang="en-US" sz="1600" dirty="0" err="1">
                <a:solidFill>
                  <a:srgbClr val="FFFFFF"/>
                </a:solidFill>
                <a:latin typeface="Pretendard"/>
              </a:rPr>
              <a:t>리유즈</a:t>
            </a:r>
            <a:r>
              <a:rPr lang="en-US" altLang="ko-KR" sz="1600" dirty="0">
                <a:solidFill>
                  <a:srgbClr val="FFFFFF"/>
                </a:solidFill>
                <a:latin typeface="Pretendard"/>
              </a:rPr>
              <a:t>(Reuse) </a:t>
            </a:r>
            <a:r>
              <a:rPr lang="ko-KR" altLang="en-US" sz="1600" dirty="0">
                <a:solidFill>
                  <a:srgbClr val="FFFFFF"/>
                </a:solidFill>
                <a:latin typeface="Pretendard"/>
              </a:rPr>
              <a:t>업무를 수행하고 있습니다</a:t>
            </a:r>
            <a:r>
              <a:rPr lang="en-US" altLang="ko-KR" sz="1600" dirty="0">
                <a:solidFill>
                  <a:srgbClr val="FFFFFF"/>
                </a:solidFill>
                <a:latin typeface="Pretendard"/>
              </a:rPr>
              <a:t>.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4F28A-D432-DF89-432A-E3FC1BFC3314}"/>
              </a:ext>
            </a:extLst>
          </p:cNvPr>
          <p:cNvSpPr txBox="1"/>
          <p:nvPr/>
        </p:nvSpPr>
        <p:spPr>
          <a:xfrm>
            <a:off x="95250" y="6406106"/>
            <a:ext cx="4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8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56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B575A-DF9D-E4CC-6D51-D27CE16D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1AEB13E1-9DF6-A601-BF66-4CB7DFE38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973" y="1114165"/>
            <a:ext cx="740065" cy="4933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97455F3-7CD9-4EA5-5AE0-155F5C3CD5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36" r="16377"/>
          <a:stretch>
            <a:fillRect/>
          </a:stretch>
        </p:blipFill>
        <p:spPr>
          <a:xfrm>
            <a:off x="10330964" y="1117428"/>
            <a:ext cx="517853" cy="49399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CECC85C-5D34-AB85-827C-8804FACBC92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5D639-E375-463F-EC96-66106DDD50FB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/>
                </a:solidFill>
                <a:effectLst/>
                <a:uLnTx/>
                <a:uFillTx/>
                <a:latin typeface="Pretendard"/>
                <a:cs typeface="+mn-cs"/>
              </a:rPr>
              <a:t>Part 3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24D60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FDB8D-C6CA-81BB-D013-91312F04F7BD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srgbClr val="224D60"/>
                </a:solidFill>
                <a:effectLst/>
                <a:uLnTx/>
                <a:uFillTx/>
                <a:latin typeface="Pretendard"/>
                <a:cs typeface="+mn-cs"/>
              </a:rPr>
              <a:t>직무경험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543201-C313-99C3-01CB-819AA9E1026E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FAB009A-E0B8-8EFF-AE91-DB58BBBE35C8}"/>
              </a:ext>
            </a:extLst>
          </p:cNvPr>
          <p:cNvSpPr/>
          <p:nvPr/>
        </p:nvSpPr>
        <p:spPr>
          <a:xfrm>
            <a:off x="1519456" y="4346935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D2CB0F-0198-BBC7-FFA0-77C5A24C63C6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512A2F1-E8D1-996D-AB78-A954FA7612A4}"/>
              </a:ext>
            </a:extLst>
          </p:cNvPr>
          <p:cNvGrpSpPr/>
          <p:nvPr/>
        </p:nvGrpSpPr>
        <p:grpSpPr>
          <a:xfrm>
            <a:off x="832088" y="1761072"/>
            <a:ext cx="4996777" cy="4553847"/>
            <a:chOff x="832088" y="1597797"/>
            <a:chExt cx="4996777" cy="455384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0950E70-CA2D-1306-B2C4-DB8785CBC66F}"/>
                </a:ext>
              </a:extLst>
            </p:cNvPr>
            <p:cNvSpPr/>
            <p:nvPr/>
          </p:nvSpPr>
          <p:spPr>
            <a:xfrm>
              <a:off x="832088" y="1597797"/>
              <a:ext cx="4996777" cy="4553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674205C-63EC-EB07-5537-9239115AE4D2}"/>
                </a:ext>
              </a:extLst>
            </p:cNvPr>
            <p:cNvSpPr txBox="1"/>
            <p:nvPr/>
          </p:nvSpPr>
          <p:spPr>
            <a:xfrm>
              <a:off x="993236" y="1980648"/>
              <a:ext cx="4689107" cy="229203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2025.03 ~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현재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판교 근무중</a:t>
              </a:r>
              <a:endParaRPr lang="en-US" altLang="ko-KR" sz="1200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endParaRP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수행 업무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: 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시스템 </a:t>
              </a:r>
              <a:r>
                <a:rPr kumimoji="0" lang="ko-KR" altLang="en-US" sz="1200" b="0" i="0" u="none" strike="noStrike" kern="1200" cap="none" spc="-15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인테그레이션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(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차량 아키텍처 개발 및 모듈 기획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),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모듈 관리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(Management),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모듈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Reuse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스킬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: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프로젝트 관리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데이터분석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(Python),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전략기획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MBSE(Model Based System Engineering)</a:t>
              </a:r>
              <a:endParaRPr lang="en-US" altLang="ko-KR" sz="1200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endParaRP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프로젝트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2(‘2025.12 ~ ‘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현재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): 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관세대응 전사 전략 과제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: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모듈 공용 세부 특성 지수 개발 및 분석</a:t>
              </a:r>
              <a:endParaRPr kumimoji="0" lang="en-US" altLang="ko-KR" sz="12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endParaRPr>
            </a:p>
            <a:p>
              <a:pPr marL="171450" lvl="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프로젝트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1(‘2024.08 ~ ‘2025.10): </a:t>
              </a:r>
            </a:p>
            <a:p>
              <a:pPr marL="171450" lvl="0" indent="-171450" algn="just">
                <a:lnSpc>
                  <a:spcPct val="120000"/>
                </a:lnSpc>
                <a:buFontTx/>
                <a:buChar char="-"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경쟁사 </a:t>
              </a:r>
              <a:r>
                <a:rPr lang="ko-KR" altLang="en-US" sz="1200" spc="-150" dirty="0" err="1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모듈러시스템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Reuse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특성 벤치마킹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: BYD/TESLA/Volkswagen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모듈 샘플링 분석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(w/ A2mac1)</a:t>
              </a:r>
              <a:endParaRPr lang="en-US" altLang="ko-KR" sz="1200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13FA45B-8EB2-59AB-BDD5-7F973B27324A}"/>
                </a:ext>
              </a:extLst>
            </p:cNvPr>
            <p:cNvSpPr txBox="1"/>
            <p:nvPr/>
          </p:nvSpPr>
          <p:spPr>
            <a:xfrm>
              <a:off x="977206" y="1674263"/>
              <a:ext cx="25186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spc="-3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Black"/>
                  <a:ea typeface="+mj-ea"/>
                </a:rPr>
                <a:t>아키텍처시스템인테그레이션팀</a:t>
              </a:r>
              <a:endParaRPr kumimoji="0" lang="ko-KR" altLang="en-US" sz="16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Black"/>
                <a:ea typeface="+mj-ea"/>
                <a:cs typeface="+mn-cs"/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552114D0-C3C3-0BEE-9E91-390AEEB6DB25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1947081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B5BCBF-3598-8058-A2C7-2A898EBCEECF}"/>
                </a:ext>
              </a:extLst>
            </p:cNvPr>
            <p:cNvSpPr txBox="1"/>
            <p:nvPr/>
          </p:nvSpPr>
          <p:spPr>
            <a:xfrm>
              <a:off x="977206" y="4278047"/>
              <a:ext cx="201850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spc="-30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Black"/>
                  <a:ea typeface="+mj-ea"/>
                </a:rPr>
                <a:t>차량아키텍처모듈기획팀</a:t>
              </a:r>
              <a:endParaRPr kumimoji="0" lang="ko-KR" altLang="en-US" sz="16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Black"/>
                <a:ea typeface="+mj-ea"/>
                <a:cs typeface="+mn-cs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88CA57BA-BB07-A5F9-A8E7-5B9B7457991E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4571588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1B4AB1A-9638-722B-08DA-3F0021418614}"/>
                </a:ext>
              </a:extLst>
            </p:cNvPr>
            <p:cNvSpPr txBox="1"/>
            <p:nvPr/>
          </p:nvSpPr>
          <p:spPr>
            <a:xfrm>
              <a:off x="993236" y="4615956"/>
              <a:ext cx="4689107" cy="96244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2024.08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~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2025.02,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 남양 근무</a:t>
              </a:r>
              <a:endParaRPr lang="en-US" altLang="ko-KR" sz="1200" spc="-1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/>
              </a:endParaRPr>
            </a:p>
            <a:p>
              <a:pPr marL="171450" lvl="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수행 업무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: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모듈 </a:t>
              </a:r>
              <a:r>
                <a:rPr lang="ko-KR" altLang="en-US" sz="1200" spc="-150" dirty="0" err="1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컨피규레이션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(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차량 아키텍처 개발 및 모듈 기획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),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모듈 관리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(Management),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모듈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Reuse</a:t>
              </a:r>
            </a:p>
            <a:p>
              <a:pPr marL="171450" lvl="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스킬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: 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프로젝트 관리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데이터분석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</a:rPr>
                <a:t>(Python)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61DE884-EB6B-2263-ACF9-20AF828CE03F}"/>
              </a:ext>
            </a:extLst>
          </p:cNvPr>
          <p:cNvSpPr txBox="1"/>
          <p:nvPr/>
        </p:nvSpPr>
        <p:spPr>
          <a:xfrm>
            <a:off x="95250" y="6406106"/>
            <a:ext cx="41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4D60"/>
                </a:solidFill>
                <a:effectLst/>
                <a:uLnTx/>
                <a:uFillTx/>
                <a:latin typeface="Pretendard"/>
                <a:cs typeface="+mn-cs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224D60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0F21FC-E25B-9B37-9F30-7ECF4727F2CB}"/>
              </a:ext>
            </a:extLst>
          </p:cNvPr>
          <p:cNvSpPr txBox="1"/>
          <p:nvPr/>
        </p:nvSpPr>
        <p:spPr>
          <a:xfrm flipH="1">
            <a:off x="608667" y="794066"/>
            <a:ext cx="5126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0" dirty="0">
                <a:solidFill>
                  <a:srgbClr val="224D60">
                    <a:lumMod val="50000"/>
                  </a:srgbClr>
                </a:solidFill>
                <a:latin typeface="Pretendard Black"/>
                <a:ea typeface="+mj-ea"/>
              </a:rPr>
              <a:t>현대자동차</a:t>
            </a:r>
            <a:endParaRPr kumimoji="0" lang="en-US" altLang="ko-KR" sz="1600" b="1" i="0" u="none" strike="noStrike" kern="1200" cap="none" spc="-30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Pretendard Black"/>
              <a:ea typeface="+mj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srgbClr val="224D60">
                    <a:lumMod val="50000"/>
                  </a:srgbClr>
                </a:solidFill>
                <a:latin typeface="Pretendard"/>
              </a:rPr>
              <a:t>AVP</a:t>
            </a:r>
            <a:r>
              <a:rPr lang="ko-KR" altLang="en-US" sz="1600" dirty="0">
                <a:solidFill>
                  <a:srgbClr val="224D60">
                    <a:lumMod val="50000"/>
                  </a:srgbClr>
                </a:solidFill>
                <a:latin typeface="Pretendard"/>
              </a:rPr>
              <a:t>본부 </a:t>
            </a:r>
            <a:r>
              <a:rPr lang="ko-KR" altLang="en-US" sz="1600" dirty="0" err="1">
                <a:solidFill>
                  <a:srgbClr val="224D60">
                    <a:lumMod val="50000"/>
                  </a:srgbClr>
                </a:solidFill>
                <a:latin typeface="Pretendard"/>
              </a:rPr>
              <a:t>아키텍처시스템인테그레이션팀</a:t>
            </a:r>
            <a:r>
              <a:rPr lang="ko-KR" altLang="en-US" sz="1600" dirty="0">
                <a:solidFill>
                  <a:srgbClr val="224D60">
                    <a:lumMod val="50000"/>
                  </a:srgbClr>
                </a:solidFill>
                <a:latin typeface="Pretendard"/>
              </a:rPr>
              <a:t> 연구원 재직중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28082FC-11ED-725C-414C-4F9E275DE59B}"/>
              </a:ext>
            </a:extLst>
          </p:cNvPr>
          <p:cNvSpPr/>
          <p:nvPr/>
        </p:nvSpPr>
        <p:spPr>
          <a:xfrm>
            <a:off x="6369758" y="3645809"/>
            <a:ext cx="4996777" cy="26752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C50971-27DE-43DF-C2D5-3B5E2A943604}"/>
              </a:ext>
            </a:extLst>
          </p:cNvPr>
          <p:cNvSpPr txBox="1"/>
          <p:nvPr/>
        </p:nvSpPr>
        <p:spPr>
          <a:xfrm>
            <a:off x="6499922" y="3668358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업무 설명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A9310CB-28D1-4885-31BC-372F199A108B}"/>
              </a:ext>
            </a:extLst>
          </p:cNvPr>
          <p:cNvCxnSpPr>
            <a:cxnSpLocks/>
          </p:cNvCxnSpPr>
          <p:nvPr/>
        </p:nvCxnSpPr>
        <p:spPr>
          <a:xfrm>
            <a:off x="6524285" y="4019764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9577FEF-12DB-F934-8C70-6D432E4C47DA}"/>
              </a:ext>
            </a:extLst>
          </p:cNvPr>
          <p:cNvSpPr txBox="1"/>
          <p:nvPr/>
        </p:nvSpPr>
        <p:spPr>
          <a:xfrm>
            <a:off x="6524285" y="4064132"/>
            <a:ext cx="4689107" cy="22920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시스템 </a:t>
            </a:r>
            <a:r>
              <a:rPr lang="ko-KR" altLang="en-US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인테그레이션은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각 모듈의 성능과 원가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중량 간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Trade-off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종합적으로 고려하여 차량 전체 관점에서 최적의 구조로 통합하는 업무입니다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모듈 </a:t>
            </a:r>
            <a:r>
              <a:rPr lang="ko-KR" altLang="en-US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컨피규레이션은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고객의 주요 요구사항을 차량의 부품사양과 연계하여 최적의 매칭을 찾아내는 업무입니다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모듈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Reuse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는 개발한 사양을 단발성으로 운영하는 것이 아니라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플랫폼 단위에서 최대한 </a:t>
            </a:r>
            <a:r>
              <a:rPr lang="ko-KR" altLang="en-US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공용화하여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비용을 절감하는 업무입니다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모듈 관리는 개발된 모듈에 추가 요구사항을 반영하여 </a:t>
            </a:r>
            <a:r>
              <a:rPr lang="ko-KR" altLang="en-US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변화관리하는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업무입니다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그 중 불용사양축소는 개발 완료된 차량 내 존재하는 수많은 사양들 중 설계적으로 불가능한 사양 조합을 데이터분석을 통해 제거하여 사양 최적화를 수행하는 업무입니다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08E6580-C3ED-45D1-8C83-26713CDEB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084" y="672549"/>
            <a:ext cx="342795" cy="342795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A5B040A-5DE8-DD04-BC31-2A7DC3441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290" y="672549"/>
            <a:ext cx="342795" cy="34279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C4843732-D913-FDDC-8A90-EDE9A0C44C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084" y="1119756"/>
            <a:ext cx="342795" cy="34279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C93B0F5D-B897-16E8-02CF-19968DE8E9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8024" y="1119756"/>
            <a:ext cx="342795" cy="342795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D076C230-65FA-B294-E56F-C5B55FC978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084" y="1566963"/>
            <a:ext cx="342795" cy="34279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19246C3B-6134-F467-06AE-46A7B77EED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8024" y="1566963"/>
            <a:ext cx="342795" cy="34279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1741D17-2D6D-E7A5-5887-993C62FC2025}"/>
              </a:ext>
            </a:extLst>
          </p:cNvPr>
          <p:cNvSpPr txBox="1"/>
          <p:nvPr/>
        </p:nvSpPr>
        <p:spPr>
          <a:xfrm>
            <a:off x="6582486" y="725804"/>
            <a:ext cx="8002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54F396-B1EE-CF18-E2B8-13168BC2F9F3}"/>
              </a:ext>
            </a:extLst>
          </p:cNvPr>
          <p:cNvSpPr txBox="1"/>
          <p:nvPr/>
        </p:nvSpPr>
        <p:spPr>
          <a:xfrm>
            <a:off x="8436006" y="720970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38852C-7D7D-0EA0-2674-154BF3586BA1}"/>
              </a:ext>
            </a:extLst>
          </p:cNvPr>
          <p:cNvSpPr txBox="1"/>
          <p:nvPr/>
        </p:nvSpPr>
        <p:spPr>
          <a:xfrm>
            <a:off x="6582486" y="1165626"/>
            <a:ext cx="7970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0637FAD-9E5D-6A8A-6A03-322955B2B8C3}"/>
              </a:ext>
            </a:extLst>
          </p:cNvPr>
          <p:cNvSpPr txBox="1"/>
          <p:nvPr/>
        </p:nvSpPr>
        <p:spPr>
          <a:xfrm>
            <a:off x="8436006" y="1160792"/>
            <a:ext cx="5405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9774D6-74FF-99AE-C78D-7EC1068C6B8D}"/>
              </a:ext>
            </a:extLst>
          </p:cNvPr>
          <p:cNvSpPr txBox="1"/>
          <p:nvPr/>
        </p:nvSpPr>
        <p:spPr>
          <a:xfrm>
            <a:off x="6582486" y="1648207"/>
            <a:ext cx="7954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요구사항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DC24F8-EBA0-52AF-EFC2-4BCAC7B437DB}"/>
              </a:ext>
            </a:extLst>
          </p:cNvPr>
          <p:cNvSpPr txBox="1"/>
          <p:nvPr/>
        </p:nvSpPr>
        <p:spPr>
          <a:xfrm>
            <a:off x="8436006" y="1643373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9FA77B1-D268-B766-9BD0-F4B60E686DBE}"/>
              </a:ext>
            </a:extLst>
          </p:cNvPr>
          <p:cNvCxnSpPr>
            <a:stCxn id="48" idx="3"/>
            <a:endCxn id="37" idx="1"/>
          </p:cNvCxnSpPr>
          <p:nvPr/>
        </p:nvCxnSpPr>
        <p:spPr>
          <a:xfrm flipV="1">
            <a:off x="7382705" y="843947"/>
            <a:ext cx="629585" cy="4968"/>
          </a:xfrm>
          <a:prstGeom prst="line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ED2540B-92CE-5C64-3C97-CEBAC8134784}"/>
              </a:ext>
            </a:extLst>
          </p:cNvPr>
          <p:cNvCxnSpPr>
            <a:stCxn id="52" idx="3"/>
            <a:endCxn id="38" idx="1"/>
          </p:cNvCxnSpPr>
          <p:nvPr/>
        </p:nvCxnSpPr>
        <p:spPr>
          <a:xfrm flipV="1">
            <a:off x="7377897" y="1291154"/>
            <a:ext cx="630127" cy="480164"/>
          </a:xfrm>
          <a:prstGeom prst="line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99476DA7-496B-9B85-28C8-B492AC48BB76}"/>
              </a:ext>
            </a:extLst>
          </p:cNvPr>
          <p:cNvCxnSpPr>
            <a:stCxn id="50" idx="3"/>
            <a:endCxn id="39" idx="1"/>
          </p:cNvCxnSpPr>
          <p:nvPr/>
        </p:nvCxnSpPr>
        <p:spPr>
          <a:xfrm>
            <a:off x="7379499" y="1288737"/>
            <a:ext cx="628525" cy="449624"/>
          </a:xfrm>
          <a:prstGeom prst="line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Object 24">
            <a:extLst>
              <a:ext uri="{FF2B5EF4-FFF2-40B4-BE49-F238E27FC236}">
                <a16:creationId xmlns:a16="http://schemas.microsoft.com/office/drawing/2014/main" id="{40923C12-50D0-0E0B-F4B6-50A6607D6A4F}"/>
              </a:ext>
            </a:extLst>
          </p:cNvPr>
          <p:cNvSpPr txBox="1"/>
          <p:nvPr/>
        </p:nvSpPr>
        <p:spPr>
          <a:xfrm>
            <a:off x="6091204" y="339544"/>
            <a:ext cx="1831807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▼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모듈 </a:t>
            </a:r>
            <a:r>
              <a:rPr lang="ko-KR" alt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컨피규레이션</a:t>
            </a:r>
            <a:endParaRPr lang="en-US" sz="1200" dirty="0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CABA02DA-C5F1-6D89-EBF9-B39290753C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3431" y="2749606"/>
            <a:ext cx="342795" cy="34279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443FB5D-E1AE-3064-FB81-156A1F6C8A33}"/>
              </a:ext>
            </a:extLst>
          </p:cNvPr>
          <p:cNvSpPr txBox="1"/>
          <p:nvPr/>
        </p:nvSpPr>
        <p:spPr>
          <a:xfrm>
            <a:off x="6621413" y="2790642"/>
            <a:ext cx="5405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AA04B18D-EA11-E319-99A9-83E9BA817E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0146" y="3189696"/>
            <a:ext cx="407436" cy="407436"/>
          </a:xfrm>
          <a:prstGeom prst="rect">
            <a:avLst/>
          </a:prstGeom>
        </p:spPr>
      </p:pic>
      <p:pic>
        <p:nvPicPr>
          <p:cNvPr id="1026" name="Picture 2" descr="차 ">
            <a:extLst>
              <a:ext uri="{FF2B5EF4-FFF2-40B4-BE49-F238E27FC236}">
                <a16:creationId xmlns:a16="http://schemas.microsoft.com/office/drawing/2014/main" id="{7B12804C-22A3-461E-56EA-9F6D8725E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0146" y="2299637"/>
            <a:ext cx="407436" cy="40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차 ">
            <a:extLst>
              <a:ext uri="{FF2B5EF4-FFF2-40B4-BE49-F238E27FC236}">
                <a16:creationId xmlns:a16="http://schemas.microsoft.com/office/drawing/2014/main" id="{C4D652DF-F7C3-EDAC-5BB4-6063416B1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402" y="2744666"/>
            <a:ext cx="407436" cy="40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778B3FDA-3F9F-574A-7FDB-99C3D01070E0}"/>
              </a:ext>
            </a:extLst>
          </p:cNvPr>
          <p:cNvSpPr txBox="1"/>
          <p:nvPr/>
        </p:nvSpPr>
        <p:spPr>
          <a:xfrm>
            <a:off x="8458128" y="2382232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차량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FBBFCD54-C257-B969-EBD3-FA0E199E4641}"/>
              </a:ext>
            </a:extLst>
          </p:cNvPr>
          <p:cNvSpPr txBox="1"/>
          <p:nvPr/>
        </p:nvSpPr>
        <p:spPr>
          <a:xfrm>
            <a:off x="8458128" y="2822054"/>
            <a:ext cx="5405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차량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09212E77-F083-E761-21BA-1812326D7B2E}"/>
              </a:ext>
            </a:extLst>
          </p:cNvPr>
          <p:cNvSpPr txBox="1"/>
          <p:nvPr/>
        </p:nvSpPr>
        <p:spPr>
          <a:xfrm>
            <a:off x="8458128" y="3304635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차량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cxnSp>
        <p:nvCxnSpPr>
          <p:cNvPr id="1030" name="직선 화살표 연결선 1029">
            <a:extLst>
              <a:ext uri="{FF2B5EF4-FFF2-40B4-BE49-F238E27FC236}">
                <a16:creationId xmlns:a16="http://schemas.microsoft.com/office/drawing/2014/main" id="{999AC484-35B0-648B-8B53-F3FA56084670}"/>
              </a:ext>
            </a:extLst>
          </p:cNvPr>
          <p:cNvCxnSpPr>
            <a:stCxn id="62" idx="3"/>
          </p:cNvCxnSpPr>
          <p:nvPr/>
        </p:nvCxnSpPr>
        <p:spPr>
          <a:xfrm flipV="1">
            <a:off x="7161946" y="2503355"/>
            <a:ext cx="868200" cy="410398"/>
          </a:xfrm>
          <a:prstGeom prst="straightConnector1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2" name="직선 연결선 1031">
            <a:extLst>
              <a:ext uri="{FF2B5EF4-FFF2-40B4-BE49-F238E27FC236}">
                <a16:creationId xmlns:a16="http://schemas.microsoft.com/office/drawing/2014/main" id="{A62154C0-2DFE-45D6-146B-5C258AEA5B36}"/>
              </a:ext>
            </a:extLst>
          </p:cNvPr>
          <p:cNvCxnSpPr>
            <a:stCxn id="62" idx="3"/>
            <a:endCxn id="1028" idx="1"/>
          </p:cNvCxnSpPr>
          <p:nvPr/>
        </p:nvCxnSpPr>
        <p:spPr>
          <a:xfrm>
            <a:off x="7161946" y="2913753"/>
            <a:ext cx="870456" cy="34631"/>
          </a:xfrm>
          <a:prstGeom prst="line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4" name="직선 연결선 1033">
            <a:extLst>
              <a:ext uri="{FF2B5EF4-FFF2-40B4-BE49-F238E27FC236}">
                <a16:creationId xmlns:a16="http://schemas.microsoft.com/office/drawing/2014/main" id="{D48F45E6-F597-7E87-D563-21ED4D107254}"/>
              </a:ext>
            </a:extLst>
          </p:cNvPr>
          <p:cNvCxnSpPr>
            <a:stCxn id="62" idx="3"/>
            <a:endCxn id="63" idx="1"/>
          </p:cNvCxnSpPr>
          <p:nvPr/>
        </p:nvCxnSpPr>
        <p:spPr>
          <a:xfrm>
            <a:off x="7161946" y="2913753"/>
            <a:ext cx="868200" cy="479661"/>
          </a:xfrm>
          <a:prstGeom prst="line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35" name="Object 24">
            <a:extLst>
              <a:ext uri="{FF2B5EF4-FFF2-40B4-BE49-F238E27FC236}">
                <a16:creationId xmlns:a16="http://schemas.microsoft.com/office/drawing/2014/main" id="{9A523AC4-C615-25BC-75C7-2519D5C184FC}"/>
              </a:ext>
            </a:extLst>
          </p:cNvPr>
          <p:cNvSpPr txBox="1"/>
          <p:nvPr/>
        </p:nvSpPr>
        <p:spPr>
          <a:xfrm>
            <a:off x="6091204" y="2166829"/>
            <a:ext cx="1218797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▼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모듈 </a:t>
            </a:r>
            <a:r>
              <a:rPr lang="en-US" altLang="ko-KR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Reuse</a:t>
            </a:r>
            <a:endParaRPr lang="en-US" sz="1200" dirty="0"/>
          </a:p>
        </p:txBody>
      </p:sp>
      <p:sp>
        <p:nvSpPr>
          <p:cNvPr id="1036" name="직사각형 1035">
            <a:extLst>
              <a:ext uri="{FF2B5EF4-FFF2-40B4-BE49-F238E27FC236}">
                <a16:creationId xmlns:a16="http://schemas.microsoft.com/office/drawing/2014/main" id="{A82B6B71-ABEB-D60E-B6D8-E8F3E68E7690}"/>
              </a:ext>
            </a:extLst>
          </p:cNvPr>
          <p:cNvSpPr/>
          <p:nvPr/>
        </p:nvSpPr>
        <p:spPr>
          <a:xfrm>
            <a:off x="8000651" y="1065449"/>
            <a:ext cx="966259" cy="410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7" name="직사각형 1036">
            <a:extLst>
              <a:ext uri="{FF2B5EF4-FFF2-40B4-BE49-F238E27FC236}">
                <a16:creationId xmlns:a16="http://schemas.microsoft.com/office/drawing/2014/main" id="{CD006EFC-F2EA-F622-1532-E537A51060B9}"/>
              </a:ext>
            </a:extLst>
          </p:cNvPr>
          <p:cNvSpPr/>
          <p:nvPr/>
        </p:nvSpPr>
        <p:spPr>
          <a:xfrm>
            <a:off x="6146013" y="2694680"/>
            <a:ext cx="988713" cy="4104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40" name="그림 1039">
            <a:extLst>
              <a:ext uri="{FF2B5EF4-FFF2-40B4-BE49-F238E27FC236}">
                <a16:creationId xmlns:a16="http://schemas.microsoft.com/office/drawing/2014/main" id="{5C8B5A9D-2DD0-87BF-9ABA-B1FD447819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9336" y="2563040"/>
            <a:ext cx="342794" cy="342794"/>
          </a:xfrm>
          <a:prstGeom prst="rect">
            <a:avLst/>
          </a:prstGeom>
        </p:spPr>
      </p:pic>
      <p:pic>
        <p:nvPicPr>
          <p:cNvPr id="1043" name="그림 1042">
            <a:extLst>
              <a:ext uri="{FF2B5EF4-FFF2-40B4-BE49-F238E27FC236}">
                <a16:creationId xmlns:a16="http://schemas.microsoft.com/office/drawing/2014/main" id="{89073002-873F-6C4F-4854-6E7A7CB192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9336" y="2937726"/>
            <a:ext cx="342794" cy="342794"/>
          </a:xfrm>
          <a:prstGeom prst="rect">
            <a:avLst/>
          </a:prstGeom>
        </p:spPr>
      </p:pic>
      <p:pic>
        <p:nvPicPr>
          <p:cNvPr id="1045" name="그림 1044">
            <a:extLst>
              <a:ext uri="{FF2B5EF4-FFF2-40B4-BE49-F238E27FC236}">
                <a16:creationId xmlns:a16="http://schemas.microsoft.com/office/drawing/2014/main" id="{A231DEFA-E06A-C701-3F3E-E9E45E2F40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49336" y="2201250"/>
            <a:ext cx="342794" cy="342794"/>
          </a:xfrm>
          <a:prstGeom prst="rect">
            <a:avLst/>
          </a:prstGeom>
        </p:spPr>
      </p:pic>
      <p:sp>
        <p:nvSpPr>
          <p:cNvPr id="1048" name="곱하기 기호 1047">
            <a:extLst>
              <a:ext uri="{FF2B5EF4-FFF2-40B4-BE49-F238E27FC236}">
                <a16:creationId xmlns:a16="http://schemas.microsoft.com/office/drawing/2014/main" id="{31F5B3C3-C09A-16D2-7947-8AC50ED91984}"/>
              </a:ext>
            </a:extLst>
          </p:cNvPr>
          <p:cNvSpPr/>
          <p:nvPr/>
        </p:nvSpPr>
        <p:spPr>
          <a:xfrm>
            <a:off x="9475939" y="2238288"/>
            <a:ext cx="290350" cy="29035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0" name="곱하기 기호 1049">
            <a:extLst>
              <a:ext uri="{FF2B5EF4-FFF2-40B4-BE49-F238E27FC236}">
                <a16:creationId xmlns:a16="http://schemas.microsoft.com/office/drawing/2014/main" id="{5A01EA51-6874-3EE2-E6E3-85DC45665CA7}"/>
              </a:ext>
            </a:extLst>
          </p:cNvPr>
          <p:cNvSpPr/>
          <p:nvPr/>
        </p:nvSpPr>
        <p:spPr>
          <a:xfrm>
            <a:off x="9474133" y="2996355"/>
            <a:ext cx="290350" cy="29035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40E94ACE-8839-1D15-2D3D-21EA783F2D0F}"/>
              </a:ext>
            </a:extLst>
          </p:cNvPr>
          <p:cNvSpPr txBox="1"/>
          <p:nvPr/>
        </p:nvSpPr>
        <p:spPr>
          <a:xfrm>
            <a:off x="9867596" y="2262763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trike="sngStrike" dirty="0"/>
              <a:t>사양 </a:t>
            </a:r>
            <a:r>
              <a:rPr lang="en-US" altLang="ko-KR" sz="1000" strike="sngStrike" dirty="0"/>
              <a:t>A</a:t>
            </a:r>
            <a:endParaRPr lang="ko-KR" altLang="en-US" sz="1000" strike="sngStrike" dirty="0"/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50DCBDF-6B8B-B57E-28A3-5908EFF87135}"/>
              </a:ext>
            </a:extLst>
          </p:cNvPr>
          <p:cNvSpPr txBox="1"/>
          <p:nvPr/>
        </p:nvSpPr>
        <p:spPr>
          <a:xfrm>
            <a:off x="9867596" y="2618001"/>
            <a:ext cx="5405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B07BD67A-B43E-8884-E4A7-42020F2019D0}"/>
              </a:ext>
            </a:extLst>
          </p:cNvPr>
          <p:cNvSpPr txBox="1"/>
          <p:nvPr/>
        </p:nvSpPr>
        <p:spPr>
          <a:xfrm>
            <a:off x="9867596" y="3021351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trike="sngStrike" dirty="0"/>
              <a:t>사양 </a:t>
            </a:r>
            <a:r>
              <a:rPr lang="en-US" altLang="ko-KR" sz="1000" strike="sngStrike" dirty="0"/>
              <a:t>C</a:t>
            </a:r>
            <a:endParaRPr lang="ko-KR" altLang="en-US" sz="1000" strike="sngStrike" dirty="0"/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CD56C3E4-1C05-FFF9-7DA1-2557ED13D9A3}"/>
              </a:ext>
            </a:extLst>
          </p:cNvPr>
          <p:cNvSpPr txBox="1"/>
          <p:nvPr/>
        </p:nvSpPr>
        <p:spPr>
          <a:xfrm>
            <a:off x="10942738" y="2575615"/>
            <a:ext cx="510870" cy="24622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“</a:t>
            </a:r>
            <a:r>
              <a:rPr lang="ko-KR" altLang="en-US" sz="1000" dirty="0">
                <a:solidFill>
                  <a:srgbClr val="FF0000"/>
                </a:solidFill>
              </a:rPr>
              <a:t>삭제</a:t>
            </a:r>
            <a:r>
              <a:rPr lang="en-US" altLang="ko-KR" sz="1000" dirty="0">
                <a:solidFill>
                  <a:srgbClr val="FF0000"/>
                </a:solidFill>
              </a:rPr>
              <a:t>”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060" name="직선 화살표 연결선 1059">
            <a:extLst>
              <a:ext uri="{FF2B5EF4-FFF2-40B4-BE49-F238E27FC236}">
                <a16:creationId xmlns:a16="http://schemas.microsoft.com/office/drawing/2014/main" id="{33B1884F-D152-AE80-F52C-BC2F5B5C9B97}"/>
              </a:ext>
            </a:extLst>
          </p:cNvPr>
          <p:cNvCxnSpPr>
            <a:cxnSpLocks/>
            <a:stCxn id="1051" idx="3"/>
          </p:cNvCxnSpPr>
          <p:nvPr/>
        </p:nvCxnSpPr>
        <p:spPr>
          <a:xfrm>
            <a:off x="10411335" y="2385874"/>
            <a:ext cx="461307" cy="278845"/>
          </a:xfrm>
          <a:prstGeom prst="straightConnector1">
            <a:avLst/>
          </a:prstGeom>
          <a:ln w="19050" cap="flat" cmpd="sng" algn="ctr">
            <a:solidFill>
              <a:srgbClr val="224D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62" name="직선 화살표 연결선 1061">
            <a:extLst>
              <a:ext uri="{FF2B5EF4-FFF2-40B4-BE49-F238E27FC236}">
                <a16:creationId xmlns:a16="http://schemas.microsoft.com/office/drawing/2014/main" id="{CA14983F-84B1-1924-3D83-8B66C3D0E0AE}"/>
              </a:ext>
            </a:extLst>
          </p:cNvPr>
          <p:cNvCxnSpPr>
            <a:cxnSpLocks/>
          </p:cNvCxnSpPr>
          <p:nvPr/>
        </p:nvCxnSpPr>
        <p:spPr>
          <a:xfrm flipV="1">
            <a:off x="10426155" y="2741111"/>
            <a:ext cx="446487" cy="396641"/>
          </a:xfrm>
          <a:prstGeom prst="straightConnector1">
            <a:avLst/>
          </a:prstGeom>
          <a:ln w="19050" cap="flat" cmpd="sng" algn="ctr">
            <a:solidFill>
              <a:srgbClr val="224D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73" name="Object 24">
            <a:extLst>
              <a:ext uri="{FF2B5EF4-FFF2-40B4-BE49-F238E27FC236}">
                <a16:creationId xmlns:a16="http://schemas.microsoft.com/office/drawing/2014/main" id="{51EF904C-E678-0ACB-3355-04989658C60A}"/>
              </a:ext>
            </a:extLst>
          </p:cNvPr>
          <p:cNvSpPr txBox="1"/>
          <p:nvPr/>
        </p:nvSpPr>
        <p:spPr>
          <a:xfrm>
            <a:off x="10738838" y="2166829"/>
            <a:ext cx="1545033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▼</a:t>
            </a:r>
            <a:r>
              <a:rPr lang="en-US" altLang="ko-KR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불용사양 축소</a:t>
            </a:r>
            <a:endParaRPr lang="en-US" sz="1200" dirty="0"/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B1796695-1F26-182D-2267-A3BDF931AD4C}"/>
              </a:ext>
            </a:extLst>
          </p:cNvPr>
          <p:cNvSpPr txBox="1"/>
          <p:nvPr/>
        </p:nvSpPr>
        <p:spPr>
          <a:xfrm>
            <a:off x="6697566" y="3186408"/>
            <a:ext cx="1111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>
                <a:solidFill>
                  <a:srgbClr val="224D60"/>
                </a:solidFill>
              </a:rPr>
              <a:t>데이터분석 활용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25A7F236-5A44-C578-CE6A-D5400F555B6A}"/>
              </a:ext>
            </a:extLst>
          </p:cNvPr>
          <p:cNvSpPr txBox="1"/>
          <p:nvPr/>
        </p:nvSpPr>
        <p:spPr>
          <a:xfrm>
            <a:off x="10564708" y="2959178"/>
            <a:ext cx="1111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224D60"/>
                </a:solidFill>
              </a:rPr>
              <a:t>데이터분석 활용</a:t>
            </a:r>
          </a:p>
        </p:txBody>
      </p:sp>
      <p:cxnSp>
        <p:nvCxnSpPr>
          <p:cNvPr id="1077" name="직선 연결선 1076">
            <a:extLst>
              <a:ext uri="{FF2B5EF4-FFF2-40B4-BE49-F238E27FC236}">
                <a16:creationId xmlns:a16="http://schemas.microsoft.com/office/drawing/2014/main" id="{41B8049A-755B-0750-0951-13AA1F5B99FA}"/>
              </a:ext>
            </a:extLst>
          </p:cNvPr>
          <p:cNvCxnSpPr>
            <a:cxnSpLocks/>
          </p:cNvCxnSpPr>
          <p:nvPr/>
        </p:nvCxnSpPr>
        <p:spPr>
          <a:xfrm>
            <a:off x="6216084" y="2153074"/>
            <a:ext cx="5904722" cy="909"/>
          </a:xfrm>
          <a:prstGeom prst="line">
            <a:avLst/>
          </a:prstGeom>
          <a:ln w="127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직선 연결선 1078">
            <a:extLst>
              <a:ext uri="{FF2B5EF4-FFF2-40B4-BE49-F238E27FC236}">
                <a16:creationId xmlns:a16="http://schemas.microsoft.com/office/drawing/2014/main" id="{66A4B5D1-6A72-96EF-2DC3-F4156694EF97}"/>
              </a:ext>
            </a:extLst>
          </p:cNvPr>
          <p:cNvCxnSpPr/>
          <p:nvPr/>
        </p:nvCxnSpPr>
        <p:spPr>
          <a:xfrm>
            <a:off x="9136104" y="560462"/>
            <a:ext cx="0" cy="2980751"/>
          </a:xfrm>
          <a:prstGeom prst="line">
            <a:avLst/>
          </a:prstGeom>
          <a:ln w="12700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2" name="TextBox 1081">
            <a:extLst>
              <a:ext uri="{FF2B5EF4-FFF2-40B4-BE49-F238E27FC236}">
                <a16:creationId xmlns:a16="http://schemas.microsoft.com/office/drawing/2014/main" id="{7397F57A-F34F-7C43-121A-8906851704BE}"/>
              </a:ext>
            </a:extLst>
          </p:cNvPr>
          <p:cNvSpPr txBox="1"/>
          <p:nvPr/>
        </p:nvSpPr>
        <p:spPr>
          <a:xfrm>
            <a:off x="9321792" y="3308956"/>
            <a:ext cx="111120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사양조합 불가능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B2743A8-2B5F-B78A-A32C-8A4077A5D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9249" y="543450"/>
            <a:ext cx="342795" cy="34279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9351B9F-EDFE-C7AB-2578-CD56BD3C73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1437" y="551527"/>
            <a:ext cx="342795" cy="34279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3B85FBD-179C-2952-D33F-241B812970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3625" y="530943"/>
            <a:ext cx="342795" cy="34279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F863560-E4B4-C310-C69B-3531DA8504FC}"/>
              </a:ext>
            </a:extLst>
          </p:cNvPr>
          <p:cNvSpPr txBox="1"/>
          <p:nvPr/>
        </p:nvSpPr>
        <p:spPr>
          <a:xfrm>
            <a:off x="9838777" y="914111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BB2182-12A9-A72E-8E0F-FF067B4AF161}"/>
              </a:ext>
            </a:extLst>
          </p:cNvPr>
          <p:cNvSpPr txBox="1"/>
          <p:nvPr/>
        </p:nvSpPr>
        <p:spPr>
          <a:xfrm>
            <a:off x="10330965" y="914111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A’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79F7FB-0878-4171-14A8-3371FD80E540}"/>
              </a:ext>
            </a:extLst>
          </p:cNvPr>
          <p:cNvSpPr txBox="1"/>
          <p:nvPr/>
        </p:nvSpPr>
        <p:spPr>
          <a:xfrm>
            <a:off x="10823153" y="914111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A’’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0C2201-2B9A-9FE5-DBC2-3B36F4EEA49D}"/>
              </a:ext>
            </a:extLst>
          </p:cNvPr>
          <p:cNvSpPr txBox="1"/>
          <p:nvPr/>
        </p:nvSpPr>
        <p:spPr>
          <a:xfrm>
            <a:off x="9311751" y="61869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모듈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14CFCA3-7E05-B495-4B60-76501B9BF86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39250" y="1180872"/>
            <a:ext cx="342794" cy="3427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B823645-1C43-6C94-691E-16C741387B4E}"/>
              </a:ext>
            </a:extLst>
          </p:cNvPr>
          <p:cNvSpPr txBox="1"/>
          <p:nvPr/>
        </p:nvSpPr>
        <p:spPr>
          <a:xfrm>
            <a:off x="9831152" y="1514157"/>
            <a:ext cx="5405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D3F008-46E1-1EB0-4EE9-A36C16C03738}"/>
              </a:ext>
            </a:extLst>
          </p:cNvPr>
          <p:cNvSpPr txBox="1"/>
          <p:nvPr/>
        </p:nvSpPr>
        <p:spPr>
          <a:xfrm>
            <a:off x="10323340" y="1514157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B’</a:t>
            </a:r>
            <a:endParaRPr lang="ko-KR" altLang="en-US" sz="1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0FDEFF-BEA9-D96C-18A7-5ACAF7E8B701}"/>
              </a:ext>
            </a:extLst>
          </p:cNvPr>
          <p:cNvSpPr txBox="1"/>
          <p:nvPr/>
        </p:nvSpPr>
        <p:spPr>
          <a:xfrm>
            <a:off x="10815528" y="1514157"/>
            <a:ext cx="6046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사양 </a:t>
            </a:r>
            <a:r>
              <a:rPr lang="en-US" altLang="ko-KR" sz="1000" dirty="0"/>
              <a:t>B’’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3F81C3-C993-9D23-79AE-BAC4DE96E3A4}"/>
              </a:ext>
            </a:extLst>
          </p:cNvPr>
          <p:cNvSpPr txBox="1"/>
          <p:nvPr/>
        </p:nvSpPr>
        <p:spPr>
          <a:xfrm>
            <a:off x="9311751" y="1238874"/>
            <a:ext cx="5405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모듈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7D83672-FD3D-1303-7141-AE7DBC080371}"/>
              </a:ext>
            </a:extLst>
          </p:cNvPr>
          <p:cNvSpPr/>
          <p:nvPr/>
        </p:nvSpPr>
        <p:spPr>
          <a:xfrm>
            <a:off x="9881180" y="531246"/>
            <a:ext cx="478996" cy="5876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135C733-C34F-71DB-45BC-3B2A000EB923}"/>
              </a:ext>
            </a:extLst>
          </p:cNvPr>
          <p:cNvSpPr/>
          <p:nvPr/>
        </p:nvSpPr>
        <p:spPr>
          <a:xfrm>
            <a:off x="10363443" y="1157214"/>
            <a:ext cx="467429" cy="5876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Picture 4" descr="차 ">
            <a:extLst>
              <a:ext uri="{FF2B5EF4-FFF2-40B4-BE49-F238E27FC236}">
                <a16:creationId xmlns:a16="http://schemas.microsoft.com/office/drawing/2014/main" id="{1D90CFF9-80D0-325A-2EAE-88B84F351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3603" y="1808106"/>
            <a:ext cx="407436" cy="40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9665CC3B-7D61-88B5-8A20-09545F2E5AB3}"/>
              </a:ext>
            </a:extLst>
          </p:cNvPr>
          <p:cNvSpPr txBox="1"/>
          <p:nvPr/>
        </p:nvSpPr>
        <p:spPr>
          <a:xfrm>
            <a:off x="10448374" y="1632498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…</a:t>
            </a:r>
            <a:endParaRPr lang="ko-KR" altLang="en-US" sz="1200" dirty="0"/>
          </a:p>
        </p:txBody>
      </p:sp>
      <p:sp>
        <p:nvSpPr>
          <p:cNvPr id="47" name="오른쪽 중괄호 46">
            <a:extLst>
              <a:ext uri="{FF2B5EF4-FFF2-40B4-BE49-F238E27FC236}">
                <a16:creationId xmlns:a16="http://schemas.microsoft.com/office/drawing/2014/main" id="{30ABFDB5-99E0-72E1-74B2-BDBE66F7CCC9}"/>
              </a:ext>
            </a:extLst>
          </p:cNvPr>
          <p:cNvSpPr/>
          <p:nvPr/>
        </p:nvSpPr>
        <p:spPr>
          <a:xfrm>
            <a:off x="11384095" y="560461"/>
            <a:ext cx="110266" cy="1289807"/>
          </a:xfrm>
          <a:prstGeom prst="rightBrac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8508A5-BADD-D160-B828-C88DF494B3D1}"/>
              </a:ext>
            </a:extLst>
          </p:cNvPr>
          <p:cNvSpPr txBox="1"/>
          <p:nvPr/>
        </p:nvSpPr>
        <p:spPr>
          <a:xfrm>
            <a:off x="11453608" y="974032"/>
            <a:ext cx="73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FF0000"/>
                </a:solidFill>
              </a:rPr>
              <a:t>인테그레이션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DEEFACA2-7966-AD67-6F9F-68FA63EB7639}"/>
              </a:ext>
            </a:extLst>
          </p:cNvPr>
          <p:cNvCxnSpPr>
            <a:cxnSpLocks/>
            <a:stCxn id="54" idx="2"/>
          </p:cNvCxnSpPr>
          <p:nvPr/>
        </p:nvCxnSpPr>
        <p:spPr>
          <a:xfrm rot="5400000">
            <a:off x="11085359" y="1231521"/>
            <a:ext cx="594825" cy="880066"/>
          </a:xfrm>
          <a:prstGeom prst="bentConnector2">
            <a:avLst/>
          </a:prstGeom>
          <a:ln w="19050">
            <a:solidFill>
              <a:srgbClr val="163644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TextBox 1028">
            <a:extLst>
              <a:ext uri="{FF2B5EF4-FFF2-40B4-BE49-F238E27FC236}">
                <a16:creationId xmlns:a16="http://schemas.microsoft.com/office/drawing/2014/main" id="{9C05A89A-05C2-ED31-2287-9188DAAD03EB}"/>
              </a:ext>
            </a:extLst>
          </p:cNvPr>
          <p:cNvSpPr txBox="1"/>
          <p:nvPr/>
        </p:nvSpPr>
        <p:spPr>
          <a:xfrm>
            <a:off x="9439826" y="1632253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…</a:t>
            </a:r>
            <a:endParaRPr lang="ko-KR" altLang="en-US" sz="1200" dirty="0"/>
          </a:p>
        </p:txBody>
      </p:sp>
      <p:sp>
        <p:nvSpPr>
          <p:cNvPr id="1033" name="Object 24">
            <a:extLst>
              <a:ext uri="{FF2B5EF4-FFF2-40B4-BE49-F238E27FC236}">
                <a16:creationId xmlns:a16="http://schemas.microsoft.com/office/drawing/2014/main" id="{33305B03-7055-6089-D496-B219D57FB232}"/>
              </a:ext>
            </a:extLst>
          </p:cNvPr>
          <p:cNvSpPr txBox="1"/>
          <p:nvPr/>
        </p:nvSpPr>
        <p:spPr>
          <a:xfrm>
            <a:off x="9147574" y="226085"/>
            <a:ext cx="1790083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▼</a:t>
            </a:r>
            <a:r>
              <a:rPr lang="en-US" altLang="ko-KR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시스템 </a:t>
            </a:r>
            <a:r>
              <a:rPr lang="ko-KR" alt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인테그레이션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98478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7F2A-A36C-BF85-8F38-9970AFAF7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7D5D186-2A23-0622-A164-306F39F48FC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2B6B1FC-EFE5-0720-9C4A-DACED7CE19F0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/>
                </a:solidFill>
                <a:effectLst/>
                <a:uLnTx/>
                <a:uFillTx/>
                <a:latin typeface="Pretendard"/>
                <a:cs typeface="+mn-cs"/>
              </a:rPr>
              <a:t>Part 3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24D60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84C19-9468-1CF3-BFAC-6340FEDDC7C1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srgbClr val="224D60"/>
                </a:solidFill>
                <a:effectLst/>
                <a:uLnTx/>
                <a:uFillTx/>
                <a:latin typeface="Pretendard"/>
                <a:cs typeface="+mn-cs"/>
              </a:rPr>
              <a:t>직무경험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98773E-B78B-982E-0827-833F810A5EE4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D827451-E0AF-1281-0313-CEAA4F7F5810}"/>
              </a:ext>
            </a:extLst>
          </p:cNvPr>
          <p:cNvSpPr/>
          <p:nvPr/>
        </p:nvSpPr>
        <p:spPr>
          <a:xfrm>
            <a:off x="1519456" y="4346935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B9918E-6173-41F5-82C5-D2B3454993DA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1F45EAE-90BB-DF4F-8560-CD921648550E}"/>
              </a:ext>
            </a:extLst>
          </p:cNvPr>
          <p:cNvGrpSpPr/>
          <p:nvPr/>
        </p:nvGrpSpPr>
        <p:grpSpPr>
          <a:xfrm>
            <a:off x="832088" y="1761072"/>
            <a:ext cx="4996777" cy="4553847"/>
            <a:chOff x="832088" y="1597797"/>
            <a:chExt cx="4996777" cy="455384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6B6841F-F537-470D-A6A5-25A68FFE6128}"/>
                </a:ext>
              </a:extLst>
            </p:cNvPr>
            <p:cNvSpPr/>
            <p:nvPr/>
          </p:nvSpPr>
          <p:spPr>
            <a:xfrm>
              <a:off x="832088" y="1597797"/>
              <a:ext cx="4996777" cy="4553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5E5D887-8AFE-7519-6AA3-87D29FE42CEB}"/>
                </a:ext>
              </a:extLst>
            </p:cNvPr>
            <p:cNvSpPr txBox="1"/>
            <p:nvPr/>
          </p:nvSpPr>
          <p:spPr>
            <a:xfrm>
              <a:off x="993236" y="1980648"/>
              <a:ext cx="4689107" cy="20719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미국 관세 영향에 대응하기 위해 전사 차원의 전략을 수립하고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원가 절감을 목표로 추진한 프로젝트입니다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.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최근 경영층에서 원가 절감을 위한 핵심 전략으로 공용화 확대를 추진함에 따라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전사 차원의 원가 절감 목표 달성을 위해 본 프로젝트에 참여하게 되었습니다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.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이에 공용화 확대 및 현황 파악을 위해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A2mac1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과 수행한 프로젝트를 확장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및 개선하여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,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당사에 맞는 전사 공용화 기여도 측정 및 정량적 관리를 위한 지표를 개발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및 고도화하고 있습니다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.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US" altLang="ko-KR" sz="12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/>
                <a:cs typeface="+mn-c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C86F19D-7E7E-A8E9-41E8-33695B1DDF9D}"/>
                </a:ext>
              </a:extLst>
            </p:cNvPr>
            <p:cNvSpPr txBox="1"/>
            <p:nvPr/>
          </p:nvSpPr>
          <p:spPr>
            <a:xfrm>
              <a:off x="993236" y="1674263"/>
              <a:ext cx="11929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spc="-3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Black"/>
                  <a:ea typeface="+mj-ea"/>
                </a:rPr>
                <a:t>프로젝트 내용</a:t>
              </a:r>
              <a:endParaRPr kumimoji="0" lang="ko-KR" altLang="en-US" sz="16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Black"/>
                <a:ea typeface="+mj-ea"/>
                <a:cs typeface="+mn-cs"/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36C2881F-006C-EB9C-A7DE-AF93E87EB1F7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1947081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A7ECBA-E541-A235-E86E-8CF3068C65E0}"/>
                </a:ext>
              </a:extLst>
            </p:cNvPr>
            <p:cNvSpPr txBox="1"/>
            <p:nvPr/>
          </p:nvSpPr>
          <p:spPr>
            <a:xfrm>
              <a:off x="993236" y="3877594"/>
              <a:ext cx="8595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 Black"/>
                  <a:ea typeface="+mj-ea"/>
                  <a:cs typeface="+mn-cs"/>
                </a:rPr>
                <a:t>주요 역할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7C2506E-4FD4-9BAA-8D96-EE9657237037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4171135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F2D3A8-DA78-FCB5-BE2C-008792E42707}"/>
                </a:ext>
              </a:extLst>
            </p:cNvPr>
            <p:cNvSpPr txBox="1"/>
            <p:nvPr/>
          </p:nvSpPr>
          <p:spPr>
            <a:xfrm>
              <a:off x="993236" y="4215503"/>
              <a:ext cx="4689107" cy="162724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공용화 관리 대상 부문을 선별하고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공용화 기여도를 정량적으로 관리하기 위한 전략 체계를 수립하였습니다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. (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관리 대상 부문 및 공용화 세부 항목 선정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)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1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차적으로 선정된 공용화 관리 항목을 바탕으로 현재 양산중인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EV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차종의 공용화 현황 파악을 위한 분석을 진행하고 있습니다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.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(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차종별 공용화 현황 분석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)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추후 수집된 공용화 현황 데이터를 기반으로 모듈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-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시스템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-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도메인별 공용화 수준을 분석하고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개선 대상 모듈 및 지표 고도화를 위한 인사이트를 도출할 예정입니다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F2AC0E9-215A-1A92-A0F8-9FC5F1970F44}"/>
              </a:ext>
            </a:extLst>
          </p:cNvPr>
          <p:cNvSpPr txBox="1"/>
          <p:nvPr/>
        </p:nvSpPr>
        <p:spPr>
          <a:xfrm flipH="1">
            <a:off x="608668" y="794066"/>
            <a:ext cx="487313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0" dirty="0">
                <a:solidFill>
                  <a:srgbClr val="224D60">
                    <a:lumMod val="50000"/>
                  </a:srgbClr>
                </a:solidFill>
                <a:latin typeface="Pretendard Black"/>
                <a:ea typeface="+mj-ea"/>
              </a:rPr>
              <a:t>프로젝트 </a:t>
            </a:r>
            <a:r>
              <a:rPr lang="en-US" altLang="ko-KR" sz="2000" b="1" spc="-300" dirty="0">
                <a:solidFill>
                  <a:srgbClr val="224D60">
                    <a:lumMod val="50000"/>
                  </a:srgbClr>
                </a:solidFill>
                <a:latin typeface="Pretendard Black"/>
                <a:ea typeface="+mj-ea"/>
              </a:rPr>
              <a:t>2(‘2025.12  ~  </a:t>
            </a:r>
            <a:r>
              <a:rPr lang="ko-KR" altLang="en-US" sz="2000" b="1" spc="-300" dirty="0">
                <a:solidFill>
                  <a:srgbClr val="224D60">
                    <a:lumMod val="50000"/>
                  </a:srgbClr>
                </a:solidFill>
                <a:latin typeface="Pretendard Black"/>
                <a:ea typeface="+mj-ea"/>
              </a:rPr>
              <a:t>현재</a:t>
            </a:r>
            <a:r>
              <a:rPr lang="en-US" altLang="ko-KR" sz="2000" b="1" spc="-300" dirty="0">
                <a:solidFill>
                  <a:srgbClr val="224D60">
                    <a:lumMod val="50000"/>
                  </a:srgbClr>
                </a:solidFill>
                <a:latin typeface="Pretendard Black"/>
                <a:ea typeface="+mj-ea"/>
              </a:rPr>
              <a:t>)</a:t>
            </a:r>
            <a:endParaRPr kumimoji="0" lang="en-US" altLang="ko-KR" sz="1600" b="1" i="0" u="none" strike="noStrike" kern="1200" cap="none" spc="-30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Pretendard Black"/>
              <a:ea typeface="+mj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224D60">
                    <a:lumMod val="50000"/>
                  </a:srgbClr>
                </a:solidFill>
                <a:latin typeface="Pretendard"/>
              </a:rPr>
              <a:t>관세대응 전사 전략과제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모듈 공용 세부 특성 지수 개발 및 분석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1B4A6-9ECA-875E-7A00-44C32A1A775C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10</a:t>
            </a:r>
            <a:endParaRPr lang="ko-KR" altLang="en-US" dirty="0">
              <a:solidFill>
                <a:srgbClr val="224D6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B31203E-FC4B-B93A-5A30-D8712A937DDA}"/>
              </a:ext>
            </a:extLst>
          </p:cNvPr>
          <p:cNvSpPr/>
          <p:nvPr/>
        </p:nvSpPr>
        <p:spPr>
          <a:xfrm>
            <a:off x="6029325" y="2835771"/>
            <a:ext cx="1833172" cy="35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1) </a:t>
            </a:r>
            <a:r>
              <a:rPr lang="ko-KR" altLang="en-US" sz="1200" dirty="0"/>
              <a:t>공용화 관리 세부 항목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D32A76E-4B11-A0EE-FA12-DBD3DAF2CAE5}"/>
              </a:ext>
            </a:extLst>
          </p:cNvPr>
          <p:cNvSpPr/>
          <p:nvPr/>
        </p:nvSpPr>
        <p:spPr>
          <a:xfrm>
            <a:off x="7953863" y="2835771"/>
            <a:ext cx="2347423" cy="35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2) </a:t>
            </a:r>
            <a:r>
              <a:rPr lang="ko-KR" altLang="en-US" sz="1200" dirty="0"/>
              <a:t>데이터 구조화 </a:t>
            </a:r>
            <a:r>
              <a:rPr lang="en-US" altLang="ko-KR" sz="1200" dirty="0"/>
              <a:t>(</a:t>
            </a:r>
            <a:r>
              <a:rPr lang="ko-KR" altLang="en-US" sz="1200" dirty="0"/>
              <a:t>공용화 기여도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9285ED6-FC26-22D4-7351-546DB291C637}"/>
              </a:ext>
            </a:extLst>
          </p:cNvPr>
          <p:cNvSpPr/>
          <p:nvPr/>
        </p:nvSpPr>
        <p:spPr>
          <a:xfrm>
            <a:off x="10392653" y="2835771"/>
            <a:ext cx="1682236" cy="3524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3) </a:t>
            </a:r>
            <a:r>
              <a:rPr lang="ko-KR" altLang="en-US" sz="1200" dirty="0"/>
              <a:t>공용 특성 지수 산출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F4AC561-CC04-08F7-81B4-86C8A07FB4CF}"/>
              </a:ext>
            </a:extLst>
          </p:cNvPr>
          <p:cNvSpPr/>
          <p:nvPr/>
        </p:nvSpPr>
        <p:spPr>
          <a:xfrm>
            <a:off x="6055662" y="3365017"/>
            <a:ext cx="762000" cy="352424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상품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영업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CEDDD2A-E83A-1915-B1B3-F9446CE25ED2}"/>
              </a:ext>
            </a:extLst>
          </p:cNvPr>
          <p:cNvSpPr/>
          <p:nvPr/>
        </p:nvSpPr>
        <p:spPr>
          <a:xfrm>
            <a:off x="6055662" y="4228235"/>
            <a:ext cx="762000" cy="352424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구매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81DFB31-9110-B4A1-5A38-52CBB24A27D6}"/>
              </a:ext>
            </a:extLst>
          </p:cNvPr>
          <p:cNvSpPr/>
          <p:nvPr/>
        </p:nvSpPr>
        <p:spPr>
          <a:xfrm>
            <a:off x="6055662" y="5091453"/>
            <a:ext cx="762000" cy="352424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연구개발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D915A88-3BF9-62E5-3D70-4BC98C6A930C}"/>
              </a:ext>
            </a:extLst>
          </p:cNvPr>
          <p:cNvSpPr/>
          <p:nvPr/>
        </p:nvSpPr>
        <p:spPr>
          <a:xfrm>
            <a:off x="6055662" y="5954670"/>
            <a:ext cx="762000" cy="352424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아키텍처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F91C95A-D587-253C-86C8-043F3E2A7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487990"/>
              </p:ext>
            </p:extLst>
          </p:nvPr>
        </p:nvGraphicFramePr>
        <p:xfrm>
          <a:off x="6602086" y="792984"/>
          <a:ext cx="1989452" cy="149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863">
                  <a:extLst>
                    <a:ext uri="{9D8B030D-6E8A-4147-A177-3AD203B41FA5}">
                      <a16:colId xmlns:a16="http://schemas.microsoft.com/office/drawing/2014/main" val="3643611394"/>
                    </a:ext>
                  </a:extLst>
                </a:gridCol>
                <a:gridCol w="1361589">
                  <a:extLst>
                    <a:ext uri="{9D8B030D-6E8A-4147-A177-3AD203B41FA5}">
                      <a16:colId xmlns:a16="http://schemas.microsoft.com/office/drawing/2014/main" val="3465120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ko-KR" altLang="en-US" sz="8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ko-KR" altLang="en-US" sz="8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02827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Brand &amp; Supplier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59858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Shape &amp; Dimension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233475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Weight &amp; Material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52181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Interface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488735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Function &amp; Performance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32048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6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Key Component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913040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B0DA8F4-72F2-498C-2895-B0B333AF6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371471"/>
              </p:ext>
            </p:extLst>
          </p:nvPr>
        </p:nvGraphicFramePr>
        <p:xfrm>
          <a:off x="9493809" y="799658"/>
          <a:ext cx="1989452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7863">
                  <a:extLst>
                    <a:ext uri="{9D8B030D-6E8A-4147-A177-3AD203B41FA5}">
                      <a16:colId xmlns:a16="http://schemas.microsoft.com/office/drawing/2014/main" val="3643611394"/>
                    </a:ext>
                  </a:extLst>
                </a:gridCol>
                <a:gridCol w="1361589">
                  <a:extLst>
                    <a:ext uri="{9D8B030D-6E8A-4147-A177-3AD203B41FA5}">
                      <a16:colId xmlns:a16="http://schemas.microsoft.com/office/drawing/2014/main" val="3465120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ko-KR" altLang="en-US" sz="8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ko-KR" altLang="en-US" sz="8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02827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제품사양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상품사양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59858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소싱업체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233475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PART NO.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52181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인터페이스 표준화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488735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935969"/>
                  </a:ext>
                </a:extLst>
              </a:tr>
            </a:tbl>
          </a:graphicData>
        </a:graphic>
      </p:graphicFrame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5AA63C6-ACC4-2796-2844-0758837B858E}"/>
              </a:ext>
            </a:extLst>
          </p:cNvPr>
          <p:cNvCxnSpPr/>
          <p:nvPr/>
        </p:nvCxnSpPr>
        <p:spPr>
          <a:xfrm>
            <a:off x="8862464" y="1435007"/>
            <a:ext cx="360420" cy="0"/>
          </a:xfrm>
          <a:prstGeom prst="straightConnector1">
            <a:avLst/>
          </a:prstGeom>
          <a:ln w="127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12F3A-6E33-6F23-237E-2955E9F2F803}"/>
              </a:ext>
            </a:extLst>
          </p:cNvPr>
          <p:cNvSpPr txBox="1"/>
          <p:nvPr/>
        </p:nvSpPr>
        <p:spPr>
          <a:xfrm>
            <a:off x="7167046" y="408412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163644"/>
                </a:solidFill>
              </a:rPr>
              <a:t>A2mac1</a:t>
            </a:r>
            <a:endParaRPr lang="ko-KR" altLang="en-US" sz="1600" dirty="0">
              <a:solidFill>
                <a:srgbClr val="163644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2924B8-EE04-B13A-934F-1F62D10A0CEB}"/>
              </a:ext>
            </a:extLst>
          </p:cNvPr>
          <p:cNvSpPr txBox="1"/>
          <p:nvPr/>
        </p:nvSpPr>
        <p:spPr>
          <a:xfrm>
            <a:off x="10165191" y="408412"/>
            <a:ext cx="596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163644"/>
                </a:solidFill>
              </a:rPr>
              <a:t>HMC</a:t>
            </a:r>
            <a:endParaRPr lang="ko-KR" altLang="en-US" sz="1600" dirty="0">
              <a:solidFill>
                <a:srgbClr val="163644"/>
              </a:solidFill>
            </a:endParaRPr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1CCD769C-6C22-4B19-D50F-1392246B9B71}"/>
              </a:ext>
            </a:extLst>
          </p:cNvPr>
          <p:cNvSpPr/>
          <p:nvPr/>
        </p:nvSpPr>
        <p:spPr>
          <a:xfrm>
            <a:off x="8866845" y="2347579"/>
            <a:ext cx="343524" cy="3879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8F2678C-F520-F5D3-3539-BFE7CBF6B2DD}"/>
              </a:ext>
            </a:extLst>
          </p:cNvPr>
          <p:cNvSpPr/>
          <p:nvPr/>
        </p:nvSpPr>
        <p:spPr>
          <a:xfrm>
            <a:off x="7070099" y="3364870"/>
            <a:ext cx="762000" cy="352424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제품</a:t>
            </a:r>
            <a:r>
              <a:rPr lang="en-US" altLang="ko-KR" sz="1000" dirty="0">
                <a:solidFill>
                  <a:schemeClr val="tx1"/>
                </a:solidFill>
              </a:rPr>
              <a:t>/</a:t>
            </a:r>
            <a:r>
              <a:rPr lang="ko-KR" altLang="en-US" sz="1000" dirty="0">
                <a:solidFill>
                  <a:schemeClr val="tx1"/>
                </a:solidFill>
              </a:rPr>
              <a:t>상품 사양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966BD51-9086-91EA-9D17-200469797750}"/>
              </a:ext>
            </a:extLst>
          </p:cNvPr>
          <p:cNvSpPr/>
          <p:nvPr/>
        </p:nvSpPr>
        <p:spPr>
          <a:xfrm>
            <a:off x="7070099" y="4228088"/>
            <a:ext cx="762000" cy="352424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소싱업체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BE740E8-A4E0-19CF-78D8-B5CDDAB4F90C}"/>
              </a:ext>
            </a:extLst>
          </p:cNvPr>
          <p:cNvSpPr/>
          <p:nvPr/>
        </p:nvSpPr>
        <p:spPr>
          <a:xfrm>
            <a:off x="7070099" y="5091306"/>
            <a:ext cx="762000" cy="352424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PART NO.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82846C4-155B-3B02-915A-A937CCE47F83}"/>
              </a:ext>
            </a:extLst>
          </p:cNvPr>
          <p:cNvSpPr/>
          <p:nvPr/>
        </p:nvSpPr>
        <p:spPr>
          <a:xfrm>
            <a:off x="7070099" y="5954523"/>
            <a:ext cx="762000" cy="352424"/>
          </a:xfrm>
          <a:prstGeom prst="rect">
            <a:avLst/>
          </a:prstGeom>
          <a:solidFill>
            <a:srgbClr val="F2F2F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인터페이스 표준화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3B811D-7912-7B70-7F64-564E322B3776}"/>
              </a:ext>
            </a:extLst>
          </p:cNvPr>
          <p:cNvSpPr txBox="1"/>
          <p:nvPr/>
        </p:nvSpPr>
        <p:spPr>
          <a:xfrm>
            <a:off x="6169915" y="3720730"/>
            <a:ext cx="1549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163644"/>
                </a:solidFill>
              </a:rPr>
              <a:t>“</a:t>
            </a:r>
            <a:r>
              <a:rPr lang="ko-KR" altLang="en-US" sz="1200" dirty="0">
                <a:solidFill>
                  <a:srgbClr val="163644"/>
                </a:solidFill>
              </a:rPr>
              <a:t>차종별 상품 </a:t>
            </a:r>
            <a:r>
              <a:rPr lang="en-US" altLang="ko-KR" sz="1200" dirty="0">
                <a:solidFill>
                  <a:srgbClr val="163644"/>
                </a:solidFill>
              </a:rPr>
              <a:t>RQMT”</a:t>
            </a:r>
            <a:endParaRPr lang="ko-KR" altLang="en-US" sz="1200" dirty="0">
              <a:solidFill>
                <a:srgbClr val="16364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B0A255-4396-02A2-C978-D44EE0D39CF9}"/>
              </a:ext>
            </a:extLst>
          </p:cNvPr>
          <p:cNvSpPr txBox="1"/>
          <p:nvPr/>
        </p:nvSpPr>
        <p:spPr>
          <a:xfrm>
            <a:off x="6291198" y="4581705"/>
            <a:ext cx="13067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163644"/>
                </a:solidFill>
              </a:rPr>
              <a:t>“</a:t>
            </a:r>
            <a:r>
              <a:rPr lang="ko-KR" altLang="en-US" sz="1200" dirty="0">
                <a:solidFill>
                  <a:srgbClr val="163644"/>
                </a:solidFill>
              </a:rPr>
              <a:t>업체 선정 전략</a:t>
            </a:r>
            <a:r>
              <a:rPr lang="en-US" altLang="ko-KR" sz="1200" dirty="0">
                <a:solidFill>
                  <a:srgbClr val="163644"/>
                </a:solidFill>
              </a:rPr>
              <a:t>”</a:t>
            </a:r>
            <a:endParaRPr lang="ko-KR" altLang="en-US" sz="1200" dirty="0">
              <a:solidFill>
                <a:srgbClr val="163644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AD73D2-7CFE-5EB5-35CF-BB05121C194E}"/>
              </a:ext>
            </a:extLst>
          </p:cNvPr>
          <p:cNvSpPr txBox="1"/>
          <p:nvPr/>
        </p:nvSpPr>
        <p:spPr>
          <a:xfrm>
            <a:off x="6308831" y="5442680"/>
            <a:ext cx="12715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rgbClr val="163644"/>
                </a:solidFill>
              </a:rPr>
              <a:t>“</a:t>
            </a:r>
            <a:r>
              <a:rPr lang="ko-KR" altLang="en-US" sz="1200" dirty="0">
                <a:solidFill>
                  <a:srgbClr val="163644"/>
                </a:solidFill>
              </a:rPr>
              <a:t>설계 고려사항</a:t>
            </a:r>
            <a:r>
              <a:rPr lang="en-US" altLang="ko-KR" sz="1200" dirty="0">
                <a:solidFill>
                  <a:srgbClr val="163644"/>
                </a:solidFill>
              </a:rPr>
              <a:t>”</a:t>
            </a:r>
            <a:endParaRPr lang="ko-KR" altLang="en-US" sz="1200" dirty="0">
              <a:solidFill>
                <a:srgbClr val="163644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AF6A8C-267C-6523-EA67-2FAACB38BC3D}"/>
              </a:ext>
            </a:extLst>
          </p:cNvPr>
          <p:cNvSpPr txBox="1"/>
          <p:nvPr/>
        </p:nvSpPr>
        <p:spPr>
          <a:xfrm>
            <a:off x="6023497" y="6303655"/>
            <a:ext cx="18421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163644"/>
                </a:solidFill>
              </a:rPr>
              <a:t>“</a:t>
            </a:r>
            <a:r>
              <a:rPr lang="ko-KR" altLang="en-US" sz="1200" dirty="0">
                <a:solidFill>
                  <a:srgbClr val="163644"/>
                </a:solidFill>
              </a:rPr>
              <a:t>외부 연결 관계</a:t>
            </a:r>
            <a:r>
              <a:rPr lang="en-US" altLang="ko-KR" sz="1200" dirty="0">
                <a:solidFill>
                  <a:srgbClr val="163644"/>
                </a:solidFill>
              </a:rPr>
              <a:t>, </a:t>
            </a:r>
            <a:r>
              <a:rPr lang="ko-KR" altLang="en-US" sz="1200" dirty="0">
                <a:solidFill>
                  <a:srgbClr val="163644"/>
                </a:solidFill>
              </a:rPr>
              <a:t>호환성</a:t>
            </a:r>
            <a:r>
              <a:rPr lang="en-US" altLang="ko-KR" sz="1200" dirty="0">
                <a:solidFill>
                  <a:srgbClr val="163644"/>
                </a:solidFill>
              </a:rPr>
              <a:t>”</a:t>
            </a:r>
            <a:endParaRPr lang="ko-KR" altLang="en-US" sz="1200" dirty="0">
              <a:solidFill>
                <a:srgbClr val="163644"/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5AD81AF-85B1-0D29-43B0-DB89F3AD53AE}"/>
              </a:ext>
            </a:extLst>
          </p:cNvPr>
          <p:cNvCxnSpPr>
            <a:stCxn id="46" idx="3"/>
            <a:endCxn id="22" idx="1"/>
          </p:cNvCxnSpPr>
          <p:nvPr/>
        </p:nvCxnSpPr>
        <p:spPr>
          <a:xfrm flipV="1">
            <a:off x="6817662" y="4404300"/>
            <a:ext cx="252437" cy="14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0066F66-EA7D-1816-1DAB-2C4D86E6B2CC}"/>
              </a:ext>
            </a:extLst>
          </p:cNvPr>
          <p:cNvCxnSpPr>
            <a:stCxn id="47" idx="3"/>
            <a:endCxn id="23" idx="1"/>
          </p:cNvCxnSpPr>
          <p:nvPr/>
        </p:nvCxnSpPr>
        <p:spPr>
          <a:xfrm flipV="1">
            <a:off x="6817662" y="5267518"/>
            <a:ext cx="252437" cy="14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3CAFCE7-8D7B-DF32-3B41-A6B19B0A8123}"/>
              </a:ext>
            </a:extLst>
          </p:cNvPr>
          <p:cNvCxnSpPr>
            <a:stCxn id="48" idx="3"/>
            <a:endCxn id="24" idx="1"/>
          </p:cNvCxnSpPr>
          <p:nvPr/>
        </p:nvCxnSpPr>
        <p:spPr>
          <a:xfrm flipV="1">
            <a:off x="6817662" y="6130735"/>
            <a:ext cx="252437" cy="14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C972A39-F680-366A-38AE-43FF08343BC3}"/>
              </a:ext>
            </a:extLst>
          </p:cNvPr>
          <p:cNvCxnSpPr>
            <a:stCxn id="44" idx="3"/>
            <a:endCxn id="21" idx="1"/>
          </p:cNvCxnSpPr>
          <p:nvPr/>
        </p:nvCxnSpPr>
        <p:spPr>
          <a:xfrm flipV="1">
            <a:off x="6817662" y="3541082"/>
            <a:ext cx="252437" cy="14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6ACE4693-18B1-B641-DBDA-317155077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6633" y="3516281"/>
            <a:ext cx="407436" cy="407436"/>
          </a:xfrm>
          <a:prstGeom prst="rect">
            <a:avLst/>
          </a:prstGeom>
        </p:spPr>
      </p:pic>
      <p:pic>
        <p:nvPicPr>
          <p:cNvPr id="51" name="Picture 2" descr="차 ">
            <a:extLst>
              <a:ext uri="{FF2B5EF4-FFF2-40B4-BE49-F238E27FC236}">
                <a16:creationId xmlns:a16="http://schemas.microsoft.com/office/drawing/2014/main" id="{A6492683-5BC7-4374-C6C8-1620A5223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793" y="3516281"/>
            <a:ext cx="407436" cy="40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차 ">
            <a:extLst>
              <a:ext uri="{FF2B5EF4-FFF2-40B4-BE49-F238E27FC236}">
                <a16:creationId xmlns:a16="http://schemas.microsoft.com/office/drawing/2014/main" id="{5C2DC3C0-0E54-1231-4420-7C4A7B4C4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213" y="3516281"/>
            <a:ext cx="407436" cy="40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49D7F772-1A1A-D79D-E670-3041B3922996}"/>
              </a:ext>
            </a:extLst>
          </p:cNvPr>
          <p:cNvSpPr txBox="1"/>
          <p:nvPr/>
        </p:nvSpPr>
        <p:spPr>
          <a:xfrm>
            <a:off x="8293641" y="3917851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사양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A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DF7AB2-F152-1721-28AA-2BF681F63096}"/>
              </a:ext>
            </a:extLst>
          </p:cNvPr>
          <p:cNvSpPr txBox="1"/>
          <p:nvPr/>
        </p:nvSpPr>
        <p:spPr>
          <a:xfrm>
            <a:off x="8303683" y="4214266"/>
            <a:ext cx="540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163644"/>
                </a:solidFill>
              </a:rPr>
              <a:t>사양 </a:t>
            </a:r>
            <a:r>
              <a:rPr lang="en-US" altLang="ko-KR" sz="1000" dirty="0">
                <a:solidFill>
                  <a:srgbClr val="163644"/>
                </a:solidFill>
              </a:rPr>
              <a:t>B</a:t>
            </a:r>
            <a:endParaRPr lang="ko-KR" altLang="en-US" sz="1000" dirty="0">
              <a:solidFill>
                <a:srgbClr val="163644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807A33-B2B4-DE61-34E3-532C474DED4D}"/>
              </a:ext>
            </a:extLst>
          </p:cNvPr>
          <p:cNvSpPr txBox="1"/>
          <p:nvPr/>
        </p:nvSpPr>
        <p:spPr>
          <a:xfrm>
            <a:off x="8851296" y="3917851"/>
            <a:ext cx="540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163644"/>
                </a:solidFill>
              </a:rPr>
              <a:t>사양 </a:t>
            </a:r>
            <a:r>
              <a:rPr lang="en-US" altLang="ko-KR" sz="1000" dirty="0">
                <a:solidFill>
                  <a:srgbClr val="163644"/>
                </a:solidFill>
              </a:rPr>
              <a:t>B</a:t>
            </a:r>
            <a:endParaRPr lang="ko-KR" altLang="en-US" sz="1000" dirty="0">
              <a:solidFill>
                <a:srgbClr val="163644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DFA4CA-8099-BBDB-40B3-9DB3202C9B6C}"/>
              </a:ext>
            </a:extLst>
          </p:cNvPr>
          <p:cNvSpPr txBox="1"/>
          <p:nvPr/>
        </p:nvSpPr>
        <p:spPr>
          <a:xfrm>
            <a:off x="8859177" y="4214266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사양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C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0D713F-5319-7131-5F8F-CCF223EBB54E}"/>
              </a:ext>
            </a:extLst>
          </p:cNvPr>
          <p:cNvSpPr txBox="1"/>
          <p:nvPr/>
        </p:nvSpPr>
        <p:spPr>
          <a:xfrm>
            <a:off x="9430084" y="3917851"/>
            <a:ext cx="5405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163644"/>
                </a:solidFill>
              </a:rPr>
              <a:t>사양 </a:t>
            </a:r>
            <a:r>
              <a:rPr lang="en-US" altLang="ko-KR" sz="1000" dirty="0">
                <a:solidFill>
                  <a:srgbClr val="163644"/>
                </a:solidFill>
              </a:rPr>
              <a:t>B</a:t>
            </a:r>
            <a:endParaRPr lang="ko-KR" altLang="en-US" sz="1000" dirty="0">
              <a:solidFill>
                <a:srgbClr val="163644"/>
              </a:solidFill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B8D9A6F-04DB-0D8C-C94F-30F21ED5C57C}"/>
              </a:ext>
            </a:extLst>
          </p:cNvPr>
          <p:cNvCxnSpPr>
            <a:cxnSpLocks/>
          </p:cNvCxnSpPr>
          <p:nvPr/>
        </p:nvCxnSpPr>
        <p:spPr>
          <a:xfrm flipV="1">
            <a:off x="8815947" y="4130702"/>
            <a:ext cx="97616" cy="94562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C4F2C2F-D3AB-F3CB-852B-D372B16D0122}"/>
              </a:ext>
            </a:extLst>
          </p:cNvPr>
          <p:cNvCxnSpPr>
            <a:cxnSpLocks/>
          </p:cNvCxnSpPr>
          <p:nvPr/>
        </p:nvCxnSpPr>
        <p:spPr>
          <a:xfrm>
            <a:off x="9358460" y="4040962"/>
            <a:ext cx="11834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640DB74E-E623-3777-5606-D69701D90B42}"/>
              </a:ext>
            </a:extLst>
          </p:cNvPr>
          <p:cNvSpPr txBox="1"/>
          <p:nvPr/>
        </p:nvSpPr>
        <p:spPr>
          <a:xfrm>
            <a:off x="8976331" y="4327765"/>
            <a:ext cx="2904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…</a:t>
            </a:r>
            <a:endParaRPr lang="ko-KR" altLang="en-US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4A7CE9-4BF5-676A-91D5-1F73BD24876C}"/>
              </a:ext>
            </a:extLst>
          </p:cNvPr>
          <p:cNvSpPr txBox="1"/>
          <p:nvPr/>
        </p:nvSpPr>
        <p:spPr>
          <a:xfrm>
            <a:off x="8358562" y="4604601"/>
            <a:ext cx="413896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0.68</a:t>
            </a:r>
            <a:endParaRPr lang="ko-KR" altLang="en-US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321202A-A4FC-A2F1-5AC5-9947A4656812}"/>
              </a:ext>
            </a:extLst>
          </p:cNvPr>
          <p:cNvSpPr txBox="1"/>
          <p:nvPr/>
        </p:nvSpPr>
        <p:spPr>
          <a:xfrm>
            <a:off x="8925982" y="4604601"/>
            <a:ext cx="413896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0.74</a:t>
            </a:r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670B50-4565-AF04-2C0E-EBAD719596F4}"/>
              </a:ext>
            </a:extLst>
          </p:cNvPr>
          <p:cNvSpPr txBox="1"/>
          <p:nvPr/>
        </p:nvSpPr>
        <p:spPr>
          <a:xfrm>
            <a:off x="9493403" y="4604601"/>
            <a:ext cx="413896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0.53</a:t>
            </a:r>
            <a:endParaRPr lang="ko-KR" altLang="en-US"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29D305-7FD5-1CB4-0706-48E5D0C713B1}"/>
              </a:ext>
            </a:extLst>
          </p:cNvPr>
          <p:cNvSpPr txBox="1"/>
          <p:nvPr/>
        </p:nvSpPr>
        <p:spPr>
          <a:xfrm>
            <a:off x="8160664" y="4951889"/>
            <a:ext cx="1963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163644"/>
                </a:solidFill>
              </a:rPr>
              <a:t>“</a:t>
            </a:r>
            <a:r>
              <a:rPr lang="ko-KR" altLang="en-US" sz="1000" dirty="0">
                <a:solidFill>
                  <a:srgbClr val="163644"/>
                </a:solidFill>
              </a:rPr>
              <a:t>공용화 기여도</a:t>
            </a:r>
            <a:r>
              <a:rPr lang="en-US" altLang="ko-KR" sz="1000" dirty="0">
                <a:solidFill>
                  <a:srgbClr val="163644"/>
                </a:solidFill>
              </a:rPr>
              <a:t>(</a:t>
            </a:r>
            <a:r>
              <a:rPr lang="ko-KR" altLang="en-US" sz="1000" dirty="0">
                <a:solidFill>
                  <a:srgbClr val="163644"/>
                </a:solidFill>
              </a:rPr>
              <a:t>공용화율</a:t>
            </a:r>
            <a:r>
              <a:rPr lang="en-US" altLang="ko-KR" sz="1000" dirty="0">
                <a:solidFill>
                  <a:srgbClr val="163644"/>
                </a:solidFill>
              </a:rPr>
              <a:t>)</a:t>
            </a:r>
            <a:r>
              <a:rPr lang="ko-KR" altLang="en-US" sz="1000" dirty="0">
                <a:solidFill>
                  <a:srgbClr val="163644"/>
                </a:solidFill>
              </a:rPr>
              <a:t> 도출</a:t>
            </a:r>
            <a:r>
              <a:rPr lang="en-US" altLang="ko-KR" sz="1000" dirty="0">
                <a:solidFill>
                  <a:srgbClr val="163644"/>
                </a:solidFill>
              </a:rPr>
              <a:t>”</a:t>
            </a:r>
            <a:endParaRPr lang="ko-KR" altLang="en-US" sz="1000" dirty="0">
              <a:solidFill>
                <a:srgbClr val="163644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E264AF5-9955-38C5-38ED-B08DC7C52CA3}"/>
              </a:ext>
            </a:extLst>
          </p:cNvPr>
          <p:cNvSpPr txBox="1"/>
          <p:nvPr/>
        </p:nvSpPr>
        <p:spPr>
          <a:xfrm>
            <a:off x="10313360" y="3690336"/>
            <a:ext cx="954107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>
                <a:solidFill>
                  <a:srgbClr val="163644"/>
                </a:solidFill>
              </a:rPr>
              <a:t>공용지표단위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8A77D7A-E573-0DA6-E368-6F26FBEA977B}"/>
              </a:ext>
            </a:extLst>
          </p:cNvPr>
          <p:cNvSpPr txBox="1"/>
          <p:nvPr/>
        </p:nvSpPr>
        <p:spPr>
          <a:xfrm>
            <a:off x="11247441" y="3690336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i="1" dirty="0"/>
              <a:t>각 지표별 공용성 </a:t>
            </a:r>
            <a:endParaRPr lang="en-US" altLang="ko-KR" sz="800" i="1" dirty="0"/>
          </a:p>
          <a:p>
            <a:r>
              <a:rPr lang="ko-KR" altLang="en-US" sz="800" i="1" dirty="0"/>
              <a:t>저해 요인 분석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D53774-145A-A3CF-2740-329668E888DE}"/>
              </a:ext>
            </a:extLst>
          </p:cNvPr>
          <p:cNvSpPr txBox="1"/>
          <p:nvPr/>
        </p:nvSpPr>
        <p:spPr>
          <a:xfrm>
            <a:off x="10212445" y="4112753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공용 특성 </a:t>
            </a:r>
            <a:endParaRPr lang="en-US" altLang="ko-KR" sz="1000" dirty="0"/>
          </a:p>
          <a:p>
            <a:pPr algn="ctr"/>
            <a:r>
              <a:rPr lang="ko-KR" altLang="en-US" sz="1000" dirty="0"/>
              <a:t>지수 </a:t>
            </a:r>
            <a:r>
              <a:rPr lang="en-US" altLang="ko-KR" sz="1000" dirty="0"/>
              <a:t>(a)</a:t>
            </a:r>
            <a:endParaRPr lang="ko-KR" alt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DA83747-656D-0CE4-CA19-EABA6BF72840}"/>
                  </a:ext>
                </a:extLst>
              </p:cNvPr>
              <p:cNvSpPr txBox="1"/>
              <p:nvPr/>
            </p:nvSpPr>
            <p:spPr>
              <a:xfrm>
                <a:off x="10900192" y="4101628"/>
                <a:ext cx="1327233" cy="422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1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ko-KR" altLang="en-US" sz="1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공</m:t>
                              </m:r>
                              <m:r>
                                <a:rPr lang="ko-KR" altLang="en-US" sz="1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용</m:t>
                              </m:r>
                              <m:r>
                                <a:rPr lang="ko-KR" altLang="en-US" sz="1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화</m:t>
                              </m:r>
                              <m:r>
                                <a:rPr lang="ko-KR" altLang="en-US" sz="1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기</m:t>
                              </m:r>
                              <m:r>
                                <a:rPr lang="ko-KR" altLang="en-US" sz="1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여</m:t>
                              </m:r>
                              <m:r>
                                <a:rPr lang="ko-KR" altLang="en-US" sz="1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도</m:t>
                              </m:r>
                            </m:e>
                          </m:nary>
                        </m:num>
                        <m:den>
                          <m:r>
                            <a:rPr lang="ko-KR" altLang="en-US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대</m:t>
                          </m:r>
                          <m:r>
                            <a:rPr lang="ko-KR" altLang="en-US" sz="1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상</m:t>
                          </m:r>
                          <m:r>
                            <a:rPr lang="en-US" altLang="ko-KR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차</m:t>
                          </m:r>
                          <m:r>
                            <a:rPr lang="ko-KR" altLang="en-US" sz="1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종</m:t>
                          </m:r>
                          <m:r>
                            <a:rPr lang="en-US" altLang="ko-KR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수</m:t>
                          </m:r>
                        </m:den>
                      </m:f>
                    </m:oMath>
                  </m:oMathPara>
                </a14:m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5DA83747-656D-0CE4-CA19-EABA6BF72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0192" y="4101628"/>
                <a:ext cx="1327233" cy="422360"/>
              </a:xfrm>
              <a:prstGeom prst="rect">
                <a:avLst/>
              </a:prstGeom>
              <a:blipFill>
                <a:blip r:embed="rId5"/>
                <a:stretch>
                  <a:fillRect l="-459" t="-49275" b="-44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직사각형 77">
            <a:extLst>
              <a:ext uri="{FF2B5EF4-FFF2-40B4-BE49-F238E27FC236}">
                <a16:creationId xmlns:a16="http://schemas.microsoft.com/office/drawing/2014/main" id="{0DA640C5-9477-E101-FDF9-929408CBB6BB}"/>
              </a:ext>
            </a:extLst>
          </p:cNvPr>
          <p:cNvSpPr/>
          <p:nvPr/>
        </p:nvSpPr>
        <p:spPr>
          <a:xfrm>
            <a:off x="8214056" y="3362779"/>
            <a:ext cx="1872435" cy="187243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22EC7BF6-EE33-5222-3D52-E4E77D198B37}"/>
              </a:ext>
            </a:extLst>
          </p:cNvPr>
          <p:cNvCxnSpPr>
            <a:stCxn id="21" idx="3"/>
            <a:endCxn id="78" idx="1"/>
          </p:cNvCxnSpPr>
          <p:nvPr/>
        </p:nvCxnSpPr>
        <p:spPr>
          <a:xfrm>
            <a:off x="7832099" y="3541082"/>
            <a:ext cx="381957" cy="757915"/>
          </a:xfrm>
          <a:prstGeom prst="bentConnector3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FFBDC7D6-1FD4-096A-8B65-84DD4DEE421E}"/>
              </a:ext>
            </a:extLst>
          </p:cNvPr>
          <p:cNvSpPr/>
          <p:nvPr/>
        </p:nvSpPr>
        <p:spPr>
          <a:xfrm>
            <a:off x="8214056" y="5380380"/>
            <a:ext cx="1872435" cy="3554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163644"/>
                </a:solidFill>
              </a:rPr>
              <a:t>…</a:t>
            </a:r>
            <a:endParaRPr lang="ko-KR" altLang="en-US" sz="1200" dirty="0">
              <a:solidFill>
                <a:srgbClr val="163644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D4B9966-54BA-FC06-22A9-51EA7E749B8D}"/>
              </a:ext>
            </a:extLst>
          </p:cNvPr>
          <p:cNvSpPr/>
          <p:nvPr/>
        </p:nvSpPr>
        <p:spPr>
          <a:xfrm>
            <a:off x="8214056" y="5879550"/>
            <a:ext cx="1872435" cy="3554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163644"/>
                </a:solidFill>
              </a:rPr>
              <a:t>…</a:t>
            </a:r>
            <a:endParaRPr lang="ko-KR" altLang="en-US" sz="1200" dirty="0">
              <a:solidFill>
                <a:srgbClr val="163644"/>
              </a:solidFill>
            </a:endParaRP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A23D2D3E-5C79-4862-91EF-4B4190D19524}"/>
              </a:ext>
            </a:extLst>
          </p:cNvPr>
          <p:cNvCxnSpPr>
            <a:stCxn id="22" idx="3"/>
            <a:endCxn id="81" idx="1"/>
          </p:cNvCxnSpPr>
          <p:nvPr/>
        </p:nvCxnSpPr>
        <p:spPr>
          <a:xfrm>
            <a:off x="7832099" y="4404300"/>
            <a:ext cx="381957" cy="1153795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697D80F0-F2FA-B035-DC0B-9C13F392D6BD}"/>
              </a:ext>
            </a:extLst>
          </p:cNvPr>
          <p:cNvCxnSpPr>
            <a:stCxn id="23" idx="3"/>
            <a:endCxn id="83" idx="1"/>
          </p:cNvCxnSpPr>
          <p:nvPr/>
        </p:nvCxnSpPr>
        <p:spPr>
          <a:xfrm>
            <a:off x="7832099" y="5267518"/>
            <a:ext cx="381957" cy="789747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7997D8A7-91C8-7E1A-91B0-E7E8B8079AD9}"/>
              </a:ext>
            </a:extLst>
          </p:cNvPr>
          <p:cNvSpPr txBox="1"/>
          <p:nvPr/>
        </p:nvSpPr>
        <p:spPr>
          <a:xfrm>
            <a:off x="8176447" y="4132931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>
                <a:solidFill>
                  <a:srgbClr val="FF0000"/>
                </a:solidFill>
              </a:rPr>
              <a:t>공용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A3484F5-3D11-4F4B-BF47-160F1D6E6433}"/>
              </a:ext>
            </a:extLst>
          </p:cNvPr>
          <p:cNvSpPr txBox="1"/>
          <p:nvPr/>
        </p:nvSpPr>
        <p:spPr>
          <a:xfrm>
            <a:off x="10313360" y="4897114"/>
            <a:ext cx="954107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163644"/>
                </a:solidFill>
              </a:rPr>
              <a:t>모듈 단위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C0D7D06-5C1C-6648-99EA-5382CA4F8EED}"/>
              </a:ext>
            </a:extLst>
          </p:cNvPr>
          <p:cNvSpPr txBox="1"/>
          <p:nvPr/>
        </p:nvSpPr>
        <p:spPr>
          <a:xfrm>
            <a:off x="11292492" y="4897114"/>
            <a:ext cx="8800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i="1" dirty="0"/>
              <a:t>모듈 단위 공용 수준 분석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F59E840-A254-67CC-AA3A-C9A19302AB46}"/>
              </a:ext>
            </a:extLst>
          </p:cNvPr>
          <p:cNvSpPr txBox="1"/>
          <p:nvPr/>
        </p:nvSpPr>
        <p:spPr>
          <a:xfrm>
            <a:off x="10212445" y="5319531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공용 특성 </a:t>
            </a:r>
            <a:endParaRPr lang="en-US" altLang="ko-KR" sz="1000" dirty="0"/>
          </a:p>
          <a:p>
            <a:pPr algn="ctr"/>
            <a:r>
              <a:rPr lang="ko-KR" altLang="en-US" sz="1000" dirty="0"/>
              <a:t>지수 </a:t>
            </a:r>
            <a:r>
              <a:rPr lang="en-US" altLang="ko-KR" sz="1000" dirty="0"/>
              <a:t>(b)</a:t>
            </a:r>
            <a:r>
              <a:rPr lang="ko-KR" altLang="en-US" sz="10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CAB0B02-5BD3-B6F1-0E7A-3332911A730F}"/>
                  </a:ext>
                </a:extLst>
              </p:cNvPr>
              <p:cNvSpPr txBox="1"/>
              <p:nvPr/>
            </p:nvSpPr>
            <p:spPr>
              <a:xfrm>
                <a:off x="10892839" y="5308406"/>
                <a:ext cx="1509405" cy="422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1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ko-KR" altLang="en-US" sz="1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공</m:t>
                              </m:r>
                              <m:r>
                                <a:rPr lang="ko-KR" altLang="en-US" sz="1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용</m:t>
                              </m:r>
                              <m:r>
                                <a:rPr lang="en-US" altLang="ko-KR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sz="1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특</m:t>
                              </m:r>
                              <m:r>
                                <a:rPr lang="ko-KR" altLang="en-US" sz="1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성</m:t>
                              </m:r>
                              <m:r>
                                <a:rPr lang="en-US" altLang="ko-KR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ko-KR" altLang="en-US" sz="1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지</m:t>
                              </m:r>
                              <m:r>
                                <a:rPr lang="ko-KR" altLang="en-US" sz="1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수</m:t>
                              </m:r>
                              <m:r>
                                <a:rPr lang="en-US" altLang="ko-KR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>
                            <a:rPr lang="ko-KR" altLang="en-US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공</m:t>
                          </m:r>
                          <m:r>
                            <a:rPr lang="ko-KR" altLang="en-US" sz="1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용</m:t>
                          </m:r>
                          <m:r>
                            <a:rPr lang="en-US" altLang="ko-KR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지</m:t>
                          </m:r>
                          <m:r>
                            <a:rPr lang="ko-KR" altLang="en-US" sz="1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표</m:t>
                          </m:r>
                          <m:r>
                            <a:rPr lang="en-US" altLang="ko-KR" sz="1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수</m:t>
                          </m:r>
                        </m:den>
                      </m:f>
                    </m:oMath>
                  </m:oMathPara>
                </a14:m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4CAB0B02-5BD3-B6F1-0E7A-3332911A7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839" y="5308406"/>
                <a:ext cx="1509405" cy="422360"/>
              </a:xfrm>
              <a:prstGeom prst="rect">
                <a:avLst/>
              </a:prstGeom>
              <a:blipFill>
                <a:blip r:embed="rId6"/>
                <a:stretch>
                  <a:fillRect l="-2834" t="-49275" b="-44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9F5CECEB-9717-6F87-F62A-507FBC13AFED}"/>
              </a:ext>
            </a:extLst>
          </p:cNvPr>
          <p:cNvCxnSpPr>
            <a:stCxn id="78" idx="3"/>
            <a:endCxn id="73" idx="1"/>
          </p:cNvCxnSpPr>
          <p:nvPr/>
        </p:nvCxnSpPr>
        <p:spPr>
          <a:xfrm flipV="1">
            <a:off x="10086491" y="3813447"/>
            <a:ext cx="226869" cy="485550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FBA08180-4309-D170-9ECA-4C86CB0A7B2A}"/>
              </a:ext>
            </a:extLst>
          </p:cNvPr>
          <p:cNvCxnSpPr>
            <a:stCxn id="81" idx="3"/>
            <a:endCxn id="73" idx="1"/>
          </p:cNvCxnSpPr>
          <p:nvPr/>
        </p:nvCxnSpPr>
        <p:spPr>
          <a:xfrm flipV="1">
            <a:off x="10086491" y="3813447"/>
            <a:ext cx="226869" cy="1744648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A12D00E8-7D22-4AA1-5A49-7D4C1B835066}"/>
              </a:ext>
            </a:extLst>
          </p:cNvPr>
          <p:cNvCxnSpPr>
            <a:stCxn id="83" idx="3"/>
            <a:endCxn id="73" idx="1"/>
          </p:cNvCxnSpPr>
          <p:nvPr/>
        </p:nvCxnSpPr>
        <p:spPr>
          <a:xfrm flipV="1">
            <a:off x="10086491" y="3813447"/>
            <a:ext cx="226869" cy="2243818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화살표: 아래쪽 103">
            <a:extLst>
              <a:ext uri="{FF2B5EF4-FFF2-40B4-BE49-F238E27FC236}">
                <a16:creationId xmlns:a16="http://schemas.microsoft.com/office/drawing/2014/main" id="{FCAA4FD6-2187-CE3C-9B58-39098CE83B7A}"/>
              </a:ext>
            </a:extLst>
          </p:cNvPr>
          <p:cNvSpPr/>
          <p:nvPr/>
        </p:nvSpPr>
        <p:spPr>
          <a:xfrm>
            <a:off x="11143324" y="4595809"/>
            <a:ext cx="180893" cy="20429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10F3BE2-EF2F-E5FD-54B9-996228A32E95}"/>
              </a:ext>
            </a:extLst>
          </p:cNvPr>
          <p:cNvSpPr/>
          <p:nvPr/>
        </p:nvSpPr>
        <p:spPr>
          <a:xfrm>
            <a:off x="8214056" y="6345744"/>
            <a:ext cx="1872435" cy="3554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163644"/>
                </a:solidFill>
              </a:rPr>
              <a:t>…</a:t>
            </a:r>
            <a:endParaRPr lang="ko-KR" altLang="en-US" sz="1200" dirty="0">
              <a:solidFill>
                <a:srgbClr val="163644"/>
              </a:solidFill>
            </a:endParaRPr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D7020157-292B-00A5-C0DC-5D20F4527366}"/>
              </a:ext>
            </a:extLst>
          </p:cNvPr>
          <p:cNvCxnSpPr>
            <a:stCxn id="24" idx="3"/>
            <a:endCxn id="105" idx="1"/>
          </p:cNvCxnSpPr>
          <p:nvPr/>
        </p:nvCxnSpPr>
        <p:spPr>
          <a:xfrm>
            <a:off x="7832099" y="6130735"/>
            <a:ext cx="381957" cy="392724"/>
          </a:xfrm>
          <a:prstGeom prst="bentConnector3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AD45F1D7-69D9-864A-BEA2-E6C46CBCA559}"/>
              </a:ext>
            </a:extLst>
          </p:cNvPr>
          <p:cNvCxnSpPr>
            <a:cxnSpLocks/>
            <a:stCxn id="105" idx="3"/>
            <a:endCxn id="73" idx="1"/>
          </p:cNvCxnSpPr>
          <p:nvPr/>
        </p:nvCxnSpPr>
        <p:spPr>
          <a:xfrm flipV="1">
            <a:off x="10086491" y="3813447"/>
            <a:ext cx="226869" cy="2710012"/>
          </a:xfrm>
          <a:prstGeom prst="bentConnector3">
            <a:avLst>
              <a:gd name="adj1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0A40B5C-9F4C-7BD8-3D06-C62F324003C8}"/>
              </a:ext>
            </a:extLst>
          </p:cNvPr>
          <p:cNvSpPr txBox="1"/>
          <p:nvPr/>
        </p:nvSpPr>
        <p:spPr>
          <a:xfrm>
            <a:off x="9586685" y="2082919"/>
            <a:ext cx="1803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163644"/>
                </a:solidFill>
              </a:rPr>
              <a:t>“</a:t>
            </a:r>
            <a:r>
              <a:rPr lang="ko-KR" altLang="en-US" sz="1200" dirty="0">
                <a:solidFill>
                  <a:srgbClr val="163644"/>
                </a:solidFill>
              </a:rPr>
              <a:t>공용화 관리 항목 정의</a:t>
            </a:r>
            <a:r>
              <a:rPr lang="en-US" altLang="ko-KR" sz="1200" dirty="0">
                <a:solidFill>
                  <a:srgbClr val="163644"/>
                </a:solidFill>
              </a:rPr>
              <a:t>”</a:t>
            </a:r>
            <a:endParaRPr lang="ko-KR" altLang="en-US" sz="1200" dirty="0">
              <a:solidFill>
                <a:srgbClr val="163644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5326DA-077B-DF92-C45B-932FA771D940}"/>
              </a:ext>
            </a:extLst>
          </p:cNvPr>
          <p:cNvSpPr txBox="1"/>
          <p:nvPr/>
        </p:nvSpPr>
        <p:spPr>
          <a:xfrm>
            <a:off x="10846917" y="4174308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=</a:t>
            </a:r>
            <a:endParaRPr lang="ko-KR" altLang="en-US" sz="12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FFF373E-2034-01A4-85D5-3C28DB4213A7}"/>
              </a:ext>
            </a:extLst>
          </p:cNvPr>
          <p:cNvSpPr txBox="1"/>
          <p:nvPr/>
        </p:nvSpPr>
        <p:spPr>
          <a:xfrm>
            <a:off x="10846917" y="5392797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=</a:t>
            </a:r>
            <a:endParaRPr lang="ko-KR" altLang="en-US" sz="12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9C0D08F-47C1-3361-429B-EEF9BF0A2B77}"/>
              </a:ext>
            </a:extLst>
          </p:cNvPr>
          <p:cNvSpPr txBox="1"/>
          <p:nvPr/>
        </p:nvSpPr>
        <p:spPr>
          <a:xfrm>
            <a:off x="8284511" y="3413842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차량 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B776574-5995-2F8F-8269-33C592513056}"/>
              </a:ext>
            </a:extLst>
          </p:cNvPr>
          <p:cNvSpPr txBox="1"/>
          <p:nvPr/>
        </p:nvSpPr>
        <p:spPr>
          <a:xfrm>
            <a:off x="8863562" y="3413842"/>
            <a:ext cx="5405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차량 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865617A-0356-F4A1-1DD5-63365E46B9B5}"/>
              </a:ext>
            </a:extLst>
          </p:cNvPr>
          <p:cNvSpPr txBox="1"/>
          <p:nvPr/>
        </p:nvSpPr>
        <p:spPr>
          <a:xfrm>
            <a:off x="9439406" y="3413842"/>
            <a:ext cx="5389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차량 </a:t>
            </a:r>
            <a:r>
              <a:rPr lang="en-US" altLang="ko-KR" sz="1000" dirty="0"/>
              <a:t>C</a:t>
            </a:r>
            <a:endParaRPr lang="ko-KR" altLang="en-US" sz="10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23A7E28-D36A-3B9C-2E68-EF49CCC40D5B}"/>
              </a:ext>
            </a:extLst>
          </p:cNvPr>
          <p:cNvSpPr txBox="1"/>
          <p:nvPr/>
        </p:nvSpPr>
        <p:spPr>
          <a:xfrm>
            <a:off x="8744263" y="3830186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>
                <a:solidFill>
                  <a:srgbClr val="FF0000"/>
                </a:solidFill>
              </a:rPr>
              <a:t>공용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92A5F18-AC27-6AEF-DBA9-358257B21CA3}"/>
              </a:ext>
            </a:extLst>
          </p:cNvPr>
          <p:cNvSpPr txBox="1"/>
          <p:nvPr/>
        </p:nvSpPr>
        <p:spPr>
          <a:xfrm>
            <a:off x="9303873" y="3830186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>
                <a:solidFill>
                  <a:srgbClr val="FF0000"/>
                </a:solidFill>
              </a:rPr>
              <a:t>공용</a:t>
            </a:r>
          </a:p>
        </p:txBody>
      </p:sp>
    </p:spTree>
    <p:extLst>
      <p:ext uri="{BB962C8B-B14F-4D97-AF65-F5344CB8AC3E}">
        <p14:creationId xmlns:p14="http://schemas.microsoft.com/office/powerpoint/2010/main" val="338749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7EE42-3B0E-E938-CC46-69B02D225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F3BF3EC-ADE5-3ABA-7A18-8FE17FB89238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89A6F70-7002-5C66-DCE6-5833D1A17C25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/>
                </a:solidFill>
                <a:effectLst/>
                <a:uLnTx/>
                <a:uFillTx/>
                <a:latin typeface="Pretendard"/>
                <a:cs typeface="+mn-cs"/>
              </a:rPr>
              <a:t>Part 3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224D60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9DAB1C-C72F-0C1E-0430-0CF3B9F62C0F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srgbClr val="224D60"/>
                </a:solidFill>
                <a:effectLst/>
                <a:uLnTx/>
                <a:uFillTx/>
                <a:latin typeface="Pretendard"/>
                <a:cs typeface="+mn-cs"/>
              </a:rPr>
              <a:t>직무경험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2E0DB1E-3233-D121-1078-F28A454B8EF1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A57782E-D649-7546-8736-CB824AF1F2B2}"/>
              </a:ext>
            </a:extLst>
          </p:cNvPr>
          <p:cNvSpPr/>
          <p:nvPr/>
        </p:nvSpPr>
        <p:spPr>
          <a:xfrm>
            <a:off x="1519456" y="4346935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FA02BDE-CC15-59F0-081B-699776FCDCE7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retendard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EE28C-EBE9-FEE6-A010-169F988B7FFC}"/>
              </a:ext>
            </a:extLst>
          </p:cNvPr>
          <p:cNvGrpSpPr/>
          <p:nvPr/>
        </p:nvGrpSpPr>
        <p:grpSpPr>
          <a:xfrm>
            <a:off x="832088" y="1761072"/>
            <a:ext cx="4996777" cy="4553847"/>
            <a:chOff x="832088" y="1597797"/>
            <a:chExt cx="4996777" cy="455384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04B8792-B50A-B214-6B6B-D0B2AD14572E}"/>
                </a:ext>
              </a:extLst>
            </p:cNvPr>
            <p:cNvSpPr/>
            <p:nvPr/>
          </p:nvSpPr>
          <p:spPr>
            <a:xfrm>
              <a:off x="832088" y="1597797"/>
              <a:ext cx="4996777" cy="4553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/>
                <a:cs typeface="+mn-cs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F898130-F928-16B5-3EA0-3A8EC59BAE65}"/>
                </a:ext>
              </a:extLst>
            </p:cNvPr>
            <p:cNvSpPr txBox="1"/>
            <p:nvPr/>
          </p:nvSpPr>
          <p:spPr>
            <a:xfrm>
              <a:off x="993236" y="1980648"/>
              <a:ext cx="4689107" cy="18488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주요 경쟁사의 </a:t>
              </a:r>
              <a:r>
                <a:rPr lang="ko-KR" altLang="en-US" sz="1200" spc="-150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모듈러시스템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 구성 현황을 파악하고 경쟁사의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EV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플랫폼 별 모듈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Reuse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현황을 분석하여 당사의 모듈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Reuse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전략을 수립하는데 필요한 인사이트를 도출하는 프로젝트입니다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.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아키텍처 전략에 따라 원가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/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중량 에서 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Trade-off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가 발생하기에 원가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/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중량을 최소화하면서 최대의 성능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/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기능을 구현하는 것이 아키텍처 개발의 핵심입니다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.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프로젝트를 통해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 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경쟁사의 주요 아키텍처 전략을 파악하였으며 경쟁사의 도메인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/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시스템 별 공용화율을 도출하고 결과를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분석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함으로써 기업별로 어느 모듈의 공용화율을 높여 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원가를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 절감하였는지 인사이트를 도출하였습니다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.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5B2FFC3-928D-EB24-17EF-D68117F7C1F9}"/>
                </a:ext>
              </a:extLst>
            </p:cNvPr>
            <p:cNvSpPr txBox="1"/>
            <p:nvPr/>
          </p:nvSpPr>
          <p:spPr>
            <a:xfrm>
              <a:off x="993236" y="1674263"/>
              <a:ext cx="119295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spc="-3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 Black"/>
                  <a:ea typeface="+mj-ea"/>
                </a:rPr>
                <a:t>프로젝트 내용</a:t>
              </a:r>
              <a:endParaRPr kumimoji="0" lang="ko-KR" altLang="en-US" sz="1600" b="0" i="0" u="none" strike="noStrike" kern="1200" cap="none" spc="-30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 Black"/>
                <a:ea typeface="+mj-ea"/>
                <a:cs typeface="+mn-cs"/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70BE5421-E9E8-7822-FD15-52DACFD2FA26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1947081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6D0F3C9-97C5-31E0-8850-3744D66667B5}"/>
                </a:ext>
              </a:extLst>
            </p:cNvPr>
            <p:cNvSpPr txBox="1"/>
            <p:nvPr/>
          </p:nvSpPr>
          <p:spPr>
            <a:xfrm>
              <a:off x="993236" y="3877594"/>
              <a:ext cx="8595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 Black"/>
                  <a:ea typeface="+mj-ea"/>
                  <a:cs typeface="+mn-cs"/>
                </a:rPr>
                <a:t>주요 역할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76D97AC5-B076-6E98-B3D1-88AC0F3C55EA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4171135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318CBF-EB98-9151-D969-4567F9D0D355}"/>
                </a:ext>
              </a:extLst>
            </p:cNvPr>
            <p:cNvSpPr txBox="1"/>
            <p:nvPr/>
          </p:nvSpPr>
          <p:spPr>
            <a:xfrm>
              <a:off x="993236" y="4215503"/>
              <a:ext cx="4689107" cy="18488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A2mac1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의 결과보고서 기반의 원천 데이터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(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비정형 데이터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)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를 정형 데이터로 변환하는 데이터 구조화 작업을 수행하였습니다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.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정형 데이터를 기반으로 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EDA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를 통해 분석 방향성 확립에 필요한 인사이트를 도출하였습니다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.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데이터분석을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 활용해 모듈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-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시스템</a:t>
              </a:r>
              <a:r>
                <a:rPr lang="en-US" altLang="ko-KR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-</a:t>
              </a:r>
              <a:r>
                <a:rPr lang="ko-KR" altLang="en-US" sz="1200" spc="-1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/>
                </a:rPr>
                <a:t>도메인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 단위 공용화율을 정량적으로 산출하고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분석 결과를 바탕으로 경쟁사별 핵심 아키텍처 전략을 도출하였습니다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.</a:t>
              </a:r>
            </a:p>
            <a:p>
              <a:pPr marL="171450" marR="0" lvl="0" indent="-171450" algn="just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공용화 지표를 기반으로 주요 지표를 </a:t>
              </a:r>
              <a:r>
                <a:rPr kumimoji="0" lang="ko-KR" altLang="en-US" sz="1200" b="0" i="0" u="none" strike="noStrike" kern="1200" cap="none" spc="-150" normalizeH="0" baseline="0" noProof="0" dirty="0" err="1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시각화하여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, </a:t>
              </a:r>
              <a:r>
                <a:rPr kumimoji="0" lang="ko-KR" altLang="en-US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경쟁사 및 차종 간 구조적 차이를 직관적으로 파악할 수 있도록 분석을 진행하였습니다</a:t>
              </a:r>
              <a:r>
                <a:rPr kumimoji="0" lang="en-US" altLang="ko-KR" sz="1200" b="0" i="0" u="none" strike="noStrike" kern="1200" cap="none" spc="-15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/>
                  <a:cs typeface="+mn-cs"/>
                </a:rPr>
                <a:t>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8372B3F-C1A2-36EF-B017-783D6109F342}"/>
              </a:ext>
            </a:extLst>
          </p:cNvPr>
          <p:cNvSpPr txBox="1"/>
          <p:nvPr/>
        </p:nvSpPr>
        <p:spPr>
          <a:xfrm flipH="1">
            <a:off x="608668" y="794066"/>
            <a:ext cx="487313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spc="-300" dirty="0">
                <a:solidFill>
                  <a:srgbClr val="224D60">
                    <a:lumMod val="50000"/>
                  </a:srgbClr>
                </a:solidFill>
                <a:latin typeface="Pretendard Black"/>
                <a:ea typeface="+mj-ea"/>
              </a:rPr>
              <a:t>프로젝트 </a:t>
            </a:r>
            <a:r>
              <a:rPr lang="en-US" altLang="ko-KR" sz="2000" b="1" spc="-300" dirty="0">
                <a:solidFill>
                  <a:srgbClr val="224D60">
                    <a:lumMod val="50000"/>
                  </a:srgbClr>
                </a:solidFill>
                <a:latin typeface="Pretendard Black"/>
                <a:ea typeface="+mj-ea"/>
              </a:rPr>
              <a:t>1(‘2024.08  ~  ‘2025.10)</a:t>
            </a:r>
            <a:endParaRPr kumimoji="0" lang="en-US" altLang="ko-KR" sz="1600" b="1" i="0" u="none" strike="noStrike" kern="1200" cap="none" spc="-30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Pretendard Black"/>
              <a:ea typeface="+mj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경쟁사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모듈러시스템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Reuse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특성 벤치마킹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srgbClr val="224D60">
                  <a:lumMod val="50000"/>
                </a:srgbClr>
              </a:solidFill>
              <a:effectLst/>
              <a:uLnTx/>
              <a:uFillTx/>
              <a:latin typeface="Pretendard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: BYD/TESLA/Volkswagen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모듈 샘플링 분석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224D60">
                    <a:lumMod val="50000"/>
                  </a:srgbClr>
                </a:solidFill>
                <a:effectLst/>
                <a:uLnTx/>
                <a:uFillTx/>
                <a:latin typeface="Pretendard"/>
                <a:cs typeface="+mn-cs"/>
              </a:rPr>
              <a:t>(w/ A2mac1)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AD7CB2-E06E-8728-2F27-F43F51BC31E9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11</a:t>
            </a:r>
            <a:endParaRPr lang="ko-KR" altLang="en-US" dirty="0">
              <a:solidFill>
                <a:srgbClr val="224D60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11B8F11-D2E3-B179-62B5-9AAB14008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547" y="1216033"/>
            <a:ext cx="2459378" cy="137973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6FF7ED9-43A0-10B3-79B3-FE11382903F4}"/>
              </a:ext>
            </a:extLst>
          </p:cNvPr>
          <p:cNvSpPr txBox="1"/>
          <p:nvPr/>
        </p:nvSpPr>
        <p:spPr>
          <a:xfrm>
            <a:off x="6579808" y="2691580"/>
            <a:ext cx="1701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결과보고서</a:t>
            </a:r>
            <a:r>
              <a:rPr lang="en-US" altLang="ko-KR" sz="1000" dirty="0"/>
              <a:t>(</a:t>
            </a:r>
            <a:r>
              <a:rPr lang="ko-KR" altLang="en-US" sz="1000" dirty="0"/>
              <a:t>비정형 데이터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3195677-97CB-F016-61F0-B1BD2BAF9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019136"/>
              </p:ext>
            </p:extLst>
          </p:nvPr>
        </p:nvGraphicFramePr>
        <p:xfrm>
          <a:off x="9124737" y="1128660"/>
          <a:ext cx="2991066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511">
                  <a:extLst>
                    <a:ext uri="{9D8B030D-6E8A-4147-A177-3AD203B41FA5}">
                      <a16:colId xmlns:a16="http://schemas.microsoft.com/office/drawing/2014/main" val="3643611394"/>
                    </a:ext>
                  </a:extLst>
                </a:gridCol>
                <a:gridCol w="498511">
                  <a:extLst>
                    <a:ext uri="{9D8B030D-6E8A-4147-A177-3AD203B41FA5}">
                      <a16:colId xmlns:a16="http://schemas.microsoft.com/office/drawing/2014/main" val="3465120462"/>
                    </a:ext>
                  </a:extLst>
                </a:gridCol>
                <a:gridCol w="498511">
                  <a:extLst>
                    <a:ext uri="{9D8B030D-6E8A-4147-A177-3AD203B41FA5}">
                      <a16:colId xmlns:a16="http://schemas.microsoft.com/office/drawing/2014/main" val="2884023622"/>
                    </a:ext>
                  </a:extLst>
                </a:gridCol>
                <a:gridCol w="498511">
                  <a:extLst>
                    <a:ext uri="{9D8B030D-6E8A-4147-A177-3AD203B41FA5}">
                      <a16:colId xmlns:a16="http://schemas.microsoft.com/office/drawing/2014/main" val="571434791"/>
                    </a:ext>
                  </a:extLst>
                </a:gridCol>
                <a:gridCol w="498511">
                  <a:extLst>
                    <a:ext uri="{9D8B030D-6E8A-4147-A177-3AD203B41FA5}">
                      <a16:colId xmlns:a16="http://schemas.microsoft.com/office/drawing/2014/main" val="2422075853"/>
                    </a:ext>
                  </a:extLst>
                </a:gridCol>
                <a:gridCol w="498511">
                  <a:extLst>
                    <a:ext uri="{9D8B030D-6E8A-4147-A177-3AD203B41FA5}">
                      <a16:colId xmlns:a16="http://schemas.microsoft.com/office/drawing/2014/main" val="522331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rgbClr val="FFFFFF"/>
                          </a:solidFill>
                        </a:rPr>
                        <a:t>Maker</a:t>
                      </a:r>
                      <a:endParaRPr lang="ko-KR" altLang="en-US" sz="6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solidFill>
                            <a:srgbClr val="FFFFFF"/>
                          </a:solidFill>
                        </a:rPr>
                        <a:t>도메인</a:t>
                      </a: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solidFill>
                            <a:srgbClr val="FFFFFF"/>
                          </a:solidFill>
                        </a:rPr>
                        <a:t>모듈</a:t>
                      </a: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 err="1">
                          <a:solidFill>
                            <a:srgbClr val="FFFFFF"/>
                          </a:solidFill>
                        </a:rPr>
                        <a:t>세부모듈</a:t>
                      </a:r>
                      <a:endParaRPr lang="ko-KR" altLang="en-US" sz="6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ko-KR" altLang="en-US" sz="600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dirty="0">
                          <a:solidFill>
                            <a:srgbClr val="FFFFFF"/>
                          </a:solidFill>
                        </a:rPr>
                        <a:t>공용화율</a:t>
                      </a:r>
                    </a:p>
                  </a:txBody>
                  <a:tcPr anchor="ctr">
                    <a:solidFill>
                      <a:srgbClr val="163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02827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Tesla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Power Electric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 Enc.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1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0.7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459858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dirty="0"/>
                        <a:t>Tesla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Power Electric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 Enc.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2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0.7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233475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Tesla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Power Electric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 Enc.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3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0.6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452181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Tesla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Power Electric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 Enc.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4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0.5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488735"/>
                  </a:ext>
                </a:extLst>
              </a:tr>
              <a:tr h="1685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Tesla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Power Electric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Battery Enc.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5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0.4</a:t>
                      </a:r>
                      <a:endParaRPr lang="ko-KR" altLang="en-US" sz="600" dirty="0"/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53204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AEEEE7E-C3C0-BDFD-74FE-103938940DF9}"/>
              </a:ext>
            </a:extLst>
          </p:cNvPr>
          <p:cNvSpPr txBox="1"/>
          <p:nvPr/>
        </p:nvSpPr>
        <p:spPr>
          <a:xfrm>
            <a:off x="10192909" y="2691580"/>
            <a:ext cx="854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정형 데이터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F5BF3F6-5026-907B-580E-9A3729C1E388}"/>
              </a:ext>
            </a:extLst>
          </p:cNvPr>
          <p:cNvCxnSpPr>
            <a:cxnSpLocks/>
          </p:cNvCxnSpPr>
          <p:nvPr/>
        </p:nvCxnSpPr>
        <p:spPr>
          <a:xfrm>
            <a:off x="8582790" y="1905900"/>
            <a:ext cx="545691" cy="0"/>
          </a:xfrm>
          <a:prstGeom prst="straightConnector1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7443F1F-C4B3-CA07-8AE2-F7C610BF1630}"/>
              </a:ext>
            </a:extLst>
          </p:cNvPr>
          <p:cNvSpPr txBox="1"/>
          <p:nvPr/>
        </p:nvSpPr>
        <p:spPr>
          <a:xfrm>
            <a:off x="9043048" y="4806082"/>
            <a:ext cx="19672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163644"/>
                </a:solidFill>
              </a:rPr>
              <a:t>세부 모듈 레벨별 공용화율 산출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7E3C3A-B97A-7B6F-1A96-D10DA7C0806A}"/>
              </a:ext>
            </a:extLst>
          </p:cNvPr>
          <p:cNvSpPr txBox="1"/>
          <p:nvPr/>
        </p:nvSpPr>
        <p:spPr>
          <a:xfrm>
            <a:off x="9121595" y="3978417"/>
            <a:ext cx="1810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163644"/>
                </a:solidFill>
              </a:rPr>
              <a:t>도메인 레벨별 공용화율 산출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5A3071-17B8-EA00-1690-50922349DD4E}"/>
              </a:ext>
            </a:extLst>
          </p:cNvPr>
          <p:cNvSpPr txBox="1"/>
          <p:nvPr/>
        </p:nvSpPr>
        <p:spPr>
          <a:xfrm>
            <a:off x="9121595" y="3564584"/>
            <a:ext cx="1810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163644"/>
                </a:solidFill>
              </a:rPr>
              <a:t>Maker </a:t>
            </a:r>
            <a:r>
              <a:rPr lang="ko-KR" altLang="en-US" sz="1000" b="1" dirty="0">
                <a:solidFill>
                  <a:srgbClr val="163644"/>
                </a:solidFill>
              </a:rPr>
              <a:t>레벨별 공용화율 산출</a:t>
            </a:r>
          </a:p>
        </p:txBody>
      </p: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7AB439F0-C9B0-FC34-5BC5-14E3C25D5ED6}"/>
              </a:ext>
            </a:extLst>
          </p:cNvPr>
          <p:cNvSpPr/>
          <p:nvPr/>
        </p:nvSpPr>
        <p:spPr>
          <a:xfrm>
            <a:off x="8866845" y="2888201"/>
            <a:ext cx="343524" cy="3879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아래쪽 35">
            <a:extLst>
              <a:ext uri="{FF2B5EF4-FFF2-40B4-BE49-F238E27FC236}">
                <a16:creationId xmlns:a16="http://schemas.microsoft.com/office/drawing/2014/main" id="{1E728663-1326-437F-CEBE-FBDCC4CFC598}"/>
              </a:ext>
            </a:extLst>
          </p:cNvPr>
          <p:cNvSpPr/>
          <p:nvPr/>
        </p:nvSpPr>
        <p:spPr>
          <a:xfrm>
            <a:off x="8866845" y="5405497"/>
            <a:ext cx="343524" cy="3879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23F368-C11D-2F85-DBD7-2A146673C034}"/>
              </a:ext>
            </a:extLst>
          </p:cNvPr>
          <p:cNvSpPr txBox="1"/>
          <p:nvPr/>
        </p:nvSpPr>
        <p:spPr>
          <a:xfrm>
            <a:off x="7030203" y="6037920"/>
            <a:ext cx="40286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데이터분석 기반의 경쟁사 아키텍처 전략 인사이트 도출</a:t>
            </a:r>
            <a:r>
              <a:rPr lang="en-US" altLang="ko-KR" sz="1200" dirty="0"/>
              <a:t>”</a:t>
            </a:r>
            <a:endParaRPr lang="ko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50AEB4-5C3D-80DA-94FB-A83BE7EE20C6}"/>
              </a:ext>
            </a:extLst>
          </p:cNvPr>
          <p:cNvSpPr txBox="1"/>
          <p:nvPr/>
        </p:nvSpPr>
        <p:spPr>
          <a:xfrm>
            <a:off x="8292541" y="2016630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163644"/>
                </a:solidFill>
              </a:rPr>
              <a:t>데이터 구조화</a:t>
            </a:r>
            <a:endParaRPr lang="en-US" altLang="ko-KR" sz="1000" b="1" dirty="0">
              <a:solidFill>
                <a:srgbClr val="163644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163644"/>
                </a:solidFill>
              </a:rPr>
              <a:t>(Data Structuring)</a:t>
            </a:r>
            <a:endParaRPr lang="ko-KR" altLang="en-US" sz="1000" b="1" dirty="0">
              <a:solidFill>
                <a:srgbClr val="163644"/>
              </a:solidFill>
            </a:endParaRPr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40518518-00F3-1609-898A-D8033CC74F9D}"/>
              </a:ext>
            </a:extLst>
          </p:cNvPr>
          <p:cNvSpPr/>
          <p:nvPr/>
        </p:nvSpPr>
        <p:spPr>
          <a:xfrm>
            <a:off x="7030203" y="3423491"/>
            <a:ext cx="1959164" cy="1688935"/>
          </a:xfrm>
          <a:prstGeom prst="triangl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BC911AE6-7DFC-3835-8B52-4D44DF3F5AF9}"/>
              </a:ext>
            </a:extLst>
          </p:cNvPr>
          <p:cNvSpPr/>
          <p:nvPr/>
        </p:nvSpPr>
        <p:spPr>
          <a:xfrm>
            <a:off x="7242752" y="3423491"/>
            <a:ext cx="1534065" cy="1322469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76A0E198-935A-CE17-7D1A-034A3CCD7680}"/>
              </a:ext>
            </a:extLst>
          </p:cNvPr>
          <p:cNvSpPr/>
          <p:nvPr/>
        </p:nvSpPr>
        <p:spPr>
          <a:xfrm>
            <a:off x="7442279" y="3416074"/>
            <a:ext cx="1133910" cy="977509"/>
          </a:xfrm>
          <a:prstGeom prst="triangl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9ED45B7D-BE7C-429E-C7F5-4F3CD31924B2}"/>
              </a:ext>
            </a:extLst>
          </p:cNvPr>
          <p:cNvSpPr/>
          <p:nvPr/>
        </p:nvSpPr>
        <p:spPr>
          <a:xfrm>
            <a:off x="7678840" y="3423491"/>
            <a:ext cx="660787" cy="56964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C8F24C-0D01-CD1C-257C-C61A70DBEA43}"/>
              </a:ext>
            </a:extLst>
          </p:cNvPr>
          <p:cNvSpPr txBox="1"/>
          <p:nvPr/>
        </p:nvSpPr>
        <p:spPr>
          <a:xfrm>
            <a:off x="7781818" y="480608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모듈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82ABCC-0C67-2CA5-DC89-150CBB7534B6}"/>
              </a:ext>
            </a:extLst>
          </p:cNvPr>
          <p:cNvSpPr txBox="1"/>
          <p:nvPr/>
        </p:nvSpPr>
        <p:spPr>
          <a:xfrm>
            <a:off x="7525338" y="4459524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2F2F2"/>
                </a:solidFill>
              </a:rPr>
              <a:t>모듈러시스템</a:t>
            </a:r>
            <a:endParaRPr lang="ko-KR" altLang="en-US" sz="1000" dirty="0">
              <a:solidFill>
                <a:srgbClr val="F2F2F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A9694A-BB48-15E5-824A-4E9B01526A44}"/>
              </a:ext>
            </a:extLst>
          </p:cNvPr>
          <p:cNvSpPr txBox="1"/>
          <p:nvPr/>
        </p:nvSpPr>
        <p:spPr>
          <a:xfrm>
            <a:off x="7717698" y="4070796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도메인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E729DD-B908-5A39-42DE-47C3D1F0695A}"/>
              </a:ext>
            </a:extLst>
          </p:cNvPr>
          <p:cNvSpPr txBox="1"/>
          <p:nvPr/>
        </p:nvSpPr>
        <p:spPr>
          <a:xfrm>
            <a:off x="7741743" y="3668494"/>
            <a:ext cx="5212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2F2F2"/>
                </a:solidFill>
              </a:rPr>
              <a:t>Maker</a:t>
            </a:r>
            <a:endParaRPr lang="ko-KR" altLang="en-US" sz="1000" dirty="0">
              <a:solidFill>
                <a:srgbClr val="F2F2F2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E44C1FF6-480A-8EF4-82B8-CB702F02FAED}"/>
              </a:ext>
            </a:extLst>
          </p:cNvPr>
          <p:cNvCxnSpPr>
            <a:cxnSpLocks/>
          </p:cNvCxnSpPr>
          <p:nvPr/>
        </p:nvCxnSpPr>
        <p:spPr>
          <a:xfrm flipV="1">
            <a:off x="10026650" y="3760685"/>
            <a:ext cx="0" cy="214782"/>
          </a:xfrm>
          <a:prstGeom prst="straightConnector1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6131981-CD1A-32D7-241F-8D969C33F9F8}"/>
              </a:ext>
            </a:extLst>
          </p:cNvPr>
          <p:cNvCxnSpPr>
            <a:cxnSpLocks/>
          </p:cNvCxnSpPr>
          <p:nvPr/>
        </p:nvCxnSpPr>
        <p:spPr>
          <a:xfrm flipV="1">
            <a:off x="10026650" y="4182044"/>
            <a:ext cx="0" cy="214782"/>
          </a:xfrm>
          <a:prstGeom prst="straightConnector1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C1ABCB-50B3-2D99-6677-C6A41E651E5D}"/>
              </a:ext>
            </a:extLst>
          </p:cNvPr>
          <p:cNvSpPr txBox="1"/>
          <p:nvPr/>
        </p:nvSpPr>
        <p:spPr>
          <a:xfrm>
            <a:off x="8760922" y="4392250"/>
            <a:ext cx="25314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err="1">
                <a:solidFill>
                  <a:srgbClr val="163644"/>
                </a:solidFill>
              </a:rPr>
              <a:t>모듈러시스템</a:t>
            </a:r>
            <a:r>
              <a:rPr lang="en-US" altLang="ko-KR" sz="1000" b="1" dirty="0">
                <a:solidFill>
                  <a:srgbClr val="163644"/>
                </a:solidFill>
              </a:rPr>
              <a:t>(</a:t>
            </a:r>
            <a:r>
              <a:rPr lang="ko-KR" altLang="en-US" sz="1000" b="1" dirty="0">
                <a:solidFill>
                  <a:srgbClr val="163644"/>
                </a:solidFill>
              </a:rPr>
              <a:t>모듈</a:t>
            </a:r>
            <a:r>
              <a:rPr lang="en-US" altLang="ko-KR" sz="1000" b="1" dirty="0">
                <a:solidFill>
                  <a:srgbClr val="163644"/>
                </a:solidFill>
              </a:rPr>
              <a:t>)</a:t>
            </a:r>
            <a:r>
              <a:rPr lang="ko-KR" altLang="en-US" sz="1000" b="1" dirty="0">
                <a:solidFill>
                  <a:srgbClr val="163644"/>
                </a:solidFill>
              </a:rPr>
              <a:t> 레벨별 공용화율 산출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262E862A-B426-B4EA-4C94-452B3706E96B}"/>
              </a:ext>
            </a:extLst>
          </p:cNvPr>
          <p:cNvCxnSpPr>
            <a:cxnSpLocks/>
          </p:cNvCxnSpPr>
          <p:nvPr/>
        </p:nvCxnSpPr>
        <p:spPr>
          <a:xfrm flipV="1">
            <a:off x="10026650" y="4603403"/>
            <a:ext cx="0" cy="214782"/>
          </a:xfrm>
          <a:prstGeom prst="straightConnector1">
            <a:avLst/>
          </a:prstGeom>
          <a:ln w="19050" cap="flat" cmpd="sng" algn="ctr">
            <a:solidFill>
              <a:srgbClr val="16364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225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D379F-0D7A-E10A-C2FD-B3F877B38412}"/>
              </a:ext>
            </a:extLst>
          </p:cNvPr>
          <p:cNvSpPr txBox="1"/>
          <p:nvPr/>
        </p:nvSpPr>
        <p:spPr>
          <a:xfrm>
            <a:off x="6817895" y="428138"/>
            <a:ext cx="41857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0" b="1" dirty="0">
                <a:solidFill>
                  <a:schemeClr val="bg1"/>
                </a:solidFill>
                <a:latin typeface="+mj-ea"/>
                <a:ea typeface="+mj-ea"/>
              </a:rPr>
              <a:t>4. </a:t>
            </a:r>
            <a:r>
              <a:rPr lang="ko-KR" altLang="en-US" sz="4800" b="1" dirty="0">
                <a:solidFill>
                  <a:schemeClr val="bg1"/>
                </a:solidFill>
                <a:latin typeface="+mj-ea"/>
                <a:ea typeface="+mj-ea"/>
              </a:rPr>
              <a:t>졸업논문</a:t>
            </a:r>
            <a:endParaRPr lang="ko-KR" altLang="en-US" sz="1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F2969-8E1F-0403-B6B6-037C4B0D5DB2}"/>
              </a:ext>
            </a:extLst>
          </p:cNvPr>
          <p:cNvSpPr txBox="1"/>
          <p:nvPr/>
        </p:nvSpPr>
        <p:spPr>
          <a:xfrm>
            <a:off x="6817895" y="2044280"/>
            <a:ext cx="225254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  <a:latin typeface="+mn-ea"/>
              </a:rPr>
              <a:t>졸업논문</a:t>
            </a:r>
            <a:endParaRPr lang="en-US" altLang="ko-KR" sz="3600" b="1" spc="-30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/>
                <a:cs typeface="+mn-cs"/>
              </a:rPr>
              <a:t>2021.03.02 – 2021.06.16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894119-F233-DC33-68F5-7374CF0E569E}"/>
              </a:ext>
            </a:extLst>
          </p:cNvPr>
          <p:cNvCxnSpPr>
            <a:cxnSpLocks/>
          </p:cNvCxnSpPr>
          <p:nvPr/>
        </p:nvCxnSpPr>
        <p:spPr>
          <a:xfrm>
            <a:off x="6817895" y="3029891"/>
            <a:ext cx="537410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1021128-BA25-D6FF-656C-87D086ADE451}"/>
              </a:ext>
            </a:extLst>
          </p:cNvPr>
          <p:cNvCxnSpPr>
            <a:cxnSpLocks/>
          </p:cNvCxnSpPr>
          <p:nvPr/>
        </p:nvCxnSpPr>
        <p:spPr>
          <a:xfrm>
            <a:off x="6817895" y="3278544"/>
            <a:ext cx="537410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4B1C5-1DD9-AF15-DE3F-02859903813A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98A04-BDAA-54E1-330F-39495AD7A569}"/>
              </a:ext>
            </a:extLst>
          </p:cNvPr>
          <p:cNvSpPr txBox="1"/>
          <p:nvPr/>
        </p:nvSpPr>
        <p:spPr>
          <a:xfrm>
            <a:off x="6817895" y="3311535"/>
            <a:ext cx="54617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FFFFFF"/>
                </a:solidFill>
              </a:rPr>
              <a:t>회귀모델을 통한 국내 의사 수 적정성 평가 연구</a:t>
            </a:r>
            <a:endParaRPr lang="en-US" altLang="ko-KR" sz="2000" dirty="0">
              <a:solidFill>
                <a:srgbClr val="FFFFFF"/>
              </a:solidFill>
            </a:endParaRPr>
          </a:p>
          <a:p>
            <a:r>
              <a:rPr lang="en-US" altLang="ko-KR" sz="2000" dirty="0">
                <a:solidFill>
                  <a:srgbClr val="FFFFFF"/>
                </a:solidFill>
              </a:rPr>
              <a:t>: OECD </a:t>
            </a:r>
            <a:r>
              <a:rPr lang="ko-KR" altLang="en-US" sz="2000" dirty="0">
                <a:solidFill>
                  <a:srgbClr val="FFFFFF"/>
                </a:solidFill>
              </a:rPr>
              <a:t>국가들의 데이터를 중심으로</a:t>
            </a:r>
            <a:endParaRPr lang="en-US" altLang="ko-KR" sz="2000" dirty="0">
              <a:solidFill>
                <a:srgbClr val="FFFFFF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B3A508A-E632-DDFE-5206-09B6CDC2DFEB}"/>
              </a:ext>
            </a:extLst>
          </p:cNvPr>
          <p:cNvCxnSpPr>
            <a:cxnSpLocks/>
          </p:cNvCxnSpPr>
          <p:nvPr/>
        </p:nvCxnSpPr>
        <p:spPr>
          <a:xfrm>
            <a:off x="822960" y="4803074"/>
            <a:ext cx="2638697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DCDB49-3030-FCC7-FCDB-166FEBE60B2B}"/>
              </a:ext>
            </a:extLst>
          </p:cNvPr>
          <p:cNvSpPr txBox="1"/>
          <p:nvPr/>
        </p:nvSpPr>
        <p:spPr>
          <a:xfrm>
            <a:off x="719718" y="4902696"/>
            <a:ext cx="83132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FFFF"/>
                </a:solidFill>
              </a:rPr>
              <a:t>ABOUT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FFFFF"/>
                </a:solidFill>
              </a:rPr>
              <a:t>우리나라의 적정 의사 수 논쟁과 관련해 데이터분석 및 </a:t>
            </a:r>
            <a:r>
              <a:rPr lang="ko-KR" altLang="en-US" sz="1600" dirty="0" err="1">
                <a:solidFill>
                  <a:srgbClr val="FFFFFF"/>
                </a:solidFill>
              </a:rPr>
              <a:t>머신러닝을</a:t>
            </a:r>
            <a:r>
              <a:rPr lang="ko-KR" altLang="en-US" sz="1600" dirty="0">
                <a:solidFill>
                  <a:srgbClr val="FFFFFF"/>
                </a:solidFill>
              </a:rPr>
              <a:t> 활용하여 예측</a:t>
            </a:r>
            <a:r>
              <a:rPr lang="en-US" altLang="ko-KR" sz="1600" dirty="0">
                <a:solidFill>
                  <a:srgbClr val="FFFFFF"/>
                </a:solidFill>
              </a:rPr>
              <a:t>, </a:t>
            </a:r>
            <a:r>
              <a:rPr lang="ko-KR" altLang="en-US" sz="1600" dirty="0">
                <a:solidFill>
                  <a:srgbClr val="FFFFFF"/>
                </a:solidFill>
              </a:rPr>
              <a:t>분석하는 졸업논문을 작성하였습니다</a:t>
            </a:r>
            <a:r>
              <a:rPr lang="en-US" altLang="ko-KR" sz="16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354B27-BE25-FECC-A7A9-F81A4F23AD81}"/>
              </a:ext>
            </a:extLst>
          </p:cNvPr>
          <p:cNvSpPr txBox="1"/>
          <p:nvPr/>
        </p:nvSpPr>
        <p:spPr>
          <a:xfrm>
            <a:off x="95250" y="6406106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12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343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4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연구경험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EAEBA4-A062-AB51-F778-8EE3BFDB19B3}"/>
              </a:ext>
            </a:extLst>
          </p:cNvPr>
          <p:cNvSpPr/>
          <p:nvPr/>
        </p:nvSpPr>
        <p:spPr>
          <a:xfrm>
            <a:off x="1519456" y="4346935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260D79-7475-6715-BDA6-64A5CCD5C7AF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B53D022-24AA-2A70-D44A-9B65B2D45C82}"/>
              </a:ext>
            </a:extLst>
          </p:cNvPr>
          <p:cNvGrpSpPr/>
          <p:nvPr/>
        </p:nvGrpSpPr>
        <p:grpSpPr>
          <a:xfrm>
            <a:off x="832088" y="1761072"/>
            <a:ext cx="4996777" cy="4553847"/>
            <a:chOff x="832088" y="1597797"/>
            <a:chExt cx="4996777" cy="455384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70347D9-189F-0104-ED73-22A5F2F2B005}"/>
                </a:ext>
              </a:extLst>
            </p:cNvPr>
            <p:cNvSpPr/>
            <p:nvPr/>
          </p:nvSpPr>
          <p:spPr>
            <a:xfrm>
              <a:off x="832088" y="1597797"/>
              <a:ext cx="4996777" cy="4553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11BB8D-7977-A914-E874-5CC672567CF5}"/>
                </a:ext>
              </a:extLst>
            </p:cNvPr>
            <p:cNvSpPr txBox="1"/>
            <p:nvPr/>
          </p:nvSpPr>
          <p:spPr>
            <a:xfrm>
              <a:off x="993236" y="1980648"/>
              <a:ext cx="4689107" cy="162724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15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OECD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국가의 데이터를 기준으로 학습한 모델에 우리나라 데이터를 대입하여 우리나라 평균 의사 수가 적절한 지 연구하였습니다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 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해당 연도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(2021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년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의 국가별 데이터는 자료가 발표되지 않은 상황이었기에 과거의 자료를 토대로 시계열분석을 통해 예측한 데이터를 사용하였습니다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 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2021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년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15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개국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OECD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국가 기준으로 분석한 우리나라의 적정 의사 수는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1000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 당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3.53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명으로 실제 의사 수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2.56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 보다 약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인구 수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1000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 기준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이 더 필요한 결과를 도출하였습니다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EB1CA75-265E-0FEC-A477-82E2D5EA2F26}"/>
                </a:ext>
              </a:extLst>
            </p:cNvPr>
            <p:cNvSpPr txBox="1"/>
            <p:nvPr/>
          </p:nvSpPr>
          <p:spPr>
            <a:xfrm>
              <a:off x="993236" y="1674263"/>
              <a:ext cx="8515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spc="-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연구요약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883E6387-B451-D9F2-D683-3DFEE89411F8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1947081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7F9DDB-CE62-34C1-0289-392BAF87382A}"/>
                </a:ext>
              </a:extLst>
            </p:cNvPr>
            <p:cNvSpPr txBox="1"/>
            <p:nvPr/>
          </p:nvSpPr>
          <p:spPr>
            <a:xfrm>
              <a:off x="993236" y="3877594"/>
              <a:ext cx="8595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spc="-3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주요 역할</a:t>
              </a:r>
              <a:endPara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EBFFE9A-DA7D-CA3B-F172-F16CDF9BBA89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4171135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7227AF-152D-81C7-5148-A6115B3DC80B}"/>
                </a:ext>
              </a:extLst>
            </p:cNvPr>
            <p:cNvSpPr txBox="1"/>
            <p:nvPr/>
          </p:nvSpPr>
          <p:spPr>
            <a:xfrm>
              <a:off x="993236" y="4215503"/>
              <a:ext cx="4689107" cy="184883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MICE(Multiple Imputation by Chained Equations)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를 활용하여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결측치를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보완하고 분석 가능한 데이터셋을 구축하였습니다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VIF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기반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다중공선성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분석을 통해 회귀모델 입력 변수의 안정성 검증을 진행하였습니다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Adjusted R-Squared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를 기준으로 모델 후보군을 비교하여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차 회귀모델을 채택하였습니다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데이터셋 규모 제약으로 인해 전체 데이터를 학습에 활용하고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작업부하량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접근법을 적용한 검증 방식으로 모델 유효성을 검증하였습니다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0E08C3B-B534-4BB2-9210-BAA9A1A558F5}"/>
              </a:ext>
            </a:extLst>
          </p:cNvPr>
          <p:cNvSpPr txBox="1"/>
          <p:nvPr/>
        </p:nvSpPr>
        <p:spPr>
          <a:xfrm flipH="1">
            <a:off x="608668" y="794066"/>
            <a:ext cx="487313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졸업논문</a:t>
            </a:r>
            <a:endParaRPr lang="en-US" altLang="ko-KR" sz="2000" b="1" spc="-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16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  <a:hlinkClick r:id="rId2"/>
              </a:rPr>
              <a:t>회귀모델을 통한 국내 의사 수 적정성 평가 연구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  <a:hlinkClick r:id="rId2"/>
            </a:endParaRPr>
          </a:p>
          <a:p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  <a:hlinkClick r:id="rId2"/>
              </a:rPr>
              <a:t>: OECD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  <a:hlinkClick r:id="rId2"/>
              </a:rPr>
              <a:t>국가들의 데이터를 중심으로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BEC7A98-3C9C-3545-E706-C28C526E1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900" y="804082"/>
            <a:ext cx="3809425" cy="5510837"/>
          </a:xfrm>
          <a:prstGeom prst="rect">
            <a:avLst/>
          </a:prstGeom>
        </p:spPr>
      </p:pic>
      <p:sp>
        <p:nvSpPr>
          <p:cNvPr id="13" name="TextBox 12">
            <a:hlinkClick r:id="rId4" action="ppaction://hlinkfile"/>
            <a:extLst>
              <a:ext uri="{FF2B5EF4-FFF2-40B4-BE49-F238E27FC236}">
                <a16:creationId xmlns:a16="http://schemas.microsoft.com/office/drawing/2014/main" id="{3FC9D935-772A-D0D2-6680-F954C1502306}"/>
              </a:ext>
            </a:extLst>
          </p:cNvPr>
          <p:cNvSpPr txBox="1"/>
          <p:nvPr/>
        </p:nvSpPr>
        <p:spPr>
          <a:xfrm>
            <a:off x="9753600" y="6384583"/>
            <a:ext cx="22796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논문 링크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2"/>
              </a:rPr>
              <a:t>http://naver.me/xUFv3vkw</a:t>
            </a:r>
            <a:endParaRPr lang="ko-KR" altLang="en-US" sz="1000" dirty="0"/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B70E22A4-A619-0A62-A48C-32D41AF56221}"/>
              </a:ext>
            </a:extLst>
          </p:cNvPr>
          <p:cNvSpPr txBox="1"/>
          <p:nvPr/>
        </p:nvSpPr>
        <p:spPr>
          <a:xfrm>
            <a:off x="8149506" y="1737138"/>
            <a:ext cx="2110212" cy="276999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</a:t>
            </a:r>
            <a:r>
              <a:rPr lang="ko-KR" alt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다중공선성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 분석</a:t>
            </a:r>
            <a:endParaRPr lang="en-US" sz="1200" dirty="0"/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C2A0E252-D319-980A-A778-C51F2D6A6BF0}"/>
              </a:ext>
            </a:extLst>
          </p:cNvPr>
          <p:cNvSpPr txBox="1"/>
          <p:nvPr/>
        </p:nvSpPr>
        <p:spPr>
          <a:xfrm>
            <a:off x="7683427" y="5663570"/>
            <a:ext cx="3042369" cy="43858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각 모델을 통해 분석한 결과</a:t>
            </a:r>
            <a:endParaRPr lang="en-US" altLang="ko-KR" sz="1200" dirty="0">
              <a:solidFill>
                <a:srgbClr val="000000"/>
              </a:solidFill>
              <a:latin typeface="Noto Sans CJK KR Regular" pitchFamily="34" charset="0"/>
              <a:cs typeface="Noto Sans CJK KR Regular" pitchFamily="34" charset="0"/>
            </a:endParaRPr>
          </a:p>
          <a:p>
            <a:pPr algn="ctr"/>
            <a:r>
              <a:rPr lang="en-US" sz="1000" dirty="0">
                <a:solidFill>
                  <a:srgbClr val="000000"/>
                </a:solidFill>
                <a:latin typeface="Noto Sans CJK KR Regular" pitchFamily="34" charset="0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Noto Sans CJK KR Regular" pitchFamily="34" charset="0"/>
              </a:rPr>
              <a:t>단위</a:t>
            </a:r>
            <a:r>
              <a:rPr lang="en-US" altLang="ko-KR" sz="1000" dirty="0">
                <a:solidFill>
                  <a:srgbClr val="000000"/>
                </a:solidFill>
                <a:latin typeface="Noto Sans CJK KR Regular" pitchFamily="34" charset="0"/>
              </a:rPr>
              <a:t>: 1000</a:t>
            </a:r>
            <a:r>
              <a:rPr lang="ko-KR" altLang="en-US" sz="1000" dirty="0">
                <a:solidFill>
                  <a:srgbClr val="000000"/>
                </a:solidFill>
                <a:latin typeface="Noto Sans CJK KR Regular" pitchFamily="34" charset="0"/>
              </a:rPr>
              <a:t>명 당</a:t>
            </a:r>
            <a:r>
              <a:rPr lang="en-US" altLang="ko-KR" sz="1000" dirty="0">
                <a:solidFill>
                  <a:srgbClr val="000000"/>
                </a:solidFill>
                <a:latin typeface="Noto Sans CJK KR Regular" pitchFamily="34" charset="0"/>
              </a:rPr>
              <a:t>)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F66110-5AD1-B7AB-ABF2-462AA8190542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13</a:t>
            </a:r>
            <a:endParaRPr lang="ko-KR" altLang="en-US" dirty="0">
              <a:solidFill>
                <a:srgbClr val="224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420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D379F-0D7A-E10A-C2FD-B3F877B38412}"/>
              </a:ext>
            </a:extLst>
          </p:cNvPr>
          <p:cNvSpPr txBox="1"/>
          <p:nvPr/>
        </p:nvSpPr>
        <p:spPr>
          <a:xfrm>
            <a:off x="6817895" y="428138"/>
            <a:ext cx="41857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0" b="1" dirty="0">
                <a:solidFill>
                  <a:schemeClr val="bg1"/>
                </a:solidFill>
                <a:latin typeface="+mj-ea"/>
                <a:ea typeface="+mj-ea"/>
              </a:rPr>
              <a:t>5. </a:t>
            </a:r>
            <a:r>
              <a:rPr lang="ko-KR" altLang="en-US" sz="4800" b="1" dirty="0">
                <a:solidFill>
                  <a:schemeClr val="bg1"/>
                </a:solidFill>
                <a:latin typeface="+mj-ea"/>
                <a:ea typeface="+mj-ea"/>
              </a:rPr>
              <a:t>연구경험</a:t>
            </a:r>
            <a:endParaRPr lang="ko-KR" altLang="en-US" sz="1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F2969-8E1F-0403-B6B6-037C4B0D5DB2}"/>
              </a:ext>
            </a:extLst>
          </p:cNvPr>
          <p:cNvSpPr txBox="1"/>
          <p:nvPr/>
        </p:nvSpPr>
        <p:spPr>
          <a:xfrm>
            <a:off x="6817895" y="2044280"/>
            <a:ext cx="454804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  <a:latin typeface="+mn-ea"/>
              </a:rPr>
              <a:t>카이스트 연구실 인턴십</a:t>
            </a:r>
            <a:endParaRPr lang="en-US" altLang="ko-KR" sz="3600" b="1" spc="-3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FFFFFF"/>
                </a:solidFill>
              </a:rPr>
              <a:t>2023.12.18 – 2024.02.16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894119-F233-DC33-68F5-7374CF0E569E}"/>
              </a:ext>
            </a:extLst>
          </p:cNvPr>
          <p:cNvCxnSpPr>
            <a:cxnSpLocks/>
          </p:cNvCxnSpPr>
          <p:nvPr/>
        </p:nvCxnSpPr>
        <p:spPr>
          <a:xfrm>
            <a:off x="6817895" y="3036947"/>
            <a:ext cx="537410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1021128-BA25-D6FF-656C-87D086ADE451}"/>
              </a:ext>
            </a:extLst>
          </p:cNvPr>
          <p:cNvCxnSpPr>
            <a:cxnSpLocks/>
          </p:cNvCxnSpPr>
          <p:nvPr/>
        </p:nvCxnSpPr>
        <p:spPr>
          <a:xfrm>
            <a:off x="6817895" y="3285600"/>
            <a:ext cx="537410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4B1C5-1DD9-AF15-DE3F-02859903813A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98A04-BDAA-54E1-330F-39495AD7A569}"/>
              </a:ext>
            </a:extLst>
          </p:cNvPr>
          <p:cNvSpPr txBox="1"/>
          <p:nvPr/>
        </p:nvSpPr>
        <p:spPr>
          <a:xfrm>
            <a:off x="6817895" y="3318591"/>
            <a:ext cx="45995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solidFill>
                  <a:srgbClr val="FFFFFF"/>
                </a:solidFill>
              </a:rPr>
              <a:t>RELATION EXTRACTION </a:t>
            </a:r>
            <a:r>
              <a:rPr lang="ko-KR" altLang="en-US" sz="2000" dirty="0">
                <a:solidFill>
                  <a:srgbClr val="FFFFFF"/>
                </a:solidFill>
              </a:rPr>
              <a:t>프로젝트 참여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solidFill>
                  <a:srgbClr val="FFFFFF"/>
                </a:solidFill>
              </a:rPr>
              <a:t>LAB</a:t>
            </a:r>
            <a:r>
              <a:rPr lang="ko-KR" altLang="en-US" sz="2000" dirty="0">
                <a:solidFill>
                  <a:srgbClr val="FFFFFF"/>
                </a:solidFill>
              </a:rPr>
              <a:t> 스터디</a:t>
            </a:r>
            <a:endParaRPr lang="en-US" altLang="ko-KR" sz="2000" dirty="0">
              <a:solidFill>
                <a:srgbClr val="FFFFFF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B3A508A-E632-DDFE-5206-09B6CDC2DFEB}"/>
              </a:ext>
            </a:extLst>
          </p:cNvPr>
          <p:cNvCxnSpPr>
            <a:cxnSpLocks/>
          </p:cNvCxnSpPr>
          <p:nvPr/>
        </p:nvCxnSpPr>
        <p:spPr>
          <a:xfrm>
            <a:off x="822960" y="4803074"/>
            <a:ext cx="2638697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DCDB49-3030-FCC7-FCDB-166FEBE60B2B}"/>
              </a:ext>
            </a:extLst>
          </p:cNvPr>
          <p:cNvSpPr txBox="1"/>
          <p:nvPr/>
        </p:nvSpPr>
        <p:spPr>
          <a:xfrm>
            <a:off x="719719" y="4902696"/>
            <a:ext cx="83132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FFFF"/>
                </a:solidFill>
              </a:rPr>
              <a:t>ABOUT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FFFFF"/>
                </a:solidFill>
              </a:rPr>
              <a:t>카이스트 </a:t>
            </a:r>
            <a:r>
              <a:rPr lang="ko-KR" altLang="en-US" sz="1600" dirty="0" err="1">
                <a:solidFill>
                  <a:srgbClr val="FFFFFF"/>
                </a:solidFill>
              </a:rPr>
              <a:t>문일철</a:t>
            </a:r>
            <a:r>
              <a:rPr lang="ko-KR" altLang="en-US" sz="1600" dirty="0">
                <a:solidFill>
                  <a:srgbClr val="FFFFFF"/>
                </a:solidFill>
              </a:rPr>
              <a:t> 교수님 동계 인턴 프로그램을 통해 </a:t>
            </a:r>
            <a:r>
              <a:rPr lang="en-US" altLang="ko-KR" sz="1600" dirty="0">
                <a:solidFill>
                  <a:srgbClr val="FFFFFF"/>
                </a:solidFill>
              </a:rPr>
              <a:t>Relation Extraction </a:t>
            </a:r>
            <a:r>
              <a:rPr lang="ko-KR" altLang="en-US" sz="1600" dirty="0">
                <a:solidFill>
                  <a:srgbClr val="FFFFFF"/>
                </a:solidFill>
              </a:rPr>
              <a:t>프로젝트에 참여하여 </a:t>
            </a:r>
            <a:r>
              <a:rPr lang="ko-KR" altLang="en-US" sz="1600" dirty="0" err="1">
                <a:solidFill>
                  <a:srgbClr val="FFFFFF"/>
                </a:solidFill>
              </a:rPr>
              <a:t>머신러닝</a:t>
            </a:r>
            <a:r>
              <a:rPr lang="en-US" altLang="ko-KR" sz="1600" dirty="0">
                <a:solidFill>
                  <a:srgbClr val="FFFFFF"/>
                </a:solidFill>
              </a:rPr>
              <a:t>/</a:t>
            </a:r>
            <a:r>
              <a:rPr lang="ko-KR" altLang="en-US" sz="1600" dirty="0" err="1">
                <a:solidFill>
                  <a:srgbClr val="FFFFFF"/>
                </a:solidFill>
              </a:rPr>
              <a:t>딥러닝에</a:t>
            </a:r>
            <a:r>
              <a:rPr lang="ko-KR" altLang="en-US" sz="1600" dirty="0">
                <a:solidFill>
                  <a:srgbClr val="FFFFFF"/>
                </a:solidFill>
              </a:rPr>
              <a:t> 대해 연구하였습니다</a:t>
            </a:r>
            <a:r>
              <a:rPr lang="en-US" altLang="ko-KR" sz="16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FFFFF"/>
                </a:solidFill>
              </a:rPr>
              <a:t>LAB</a:t>
            </a:r>
            <a:r>
              <a:rPr lang="ko-KR" altLang="en-US" sz="1600" dirty="0">
                <a:solidFill>
                  <a:srgbClr val="FFFFFF"/>
                </a:solidFill>
              </a:rPr>
              <a:t> 스터디를 통해 </a:t>
            </a:r>
            <a:r>
              <a:rPr lang="ko-KR" altLang="en-US" sz="1600" dirty="0" err="1">
                <a:solidFill>
                  <a:srgbClr val="FFFFFF"/>
                </a:solidFill>
              </a:rPr>
              <a:t>머신러닝</a:t>
            </a:r>
            <a:r>
              <a:rPr lang="ko-KR" altLang="en-US" sz="1600" dirty="0">
                <a:solidFill>
                  <a:srgbClr val="FFFFFF"/>
                </a:solidFill>
              </a:rPr>
              <a:t> 이론과 더불어 생성모델</a:t>
            </a:r>
            <a:r>
              <a:rPr lang="en-US" altLang="ko-KR" sz="1600" dirty="0">
                <a:solidFill>
                  <a:srgbClr val="FFFFFF"/>
                </a:solidFill>
              </a:rPr>
              <a:t>(Diffusion Model)</a:t>
            </a:r>
            <a:r>
              <a:rPr lang="ko-KR" altLang="en-US" sz="1600" dirty="0">
                <a:solidFill>
                  <a:srgbClr val="FFFFFF"/>
                </a:solidFill>
              </a:rPr>
              <a:t>에 대해 학습하였습니다</a:t>
            </a:r>
            <a:r>
              <a:rPr lang="en-US" altLang="ko-KR" sz="16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C3B2E-C25C-67B5-D133-7C7A1BD4CC6F}"/>
              </a:ext>
            </a:extLst>
          </p:cNvPr>
          <p:cNvSpPr txBox="1"/>
          <p:nvPr/>
        </p:nvSpPr>
        <p:spPr>
          <a:xfrm>
            <a:off x="95250" y="6406106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14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20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8985C-5677-85E1-5EC0-4114F41F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49C0E0B-BB38-1FE8-C4D0-A499D32954C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723F723-78A1-85DF-4C1D-7B0ED5349C36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A4068-8E15-1C78-C8C5-5F0557E2C279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교외활동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A4D1F18-C2EB-9AC5-9018-20911EA0C3F3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DBD3922-009E-4246-5475-E98E08AD8F60}"/>
              </a:ext>
            </a:extLst>
          </p:cNvPr>
          <p:cNvSpPr/>
          <p:nvPr/>
        </p:nvSpPr>
        <p:spPr>
          <a:xfrm>
            <a:off x="1519456" y="4346935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FDB3D8D-9A1C-A3D2-F0DD-4F65A4AFD595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0671AB6-94EC-E54E-288A-0FBC32E6B563}"/>
              </a:ext>
            </a:extLst>
          </p:cNvPr>
          <p:cNvGrpSpPr/>
          <p:nvPr/>
        </p:nvGrpSpPr>
        <p:grpSpPr>
          <a:xfrm>
            <a:off x="832088" y="1761072"/>
            <a:ext cx="4996777" cy="4557539"/>
            <a:chOff x="832088" y="1597797"/>
            <a:chExt cx="4996777" cy="4557539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711D942-CBFB-0FDC-CB6D-1944C834EDBD}"/>
                </a:ext>
              </a:extLst>
            </p:cNvPr>
            <p:cNvSpPr/>
            <p:nvPr/>
          </p:nvSpPr>
          <p:spPr>
            <a:xfrm>
              <a:off x="832088" y="1597797"/>
              <a:ext cx="4996777" cy="4553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B20BEAB-CB57-8EEC-115B-6506B093F1D3}"/>
                </a:ext>
              </a:extLst>
            </p:cNvPr>
            <p:cNvSpPr txBox="1"/>
            <p:nvPr/>
          </p:nvSpPr>
          <p:spPr>
            <a:xfrm>
              <a:off x="993236" y="1980648"/>
              <a:ext cx="4689107" cy="229203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S&amp;P500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기업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10-K Report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를 대상으로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SSAN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모델과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Chat-GPT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를 활용해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Relation Extraction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수행하고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추출된 관계 정보를 그래프 형태의 공급망 네트워크를 구축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분석하는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NLP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기반 연구 프로젝트를 수행하였습니다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Relation Extraction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으로 도출한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triplet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노드와 방향성 있는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엣지로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매핑해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directed graph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형태의 공급망 네트워크를 구축하고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중심성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분석을 통해 중요도가 높은 노드를 도출했습니다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Chat-GPT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의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Relation Extraction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모델로서의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활용가능성을 검증하였으며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SSAN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모델의 구조적 한계를 보완하기 위해 두 모델의 추출 데이터를 결합하여 분석을 진행한 결과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공급망 네트워크 분석에서 기존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SSAN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단독 모델 대비 향상된 성능을 도출할 수 있었습니다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.(SSAN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Precision ↑, Chat-GPT : Recall ↑)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29F4F73-4971-FCDB-C5E3-B3F11995C7DF}"/>
                </a:ext>
              </a:extLst>
            </p:cNvPr>
            <p:cNvSpPr txBox="1"/>
            <p:nvPr/>
          </p:nvSpPr>
          <p:spPr>
            <a:xfrm>
              <a:off x="993236" y="1668287"/>
              <a:ext cx="11849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spc="-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프로젝트과정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EE3966A-C511-335A-D086-D93BD84D5C9B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1947081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F780E2D-ED92-45A9-ED63-D7729D47C59E}"/>
                </a:ext>
              </a:extLst>
            </p:cNvPr>
            <p:cNvSpPr txBox="1"/>
            <p:nvPr/>
          </p:nvSpPr>
          <p:spPr>
            <a:xfrm>
              <a:off x="992697" y="4207291"/>
              <a:ext cx="8595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spc="-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주요 역할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4B43576F-B29A-AB74-A534-6C783684C82F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4483728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5E3A6B1-8AEC-8C34-B9A3-77263D0E4ABB}"/>
                </a:ext>
              </a:extLst>
            </p:cNvPr>
            <p:cNvSpPr txBox="1"/>
            <p:nvPr/>
          </p:nvSpPr>
          <p:spPr>
            <a:xfrm>
              <a:off x="993236" y="4528096"/>
              <a:ext cx="4689107" cy="162724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SSAN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모델과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Chat-GPT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의 관계 추출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(Relation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Extraction)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결과를 바탕으로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directed graph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형태의 네트워크를 구축하고 노드 간 관계를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시각화하였습니다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NetworkX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라이브러리를 활용해 노드 중심성을 정량적으로 분석하고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영향력이 높은 핵심 노드를 도출하였습니다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중복 코드 제거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변수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및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함수명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개선 등 코드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리팩토링과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디버깅을 통해 코드 품질과 안정성을 개선하였습니다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코드 및 함수 단위의 역할을 마크다운 기반으로 문서화하였습니다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3762437-7038-FEC4-2162-D4806313364E}"/>
              </a:ext>
            </a:extLst>
          </p:cNvPr>
          <p:cNvSpPr txBox="1"/>
          <p:nvPr/>
        </p:nvSpPr>
        <p:spPr>
          <a:xfrm flipH="1">
            <a:off x="608668" y="794066"/>
            <a:ext cx="487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카이스트 연구실 인턴십</a:t>
            </a:r>
            <a:endParaRPr lang="en-US" altLang="ko-KR" sz="2000" b="1" spc="-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RELATION EXTRACTION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프로젝트 참여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619ABDB1-610C-4C4C-6F00-AF180A148E73}"/>
              </a:ext>
            </a:extLst>
          </p:cNvPr>
          <p:cNvSpPr txBox="1"/>
          <p:nvPr/>
        </p:nvSpPr>
        <p:spPr>
          <a:xfrm>
            <a:off x="10081789" y="3165253"/>
            <a:ext cx="2110212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▲Relation Extraction 과정</a:t>
            </a:r>
            <a:endParaRPr lang="en-US" sz="1200" dirty="0"/>
          </a:p>
        </p:txBody>
      </p:sp>
      <p:grpSp>
        <p:nvGrpSpPr>
          <p:cNvPr id="23" name="그룹 1004">
            <a:extLst>
              <a:ext uri="{FF2B5EF4-FFF2-40B4-BE49-F238E27FC236}">
                <a16:creationId xmlns:a16="http://schemas.microsoft.com/office/drawing/2014/main" id="{85A2312E-DC67-1C1D-B7A5-E14B5C8A39F5}"/>
              </a:ext>
            </a:extLst>
          </p:cNvPr>
          <p:cNvGrpSpPr/>
          <p:nvPr/>
        </p:nvGrpSpPr>
        <p:grpSpPr>
          <a:xfrm>
            <a:off x="6218998" y="4016284"/>
            <a:ext cx="1814665" cy="1933301"/>
            <a:chOff x="9833311" y="5902385"/>
            <a:chExt cx="2479052" cy="2730414"/>
          </a:xfrm>
        </p:grpSpPr>
        <p:pic>
          <p:nvPicPr>
            <p:cNvPr id="24" name="Object 11">
              <a:extLst>
                <a:ext uri="{FF2B5EF4-FFF2-40B4-BE49-F238E27FC236}">
                  <a16:creationId xmlns:a16="http://schemas.microsoft.com/office/drawing/2014/main" id="{F63F7A07-CE6A-4FFA-EABE-1F77182E4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33311" y="5902385"/>
              <a:ext cx="2479052" cy="2730414"/>
            </a:xfrm>
            <a:prstGeom prst="rect">
              <a:avLst/>
            </a:prstGeom>
          </p:spPr>
        </p:pic>
      </p:grpSp>
      <p:grpSp>
        <p:nvGrpSpPr>
          <p:cNvPr id="25" name="그룹 1005">
            <a:extLst>
              <a:ext uri="{FF2B5EF4-FFF2-40B4-BE49-F238E27FC236}">
                <a16:creationId xmlns:a16="http://schemas.microsoft.com/office/drawing/2014/main" id="{39304676-8BD9-666B-4986-32B8711B7E37}"/>
              </a:ext>
            </a:extLst>
          </p:cNvPr>
          <p:cNvGrpSpPr/>
          <p:nvPr/>
        </p:nvGrpSpPr>
        <p:grpSpPr>
          <a:xfrm>
            <a:off x="8130656" y="4016283"/>
            <a:ext cx="1814665" cy="1933301"/>
            <a:chOff x="12620169" y="5902385"/>
            <a:chExt cx="2440347" cy="2730414"/>
          </a:xfrm>
        </p:grpSpPr>
        <p:pic>
          <p:nvPicPr>
            <p:cNvPr id="26" name="Object 18">
              <a:extLst>
                <a:ext uri="{FF2B5EF4-FFF2-40B4-BE49-F238E27FC236}">
                  <a16:creationId xmlns:a16="http://schemas.microsoft.com/office/drawing/2014/main" id="{9D448221-6A40-D00D-B9FC-A34FE309B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20169" y="5902385"/>
              <a:ext cx="2440347" cy="2730414"/>
            </a:xfrm>
            <a:prstGeom prst="rect">
              <a:avLst/>
            </a:prstGeom>
          </p:spPr>
        </p:pic>
      </p:grpSp>
      <p:grpSp>
        <p:nvGrpSpPr>
          <p:cNvPr id="27" name="그룹 1003">
            <a:extLst>
              <a:ext uri="{FF2B5EF4-FFF2-40B4-BE49-F238E27FC236}">
                <a16:creationId xmlns:a16="http://schemas.microsoft.com/office/drawing/2014/main" id="{7C22D439-3EDA-DC27-DC67-23ACD0AE74F3}"/>
              </a:ext>
            </a:extLst>
          </p:cNvPr>
          <p:cNvGrpSpPr/>
          <p:nvPr/>
        </p:nvGrpSpPr>
        <p:grpSpPr>
          <a:xfrm>
            <a:off x="10042314" y="4016282"/>
            <a:ext cx="1834428" cy="1933301"/>
            <a:chOff x="15442102" y="5926622"/>
            <a:chExt cx="2426337" cy="2706177"/>
          </a:xfrm>
        </p:grpSpPr>
        <p:pic>
          <p:nvPicPr>
            <p:cNvPr id="28" name="Object 8">
              <a:extLst>
                <a:ext uri="{FF2B5EF4-FFF2-40B4-BE49-F238E27FC236}">
                  <a16:creationId xmlns:a16="http://schemas.microsoft.com/office/drawing/2014/main" id="{4DB349DB-06CD-C981-1F19-B98745097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42102" y="5926622"/>
              <a:ext cx="2426337" cy="2706177"/>
            </a:xfrm>
            <a:prstGeom prst="rect">
              <a:avLst/>
            </a:prstGeom>
          </p:spPr>
        </p:pic>
      </p:grpSp>
      <p:sp>
        <p:nvSpPr>
          <p:cNvPr id="29" name="Object 24">
            <a:extLst>
              <a:ext uri="{FF2B5EF4-FFF2-40B4-BE49-F238E27FC236}">
                <a16:creationId xmlns:a16="http://schemas.microsoft.com/office/drawing/2014/main" id="{5324C145-DF66-CFD2-6CAA-A47EC99B89B7}"/>
              </a:ext>
            </a:extLst>
          </p:cNvPr>
          <p:cNvSpPr txBox="1"/>
          <p:nvPr/>
        </p:nvSpPr>
        <p:spPr>
          <a:xfrm>
            <a:off x="6174379" y="3637464"/>
            <a:ext cx="2157742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▼Supply Chain </a:t>
            </a:r>
            <a:r>
              <a:rPr lang="en-US" sz="120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Network 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구축</a:t>
            </a:r>
            <a:endParaRPr lang="en-US" sz="1200" dirty="0"/>
          </a:p>
        </p:txBody>
      </p:sp>
      <p:sp>
        <p:nvSpPr>
          <p:cNvPr id="30" name="Object 25">
            <a:extLst>
              <a:ext uri="{FF2B5EF4-FFF2-40B4-BE49-F238E27FC236}">
                <a16:creationId xmlns:a16="http://schemas.microsoft.com/office/drawing/2014/main" id="{D6A87277-0558-B58B-6387-E1ACDCD378AA}"/>
              </a:ext>
            </a:extLst>
          </p:cNvPr>
          <p:cNvSpPr txBox="1"/>
          <p:nvPr/>
        </p:nvSpPr>
        <p:spPr>
          <a:xfrm>
            <a:off x="5920540" y="5968079"/>
            <a:ext cx="2411580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Country 와 Firm 사이 네트워크</a:t>
            </a:r>
            <a:endParaRPr lang="en-US" sz="1000" dirty="0"/>
          </a:p>
        </p:txBody>
      </p:sp>
      <p:sp>
        <p:nvSpPr>
          <p:cNvPr id="32" name="Object 25">
            <a:extLst>
              <a:ext uri="{FF2B5EF4-FFF2-40B4-BE49-F238E27FC236}">
                <a16:creationId xmlns:a16="http://schemas.microsoft.com/office/drawing/2014/main" id="{6658FF78-FDC5-7F54-C2F4-52B96A3ED120}"/>
              </a:ext>
            </a:extLst>
          </p:cNvPr>
          <p:cNvSpPr txBox="1"/>
          <p:nvPr/>
        </p:nvSpPr>
        <p:spPr>
          <a:xfrm>
            <a:off x="7832198" y="5973508"/>
            <a:ext cx="2411580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Country 와 Resource 네트워크</a:t>
            </a:r>
            <a:endParaRPr lang="en-US" sz="1000" dirty="0"/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7CFEEB80-940F-23B4-8FE5-9EE533C27FBF}"/>
              </a:ext>
            </a:extLst>
          </p:cNvPr>
          <p:cNvSpPr txBox="1"/>
          <p:nvPr/>
        </p:nvSpPr>
        <p:spPr>
          <a:xfrm>
            <a:off x="9917763" y="5973508"/>
            <a:ext cx="2083529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Firm</a:t>
            </a:r>
            <a:r>
              <a:rPr lang="ko-KR" altLang="en-US" sz="1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과</a:t>
            </a:r>
            <a:r>
              <a:rPr lang="en-US" sz="10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 Resource 사이 네트워크</a:t>
            </a:r>
            <a:endParaRPr 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C66F3A-BBF9-68DB-5CA2-A0376679A6EA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15</a:t>
            </a:r>
            <a:endParaRPr lang="ko-KR" altLang="en-US" dirty="0">
              <a:solidFill>
                <a:srgbClr val="224D6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B64C8A-5164-6BBF-CCAC-D13B9301A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5472" y="821189"/>
            <a:ext cx="6165032" cy="2285749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A8EFF83-12C0-0D89-6BC5-449F2AEACA0A}"/>
              </a:ext>
            </a:extLst>
          </p:cNvPr>
          <p:cNvCxnSpPr>
            <a:cxnSpLocks/>
          </p:cNvCxnSpPr>
          <p:nvPr/>
        </p:nvCxnSpPr>
        <p:spPr>
          <a:xfrm>
            <a:off x="6737437" y="3002589"/>
            <a:ext cx="0" cy="21686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959782C-3A10-5C94-0E98-27552D8AD62B}"/>
              </a:ext>
            </a:extLst>
          </p:cNvPr>
          <p:cNvSpPr txBox="1"/>
          <p:nvPr/>
        </p:nvSpPr>
        <p:spPr>
          <a:xfrm>
            <a:off x="5955472" y="3216510"/>
            <a:ext cx="42481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미국 증권거래위원회</a:t>
            </a:r>
            <a:r>
              <a:rPr lang="en-US" altLang="ko-KR" sz="800" dirty="0"/>
              <a:t>(SEC)</a:t>
            </a:r>
            <a:r>
              <a:rPr lang="ko-KR" altLang="en-US" sz="800" dirty="0"/>
              <a:t>에 등록된 기업들이 매년 제출해야 하는 종합적인 연례 보고서</a:t>
            </a:r>
          </a:p>
        </p:txBody>
      </p:sp>
    </p:spTree>
    <p:extLst>
      <p:ext uri="{BB962C8B-B14F-4D97-AF65-F5344CB8AC3E}">
        <p14:creationId xmlns:p14="http://schemas.microsoft.com/office/powerpoint/2010/main" val="2378154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FFE1358F-7C78-6D5E-309C-BC63C8495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023" y="3422227"/>
            <a:ext cx="1975799" cy="2838278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교외활동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EAEBA4-A062-AB51-F778-8EE3BFDB19B3}"/>
              </a:ext>
            </a:extLst>
          </p:cNvPr>
          <p:cNvSpPr/>
          <p:nvPr/>
        </p:nvSpPr>
        <p:spPr>
          <a:xfrm>
            <a:off x="1519456" y="4346935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260D79-7475-6715-BDA6-64A5CCD5C7AF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B53D022-24AA-2A70-D44A-9B65B2D45C82}"/>
              </a:ext>
            </a:extLst>
          </p:cNvPr>
          <p:cNvGrpSpPr/>
          <p:nvPr/>
        </p:nvGrpSpPr>
        <p:grpSpPr>
          <a:xfrm>
            <a:off x="832088" y="1761072"/>
            <a:ext cx="4996777" cy="4553847"/>
            <a:chOff x="832088" y="1597797"/>
            <a:chExt cx="4996777" cy="455384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70347D9-189F-0104-ED73-22A5F2F2B005}"/>
                </a:ext>
              </a:extLst>
            </p:cNvPr>
            <p:cNvSpPr/>
            <p:nvPr/>
          </p:nvSpPr>
          <p:spPr>
            <a:xfrm>
              <a:off x="832088" y="1597797"/>
              <a:ext cx="4996777" cy="4553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11BB8D-7977-A914-E874-5CC672567CF5}"/>
                </a:ext>
              </a:extLst>
            </p:cNvPr>
            <p:cNvSpPr txBox="1"/>
            <p:nvPr/>
          </p:nvSpPr>
          <p:spPr>
            <a:xfrm>
              <a:off x="993236" y="2152906"/>
              <a:ext cx="4689107" cy="22935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프로젝트를 진행하면서 프로젝트 수행 뿐 아니라 조교님들과 프로젝트 관련 논문을 읽고 내용에 대해 서로 의견을 나누는 과정도 진행하였습니다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SSAN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모델 기반 프로젝트를 수행하였기에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Entity Structure Within and Throughout: Modeling Mention Dependencies for Document-Level Relation Extraction(AAAI 2021)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논문을 분석하였으며 모델의 구조와 문서 단위 관계 추출 메커니즘을 이해하였습니다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SSAN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의 기반 아키텍처인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Transformer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에 대한 이론적 이해를 위해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Attention Is All You Need (</a:t>
              </a:r>
              <a:r>
                <a:rPr lang="en-US" altLang="ko-KR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NeurIPS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2017)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논문을 함께 학습하였습니다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Transformer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의 경우 해당 프로젝트에서 심도 있는 연구를 통해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이전에 구글 부트캠프에서 학습했을 당시 미흡했던 부분들을 보완할 수 있었습니다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endPara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EB1CA75-265E-0FEC-A477-82E2D5EA2F26}"/>
                </a:ext>
              </a:extLst>
            </p:cNvPr>
            <p:cNvSpPr txBox="1"/>
            <p:nvPr/>
          </p:nvSpPr>
          <p:spPr>
            <a:xfrm>
              <a:off x="1006334" y="1783955"/>
              <a:ext cx="10262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spc="-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학습한 내용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883E6387-B451-D9F2-D683-3DFEE89411F8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2108446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7F9DDB-CE62-34C1-0289-392BAF87382A}"/>
                </a:ext>
              </a:extLst>
            </p:cNvPr>
            <p:cNvSpPr txBox="1"/>
            <p:nvPr/>
          </p:nvSpPr>
          <p:spPr>
            <a:xfrm>
              <a:off x="993236" y="4195588"/>
              <a:ext cx="6928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spc="-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배운 점</a:t>
              </a: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EBFFE9A-DA7D-CA3B-F172-F16CDF9BBA89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4486334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57227AF-152D-81C7-5148-A6115B3DC80B}"/>
                </a:ext>
              </a:extLst>
            </p:cNvPr>
            <p:cNvSpPr txBox="1"/>
            <p:nvPr/>
          </p:nvSpPr>
          <p:spPr>
            <a:xfrm>
              <a:off x="993236" y="4530702"/>
              <a:ext cx="4689107" cy="140564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코드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리팩토링과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디버깅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Markdown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기반 문서화를 통해 분석 파이프라인의 구조와 흐름을 명확히 정리하고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복잡한 모델링 과정을 관리 가능한 형태로 구현하였습니다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본 프로젝트를 통해 금융데이터에 대한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AI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및 데이터 분석의 활용 가능성을 확인하였으며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복잡한 비정형 데이터를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구조화하여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인사이트로 연결하는 데이터 분석 역량을 강화할 수 있었습니다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0E08C3B-B534-4BB2-9210-BAA9A1A558F5}"/>
              </a:ext>
            </a:extLst>
          </p:cNvPr>
          <p:cNvSpPr txBox="1"/>
          <p:nvPr/>
        </p:nvSpPr>
        <p:spPr>
          <a:xfrm flipH="1">
            <a:off x="608668" y="794066"/>
            <a:ext cx="487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카이스트 연구실 인턴십</a:t>
            </a:r>
            <a:endParaRPr lang="en-US" altLang="ko-KR" sz="2000" b="1" spc="-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RELATION EXTRACTION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프로젝트 참여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17" name="그룹 1003">
            <a:extLst>
              <a:ext uri="{FF2B5EF4-FFF2-40B4-BE49-F238E27FC236}">
                <a16:creationId xmlns:a16="http://schemas.microsoft.com/office/drawing/2014/main" id="{74A04096-F33A-8158-6D76-DF1C365176C0}"/>
              </a:ext>
            </a:extLst>
          </p:cNvPr>
          <p:cNvGrpSpPr/>
          <p:nvPr/>
        </p:nvGrpSpPr>
        <p:grpSpPr>
          <a:xfrm>
            <a:off x="6255710" y="1945660"/>
            <a:ext cx="3703010" cy="2370291"/>
            <a:chOff x="10378057" y="1294933"/>
            <a:chExt cx="4660086" cy="2960651"/>
          </a:xfrm>
        </p:grpSpPr>
        <p:pic>
          <p:nvPicPr>
            <p:cNvPr id="18" name="Object 12">
              <a:extLst>
                <a:ext uri="{FF2B5EF4-FFF2-40B4-BE49-F238E27FC236}">
                  <a16:creationId xmlns:a16="http://schemas.microsoft.com/office/drawing/2014/main" id="{E4097EAF-4755-7613-4338-BF5E4FE35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78057" y="1294933"/>
              <a:ext cx="4660086" cy="2960651"/>
            </a:xfrm>
            <a:prstGeom prst="rect">
              <a:avLst/>
            </a:prstGeom>
          </p:spPr>
        </p:pic>
      </p:grpSp>
      <p:sp>
        <p:nvSpPr>
          <p:cNvPr id="20" name="Object 11">
            <a:extLst>
              <a:ext uri="{FF2B5EF4-FFF2-40B4-BE49-F238E27FC236}">
                <a16:creationId xmlns:a16="http://schemas.microsoft.com/office/drawing/2014/main" id="{A245CC77-F4FB-9503-6B87-D42479B08E12}"/>
              </a:ext>
            </a:extLst>
          </p:cNvPr>
          <p:cNvSpPr txBox="1"/>
          <p:nvPr/>
        </p:nvSpPr>
        <p:spPr>
          <a:xfrm>
            <a:off x="6126729" y="4230193"/>
            <a:ext cx="2171048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</a:t>
            </a:r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SSAN </a:t>
            </a:r>
            <a:r>
              <a:rPr 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모델</a:t>
            </a:r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아키텍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처</a:t>
            </a:r>
            <a:endParaRPr lang="en-US" sz="1200" dirty="0"/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E1A35F5C-7CF1-C764-52DD-7B549FB3D0B2}"/>
              </a:ext>
            </a:extLst>
          </p:cNvPr>
          <p:cNvSpPr txBox="1"/>
          <p:nvPr/>
        </p:nvSpPr>
        <p:spPr>
          <a:xfrm>
            <a:off x="8066312" y="5983506"/>
            <a:ext cx="1750351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latinLnBrk="0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Transformer </a:t>
            </a:r>
            <a:r>
              <a:rPr 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아키텍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처</a:t>
            </a:r>
            <a:r>
              <a:rPr lang="en-US" altLang="ko-KR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▶</a:t>
            </a: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BF8E2-CDFE-3BB7-7979-E2DB9F8B1B7B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16</a:t>
            </a:r>
            <a:endParaRPr lang="ko-KR" altLang="en-US" dirty="0">
              <a:solidFill>
                <a:srgbClr val="224D60"/>
              </a:solidFill>
            </a:endParaRPr>
          </a:p>
        </p:txBody>
      </p:sp>
      <p:pic>
        <p:nvPicPr>
          <p:cNvPr id="14" name="그림 13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26B486-FE0D-A625-A172-A2034E845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582" y="971923"/>
            <a:ext cx="4351267" cy="96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72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5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교외활동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EAEBA4-A062-AB51-F778-8EE3BFDB19B3}"/>
              </a:ext>
            </a:extLst>
          </p:cNvPr>
          <p:cNvSpPr/>
          <p:nvPr/>
        </p:nvSpPr>
        <p:spPr>
          <a:xfrm>
            <a:off x="1519456" y="4287175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260D79-7475-6715-BDA6-64A5CCD5C7AF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0347D9-189F-0104-ED73-22A5F2F2B005}"/>
              </a:ext>
            </a:extLst>
          </p:cNvPr>
          <p:cNvSpPr/>
          <p:nvPr/>
        </p:nvSpPr>
        <p:spPr>
          <a:xfrm>
            <a:off x="832088" y="1541248"/>
            <a:ext cx="4996777" cy="47736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11BB8D-7977-A914-E874-5CC672567CF5}"/>
              </a:ext>
            </a:extLst>
          </p:cNvPr>
          <p:cNvSpPr txBox="1"/>
          <p:nvPr/>
        </p:nvSpPr>
        <p:spPr>
          <a:xfrm>
            <a:off x="993236" y="2000499"/>
            <a:ext cx="4689107" cy="18488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생성모델의 바탕이 되는 개념인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Bayesian Network, EM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알고리즘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Variational Inference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부터 대표적 생성모델인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VAE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와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Diffusion model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학습하였습니다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 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VAE(Variational Autoencoder)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및 </a:t>
            </a:r>
            <a:r>
              <a:rPr lang="en-US" altLang="ko-KR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cVAE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(Conditional VAE)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 사용되는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ELBO(Evidence Lower Bound)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수학적으로 직접 유도하였으며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en-US" altLang="ko-KR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PyTorch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활용해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VAE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의 생성 과정을 직접 구현하였습니다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Diffusion Model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의 대표 논문인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DDPM(Denoising Diffusion Probabilistic Models, </a:t>
            </a:r>
            <a:r>
              <a:rPr lang="en-US" altLang="ko-KR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NeurIPS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2020)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 리뷰하고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ELBO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수학적으로 유도하는 과정을 통해 이미지 생성 모델의 이론적 기반과 작동 원리에 대한 이해를 확립하였습니다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B1CA75-265E-0FEC-A477-82E2D5EA2F26}"/>
              </a:ext>
            </a:extLst>
          </p:cNvPr>
          <p:cNvSpPr txBox="1"/>
          <p:nvPr/>
        </p:nvSpPr>
        <p:spPr>
          <a:xfrm>
            <a:off x="1068577" y="1682162"/>
            <a:ext cx="8755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학습   내용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83E6387-B451-D9F2-D683-3DFEE89411F8}"/>
              </a:ext>
            </a:extLst>
          </p:cNvPr>
          <p:cNvCxnSpPr>
            <a:cxnSpLocks/>
          </p:cNvCxnSpPr>
          <p:nvPr/>
        </p:nvCxnSpPr>
        <p:spPr>
          <a:xfrm>
            <a:off x="993236" y="1966932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D7F9DDB-CE62-34C1-0289-392BAF87382A}"/>
              </a:ext>
            </a:extLst>
          </p:cNvPr>
          <p:cNvSpPr txBox="1"/>
          <p:nvPr/>
        </p:nvSpPr>
        <p:spPr>
          <a:xfrm>
            <a:off x="1072585" y="3806803"/>
            <a:ext cx="1200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자기주도   학습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EBFFE9A-DA7D-CA3B-F172-F16CDF9BBA89}"/>
              </a:ext>
            </a:extLst>
          </p:cNvPr>
          <p:cNvCxnSpPr>
            <a:cxnSpLocks/>
          </p:cNvCxnSpPr>
          <p:nvPr/>
        </p:nvCxnSpPr>
        <p:spPr>
          <a:xfrm>
            <a:off x="993236" y="4105040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57227AF-152D-81C7-5148-A6115B3DC80B}"/>
              </a:ext>
            </a:extLst>
          </p:cNvPr>
          <p:cNvSpPr txBox="1"/>
          <p:nvPr/>
        </p:nvSpPr>
        <p:spPr>
          <a:xfrm>
            <a:off x="993236" y="4119528"/>
            <a:ext cx="4689107" cy="519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학습과정에서  이해가 되지 않은 부분이 생길 시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KOOC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강의를 활용한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이론에 대한 학습을 진행하여 부족한 부분을 자기주도적으로 보완하였습니다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E08C3B-B534-4BB2-9210-BAA9A1A558F5}"/>
              </a:ext>
            </a:extLst>
          </p:cNvPr>
          <p:cNvSpPr txBox="1"/>
          <p:nvPr/>
        </p:nvSpPr>
        <p:spPr>
          <a:xfrm flipH="1">
            <a:off x="627335" y="819620"/>
            <a:ext cx="487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카이스트 연구실 인턴십</a:t>
            </a:r>
            <a:endParaRPr lang="en-US" altLang="ko-KR" sz="2000" b="1" spc="-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LAB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스터디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2A41E-6100-3BFE-76DE-28C709903E0B}"/>
              </a:ext>
            </a:extLst>
          </p:cNvPr>
          <p:cNvSpPr txBox="1"/>
          <p:nvPr/>
        </p:nvSpPr>
        <p:spPr>
          <a:xfrm>
            <a:off x="993236" y="4793800"/>
            <a:ext cx="692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배운 점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15242ED-3671-038F-9630-675D81CD64BD}"/>
              </a:ext>
            </a:extLst>
          </p:cNvPr>
          <p:cNvCxnSpPr>
            <a:cxnSpLocks/>
          </p:cNvCxnSpPr>
          <p:nvPr/>
        </p:nvCxnSpPr>
        <p:spPr>
          <a:xfrm>
            <a:off x="993236" y="5066759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D1FAA8-85A1-3866-2C8A-C3783B368FBA}"/>
              </a:ext>
            </a:extLst>
          </p:cNvPr>
          <p:cNvSpPr txBox="1"/>
          <p:nvPr/>
        </p:nvSpPr>
        <p:spPr>
          <a:xfrm>
            <a:off x="993236" y="5087223"/>
            <a:ext cx="4689107" cy="118404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ML/DL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모델을 학습하고 구현하는 과정에서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성능 개선의 핵심은 모델 구조와 그에 내재된 수학적 원리에 대한 정확한 이해에 있음을 확인할 수 있었습니다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결과적으로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단순히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ML/DL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모델을 구현하는 것이 아닌 모델에 내재하는 수학적인 로직을 더 정확히 이해한다면 모델의 성능을 체계적으로 개선할 수 있으며 후에 더 훌륭한 데이터분석 전문가로 성장할 수 있다고 생각합니다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grpSp>
        <p:nvGrpSpPr>
          <p:cNvPr id="23" name="그룹 1002">
            <a:extLst>
              <a:ext uri="{FF2B5EF4-FFF2-40B4-BE49-F238E27FC236}">
                <a16:creationId xmlns:a16="http://schemas.microsoft.com/office/drawing/2014/main" id="{5821FCAA-D857-2BAA-DC89-02E6433666C7}"/>
              </a:ext>
            </a:extLst>
          </p:cNvPr>
          <p:cNvGrpSpPr/>
          <p:nvPr/>
        </p:nvGrpSpPr>
        <p:grpSpPr>
          <a:xfrm>
            <a:off x="6669525" y="1032268"/>
            <a:ext cx="4913807" cy="816258"/>
            <a:chOff x="11850955" y="1463462"/>
            <a:chExt cx="6171429" cy="1113868"/>
          </a:xfrm>
        </p:grpSpPr>
        <p:pic>
          <p:nvPicPr>
            <p:cNvPr id="24" name="Object 8">
              <a:extLst>
                <a:ext uri="{FF2B5EF4-FFF2-40B4-BE49-F238E27FC236}">
                  <a16:creationId xmlns:a16="http://schemas.microsoft.com/office/drawing/2014/main" id="{9FD33CEF-EB7F-8202-2041-6C6B693BA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50955" y="1463462"/>
              <a:ext cx="6171429" cy="1113868"/>
            </a:xfrm>
            <a:prstGeom prst="rect">
              <a:avLst/>
            </a:prstGeom>
          </p:spPr>
        </p:pic>
      </p:grpSp>
      <p:sp>
        <p:nvSpPr>
          <p:cNvPr id="25" name="Object 23">
            <a:extLst>
              <a:ext uri="{FF2B5EF4-FFF2-40B4-BE49-F238E27FC236}">
                <a16:creationId xmlns:a16="http://schemas.microsoft.com/office/drawing/2014/main" id="{F14198BC-E9E9-724D-1365-59E1929866D7}"/>
              </a:ext>
            </a:extLst>
          </p:cNvPr>
          <p:cNvSpPr txBox="1"/>
          <p:nvPr/>
        </p:nvSpPr>
        <p:spPr>
          <a:xfrm>
            <a:off x="7556138" y="1846517"/>
            <a:ext cx="3140580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▲DDPM Baysian Network(Graphical Model)</a:t>
            </a:r>
            <a:endParaRPr lang="en-US" sz="1200" dirty="0"/>
          </a:p>
        </p:txBody>
      </p:sp>
      <p:grpSp>
        <p:nvGrpSpPr>
          <p:cNvPr id="26" name="그룹 1003">
            <a:extLst>
              <a:ext uri="{FF2B5EF4-FFF2-40B4-BE49-F238E27FC236}">
                <a16:creationId xmlns:a16="http://schemas.microsoft.com/office/drawing/2014/main" id="{41AC61CF-5BD0-2920-4579-B1DEBEFC2BB4}"/>
              </a:ext>
            </a:extLst>
          </p:cNvPr>
          <p:cNvGrpSpPr/>
          <p:nvPr/>
        </p:nvGrpSpPr>
        <p:grpSpPr>
          <a:xfrm>
            <a:off x="6453051" y="2218436"/>
            <a:ext cx="2532593" cy="1820044"/>
            <a:chOff x="11777222" y="2999446"/>
            <a:chExt cx="4280429" cy="3210322"/>
          </a:xfrm>
        </p:grpSpPr>
        <p:pic>
          <p:nvPicPr>
            <p:cNvPr id="27" name="Object 11">
              <a:extLst>
                <a:ext uri="{FF2B5EF4-FFF2-40B4-BE49-F238E27FC236}">
                  <a16:creationId xmlns:a16="http://schemas.microsoft.com/office/drawing/2014/main" id="{45EA8BBD-E530-FD04-1382-F91072FB3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77222" y="2999446"/>
              <a:ext cx="4280429" cy="3210322"/>
            </a:xfrm>
            <a:prstGeom prst="rect">
              <a:avLst/>
            </a:prstGeom>
          </p:spPr>
        </p:pic>
      </p:grpSp>
      <p:sp>
        <p:nvSpPr>
          <p:cNvPr id="28" name="Object 24">
            <a:extLst>
              <a:ext uri="{FF2B5EF4-FFF2-40B4-BE49-F238E27FC236}">
                <a16:creationId xmlns:a16="http://schemas.microsoft.com/office/drawing/2014/main" id="{8480F71F-87BF-952B-362E-CC4F46FBA4F4}"/>
              </a:ext>
            </a:extLst>
          </p:cNvPr>
          <p:cNvSpPr txBox="1"/>
          <p:nvPr/>
        </p:nvSpPr>
        <p:spPr>
          <a:xfrm>
            <a:off x="8985644" y="3750536"/>
            <a:ext cx="1830402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◀DDPM ELBO 유도 과정</a:t>
            </a:r>
            <a:endParaRPr lang="en-US" sz="1200" dirty="0"/>
          </a:p>
        </p:txBody>
      </p:sp>
      <p:grpSp>
        <p:nvGrpSpPr>
          <p:cNvPr id="29" name="그룹 1004">
            <a:extLst>
              <a:ext uri="{FF2B5EF4-FFF2-40B4-BE49-F238E27FC236}">
                <a16:creationId xmlns:a16="http://schemas.microsoft.com/office/drawing/2014/main" id="{C4E63770-73F3-DC8B-DD45-CE06477B8D78}"/>
              </a:ext>
            </a:extLst>
          </p:cNvPr>
          <p:cNvGrpSpPr/>
          <p:nvPr/>
        </p:nvGrpSpPr>
        <p:grpSpPr>
          <a:xfrm>
            <a:off x="8863153" y="4205952"/>
            <a:ext cx="2517095" cy="1786421"/>
            <a:chOff x="14270357" y="6555148"/>
            <a:chExt cx="3752349" cy="2814262"/>
          </a:xfrm>
        </p:grpSpPr>
        <p:pic>
          <p:nvPicPr>
            <p:cNvPr id="30" name="Object 14">
              <a:extLst>
                <a:ext uri="{FF2B5EF4-FFF2-40B4-BE49-F238E27FC236}">
                  <a16:creationId xmlns:a16="http://schemas.microsoft.com/office/drawing/2014/main" id="{BB1694A5-2149-6376-7493-FF95B7066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70357" y="6555148"/>
              <a:ext cx="3752349" cy="2814262"/>
            </a:xfrm>
            <a:prstGeom prst="rect">
              <a:avLst/>
            </a:prstGeom>
          </p:spPr>
        </p:pic>
      </p:grpSp>
      <p:grpSp>
        <p:nvGrpSpPr>
          <p:cNvPr id="36" name="그룹 1008">
            <a:extLst>
              <a:ext uri="{FF2B5EF4-FFF2-40B4-BE49-F238E27FC236}">
                <a16:creationId xmlns:a16="http://schemas.microsoft.com/office/drawing/2014/main" id="{56DBD8CD-8EBD-0C2C-ABD5-79A3B8E64DE0}"/>
              </a:ext>
            </a:extLst>
          </p:cNvPr>
          <p:cNvGrpSpPr/>
          <p:nvPr/>
        </p:nvGrpSpPr>
        <p:grpSpPr>
          <a:xfrm>
            <a:off x="7210702" y="4765629"/>
            <a:ext cx="2037672" cy="1582769"/>
            <a:chOff x="11799501" y="6958083"/>
            <a:chExt cx="3418679" cy="2564009"/>
          </a:xfrm>
        </p:grpSpPr>
        <p:pic>
          <p:nvPicPr>
            <p:cNvPr id="37" name="Object 26">
              <a:extLst>
                <a:ext uri="{FF2B5EF4-FFF2-40B4-BE49-F238E27FC236}">
                  <a16:creationId xmlns:a16="http://schemas.microsoft.com/office/drawing/2014/main" id="{5A30B24E-3920-CFA3-3492-CD292D32E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99501" y="6958083"/>
              <a:ext cx="3418679" cy="2564009"/>
            </a:xfrm>
            <a:prstGeom prst="rect">
              <a:avLst/>
            </a:prstGeom>
          </p:spPr>
        </p:pic>
      </p:grpSp>
      <p:sp>
        <p:nvSpPr>
          <p:cNvPr id="38" name="Object 29">
            <a:extLst>
              <a:ext uri="{FF2B5EF4-FFF2-40B4-BE49-F238E27FC236}">
                <a16:creationId xmlns:a16="http://schemas.microsoft.com/office/drawing/2014/main" id="{F6D912F6-57BC-32BA-8EAF-84A36D092610}"/>
              </a:ext>
            </a:extLst>
          </p:cNvPr>
          <p:cNvSpPr txBox="1"/>
          <p:nvPr/>
        </p:nvSpPr>
        <p:spPr>
          <a:xfrm>
            <a:off x="5885073" y="6037920"/>
            <a:ext cx="1460935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VAE 공부과정▶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88EEE4-8D06-2971-5DC9-9AFEDEFF6C44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17</a:t>
            </a:r>
            <a:endParaRPr lang="ko-KR" altLang="en-US" dirty="0">
              <a:solidFill>
                <a:srgbClr val="224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018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4D379F-0D7A-E10A-C2FD-B3F877B38412}"/>
              </a:ext>
            </a:extLst>
          </p:cNvPr>
          <p:cNvSpPr txBox="1"/>
          <p:nvPr/>
        </p:nvSpPr>
        <p:spPr>
          <a:xfrm>
            <a:off x="6817895" y="428138"/>
            <a:ext cx="432522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0" b="1" dirty="0">
                <a:solidFill>
                  <a:schemeClr val="bg1"/>
                </a:solidFill>
                <a:latin typeface="+mj-ea"/>
                <a:ea typeface="+mj-ea"/>
              </a:rPr>
              <a:t>6. </a:t>
            </a:r>
            <a:r>
              <a:rPr lang="ko-KR" altLang="en-US" sz="4800" b="1" dirty="0">
                <a:solidFill>
                  <a:schemeClr val="bg1"/>
                </a:solidFill>
                <a:latin typeface="+mj-ea"/>
                <a:ea typeface="+mj-ea"/>
              </a:rPr>
              <a:t>교외활동</a:t>
            </a:r>
            <a:endParaRPr lang="ko-KR" altLang="en-US" sz="12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F2969-8E1F-0403-B6B6-037C4B0D5DB2}"/>
              </a:ext>
            </a:extLst>
          </p:cNvPr>
          <p:cNvSpPr txBox="1"/>
          <p:nvPr/>
        </p:nvSpPr>
        <p:spPr>
          <a:xfrm>
            <a:off x="6817895" y="2044280"/>
            <a:ext cx="4548040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spc="-300" dirty="0">
                <a:solidFill>
                  <a:schemeClr val="bg1"/>
                </a:solidFill>
                <a:latin typeface="+mn-ea"/>
              </a:rPr>
              <a:t>구글 </a:t>
            </a:r>
            <a:r>
              <a:rPr lang="ko-KR" altLang="en-US" sz="3600" b="1" spc="-300" dirty="0" err="1">
                <a:solidFill>
                  <a:schemeClr val="bg1"/>
                </a:solidFill>
                <a:latin typeface="+mn-ea"/>
              </a:rPr>
              <a:t>머신러닝</a:t>
            </a:r>
            <a:r>
              <a:rPr lang="ko-KR" altLang="en-US" sz="3600" b="1" spc="-300" dirty="0">
                <a:solidFill>
                  <a:schemeClr val="bg1"/>
                </a:solidFill>
                <a:latin typeface="+mn-ea"/>
              </a:rPr>
              <a:t> 부트캠프</a:t>
            </a:r>
            <a:endParaRPr lang="en-US" altLang="ko-KR" sz="3600" b="1" spc="-30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1600" dirty="0">
                <a:solidFill>
                  <a:srgbClr val="FFFFFF"/>
                </a:solidFill>
              </a:rPr>
              <a:t>2023.09.01 – 2023.11.29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894119-F233-DC33-68F5-7374CF0E569E}"/>
              </a:ext>
            </a:extLst>
          </p:cNvPr>
          <p:cNvCxnSpPr>
            <a:cxnSpLocks/>
          </p:cNvCxnSpPr>
          <p:nvPr/>
        </p:nvCxnSpPr>
        <p:spPr>
          <a:xfrm>
            <a:off x="6817895" y="3036947"/>
            <a:ext cx="5374105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1021128-BA25-D6FF-656C-87D086ADE451}"/>
              </a:ext>
            </a:extLst>
          </p:cNvPr>
          <p:cNvCxnSpPr>
            <a:cxnSpLocks/>
          </p:cNvCxnSpPr>
          <p:nvPr/>
        </p:nvCxnSpPr>
        <p:spPr>
          <a:xfrm>
            <a:off x="6817895" y="3285600"/>
            <a:ext cx="537410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4B1C5-1DD9-AF15-DE3F-02859903813A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98A04-BDAA-54E1-330F-39495AD7A569}"/>
              </a:ext>
            </a:extLst>
          </p:cNvPr>
          <p:cNvSpPr txBox="1"/>
          <p:nvPr/>
        </p:nvSpPr>
        <p:spPr>
          <a:xfrm>
            <a:off x="6817895" y="3318591"/>
            <a:ext cx="4092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solidFill>
                  <a:srgbClr val="FFFFFF"/>
                </a:solidFill>
              </a:rPr>
              <a:t>COURERA </a:t>
            </a:r>
            <a:r>
              <a:rPr lang="ko-KR" altLang="en-US" sz="2000" dirty="0">
                <a:solidFill>
                  <a:srgbClr val="FFFFFF"/>
                </a:solidFill>
              </a:rPr>
              <a:t>딥러닝 특화과정 강의</a:t>
            </a:r>
            <a:endParaRPr lang="en-US" altLang="ko-KR" sz="2000" dirty="0">
              <a:solidFill>
                <a:srgbClr val="FFFFFF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solidFill>
                  <a:srgbClr val="FFFFFF"/>
                </a:solidFill>
              </a:rPr>
              <a:t>KAGGLE </a:t>
            </a:r>
            <a:r>
              <a:rPr lang="ko-KR" altLang="en-US" sz="2000" dirty="0">
                <a:solidFill>
                  <a:srgbClr val="FFFFFF"/>
                </a:solidFill>
              </a:rPr>
              <a:t>대회 참여</a:t>
            </a:r>
            <a:endParaRPr lang="en-US" altLang="ko-KR" sz="2000" dirty="0">
              <a:solidFill>
                <a:srgbClr val="FFFFFF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B3A508A-E632-DDFE-5206-09B6CDC2DFEB}"/>
              </a:ext>
            </a:extLst>
          </p:cNvPr>
          <p:cNvCxnSpPr>
            <a:cxnSpLocks/>
          </p:cNvCxnSpPr>
          <p:nvPr/>
        </p:nvCxnSpPr>
        <p:spPr>
          <a:xfrm>
            <a:off x="822960" y="4803074"/>
            <a:ext cx="2638697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DCDB49-3030-FCC7-FCDB-166FEBE60B2B}"/>
              </a:ext>
            </a:extLst>
          </p:cNvPr>
          <p:cNvSpPr txBox="1"/>
          <p:nvPr/>
        </p:nvSpPr>
        <p:spPr>
          <a:xfrm>
            <a:off x="719719" y="4902696"/>
            <a:ext cx="83132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FFFFFF"/>
                </a:solidFill>
              </a:rPr>
              <a:t>ABOUT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FFFFFF"/>
                </a:solidFill>
              </a:rPr>
              <a:t>구글 </a:t>
            </a:r>
            <a:r>
              <a:rPr lang="ko-KR" altLang="en-US" sz="1600" dirty="0" err="1">
                <a:solidFill>
                  <a:srgbClr val="FFFFFF"/>
                </a:solidFill>
              </a:rPr>
              <a:t>머신러닝</a:t>
            </a:r>
            <a:r>
              <a:rPr lang="ko-KR" altLang="en-US" sz="1600" dirty="0">
                <a:solidFill>
                  <a:srgbClr val="FFFFFF"/>
                </a:solidFill>
              </a:rPr>
              <a:t> 부트캠프를 통하여 저와 관심분야가 같은 다양한 </a:t>
            </a:r>
            <a:r>
              <a:rPr lang="ko-KR" altLang="en-US" sz="1600" dirty="0" err="1">
                <a:solidFill>
                  <a:srgbClr val="FFFFFF"/>
                </a:solidFill>
              </a:rPr>
              <a:t>동료분들과의</a:t>
            </a:r>
            <a:r>
              <a:rPr lang="ko-KR" altLang="en-US" sz="1600" dirty="0">
                <a:solidFill>
                  <a:srgbClr val="FFFFFF"/>
                </a:solidFill>
              </a:rPr>
              <a:t> 연결점을 찾을 수 있었습니다</a:t>
            </a:r>
            <a:r>
              <a:rPr lang="en-US" altLang="ko-KR" sz="1600" dirty="0">
                <a:solidFill>
                  <a:srgbClr val="FFFFFF"/>
                </a:solidFill>
              </a:rPr>
              <a:t>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FFFFFF"/>
                </a:solidFill>
              </a:rPr>
              <a:t>Coursera </a:t>
            </a:r>
            <a:r>
              <a:rPr lang="ko-KR" altLang="en-US" sz="1600" dirty="0">
                <a:solidFill>
                  <a:srgbClr val="FFFFFF"/>
                </a:solidFill>
              </a:rPr>
              <a:t>강의를 통해 다양한 </a:t>
            </a:r>
            <a:r>
              <a:rPr lang="en-US" altLang="ko-KR" sz="1600" dirty="0">
                <a:solidFill>
                  <a:srgbClr val="FFFFFF"/>
                </a:solidFill>
              </a:rPr>
              <a:t>Vision, NLP </a:t>
            </a:r>
            <a:r>
              <a:rPr lang="ko-KR" altLang="en-US" sz="1600" dirty="0">
                <a:solidFill>
                  <a:srgbClr val="FFFFFF"/>
                </a:solidFill>
              </a:rPr>
              <a:t>모델에 대해 학습할 수 있었으며 </a:t>
            </a:r>
            <a:r>
              <a:rPr lang="en-US" altLang="ko-KR" sz="1600" dirty="0">
                <a:solidFill>
                  <a:srgbClr val="FFFFFF"/>
                </a:solidFill>
              </a:rPr>
              <a:t>Coursera </a:t>
            </a:r>
            <a:r>
              <a:rPr lang="ko-KR" altLang="en-US" sz="1600" dirty="0">
                <a:solidFill>
                  <a:srgbClr val="FFFFFF"/>
                </a:solidFill>
              </a:rPr>
              <a:t>강의와 그동안의 학습경험을 바탕으로 </a:t>
            </a:r>
            <a:r>
              <a:rPr lang="en-US" altLang="ko-KR" sz="1600" dirty="0">
                <a:solidFill>
                  <a:srgbClr val="FFFFFF"/>
                </a:solidFill>
              </a:rPr>
              <a:t>Kaggle </a:t>
            </a:r>
            <a:r>
              <a:rPr lang="ko-KR" altLang="en-US" sz="1600" dirty="0">
                <a:solidFill>
                  <a:srgbClr val="FFFFFF"/>
                </a:solidFill>
              </a:rPr>
              <a:t>대회에 참여하여 한층 더 성장할 수 있었습니다</a:t>
            </a:r>
            <a:r>
              <a:rPr lang="en-US" altLang="ko-KR" sz="16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756C5E-4FB4-D614-D498-37B32E98537A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18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501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6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교외활동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EAEBA4-A062-AB51-F778-8EE3BFDB19B3}"/>
              </a:ext>
            </a:extLst>
          </p:cNvPr>
          <p:cNvSpPr/>
          <p:nvPr/>
        </p:nvSpPr>
        <p:spPr>
          <a:xfrm>
            <a:off x="1519456" y="4346935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260D79-7475-6715-BDA6-64A5CCD5C7AF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B53D022-24AA-2A70-D44A-9B65B2D45C82}"/>
              </a:ext>
            </a:extLst>
          </p:cNvPr>
          <p:cNvGrpSpPr/>
          <p:nvPr/>
        </p:nvGrpSpPr>
        <p:grpSpPr>
          <a:xfrm>
            <a:off x="832088" y="1761072"/>
            <a:ext cx="4996777" cy="4553847"/>
            <a:chOff x="832088" y="1597797"/>
            <a:chExt cx="4996777" cy="455384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70347D9-189F-0104-ED73-22A5F2F2B005}"/>
                </a:ext>
              </a:extLst>
            </p:cNvPr>
            <p:cNvSpPr/>
            <p:nvPr/>
          </p:nvSpPr>
          <p:spPr>
            <a:xfrm>
              <a:off x="832088" y="1597797"/>
              <a:ext cx="4996777" cy="4553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11BB8D-7977-A914-E874-5CC672567CF5}"/>
                </a:ext>
              </a:extLst>
            </p:cNvPr>
            <p:cNvSpPr txBox="1"/>
            <p:nvPr/>
          </p:nvSpPr>
          <p:spPr>
            <a:xfrm>
              <a:off x="993236" y="2137400"/>
              <a:ext cx="4689107" cy="340003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Coursera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강좌 중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Andrew Ng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교수님께서 강의하신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'Deep Learning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특화과정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'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강좌를 수강하였습니다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'Deep Learning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특화과정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'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강의와 과제를 통해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ML/DL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의 기본적인 개념과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Vision,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NLP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관련 경험할 수 있었습니다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Vision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관련 과제로는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CNN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활용하여 사진에서 손가락 숫자를 인식하는 작업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YOLO(You Only Look Once)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알고리즘을 통한 자동차 인식작업 과제를 수행하였습니다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 YOLO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알고리즘은 객체 탐지를 위한 딥러닝 기법으로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단일 신경망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(Single Network)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통해 이미지를 한 번만 처리하여 객체의 위치와 종류를 동시에 예측하는 실시간 객체 탐지 알고리즘입니다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NLP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관련 과제로는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RNN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이용하여 공룡이름 생성하기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LSTM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을 이용하여 재즈음악 생성하기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NLP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의 대표적인 아키텍처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Transformer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를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TensorFlow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를 이용하여 구현하는 과제를 진행하였습니다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 Transformer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아키텍처는 기존의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RNN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과 달리 </a:t>
              </a:r>
              <a:r>
                <a:rPr lang="ko-KR" altLang="en-US" sz="12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디코더가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인코더의 모든 출력을 참고하도록 설계합니다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또한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Self-Attention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기반 구조로 입력 시퀀스를 병렬 처리할 수 있어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기존 순차 처리 모델보다 훨씬 빠르고 효율적인 학습과 추론이 가능합니다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EB1CA75-265E-0FEC-A477-82E2D5EA2F26}"/>
                </a:ext>
              </a:extLst>
            </p:cNvPr>
            <p:cNvSpPr txBox="1"/>
            <p:nvPr/>
          </p:nvSpPr>
          <p:spPr>
            <a:xfrm>
              <a:off x="1080600" y="1765279"/>
              <a:ext cx="8515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spc="-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강의요약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883E6387-B451-D9F2-D683-3DFEE89411F8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2103833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0E08C3B-B534-4BB2-9210-BAA9A1A558F5}"/>
              </a:ext>
            </a:extLst>
          </p:cNvPr>
          <p:cNvSpPr txBox="1"/>
          <p:nvPr/>
        </p:nvSpPr>
        <p:spPr>
          <a:xfrm flipH="1">
            <a:off x="608668" y="794066"/>
            <a:ext cx="487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구글 </a:t>
            </a:r>
            <a:r>
              <a:rPr lang="ko-KR" altLang="en-US" sz="2000" b="1" spc="-300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머신러닝</a:t>
            </a:r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부트캠프</a:t>
            </a:r>
            <a:endParaRPr lang="en-US" altLang="ko-KR" sz="2000" b="1" spc="-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COURSERA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딥러닝 특화과정 강의 완주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EEDD06-67FB-3F8C-67EA-D8F14080E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179" y="1131829"/>
            <a:ext cx="4132691" cy="321694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3933BD-C6AF-47C7-FCAF-349DA7763E8A}"/>
              </a:ext>
            </a:extLst>
          </p:cNvPr>
          <p:cNvSpPr/>
          <p:nvPr/>
        </p:nvSpPr>
        <p:spPr>
          <a:xfrm>
            <a:off x="6363137" y="4529035"/>
            <a:ext cx="4996777" cy="1785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56E6C7-A74C-9CD4-C761-FD69A003F9D8}"/>
              </a:ext>
            </a:extLst>
          </p:cNvPr>
          <p:cNvSpPr txBox="1"/>
          <p:nvPr/>
        </p:nvSpPr>
        <p:spPr>
          <a:xfrm>
            <a:off x="6524285" y="4564289"/>
            <a:ext cx="692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배운 점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A14CDAD-A95B-3FAA-35A1-78C40769694B}"/>
              </a:ext>
            </a:extLst>
          </p:cNvPr>
          <p:cNvCxnSpPr>
            <a:cxnSpLocks/>
          </p:cNvCxnSpPr>
          <p:nvPr/>
        </p:nvCxnSpPr>
        <p:spPr>
          <a:xfrm>
            <a:off x="6524285" y="4915695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65EC8D6-5410-068C-772C-C34DC5D4D70F}"/>
              </a:ext>
            </a:extLst>
          </p:cNvPr>
          <p:cNvSpPr txBox="1"/>
          <p:nvPr/>
        </p:nvSpPr>
        <p:spPr>
          <a:xfrm>
            <a:off x="6524285" y="4960063"/>
            <a:ext cx="4689107" cy="1405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Coursera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강의를 통해 처음으로 </a:t>
            </a:r>
            <a:r>
              <a:rPr lang="ko-KR" altLang="en-US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딥러닝에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대해 경험하고 이에 대한 전반적인 개념을 학습할 수 있는 좋은 경험이었습니다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 Coursera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강의를 통해 앞으로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어떤 식으로 학습하면 좋을 지에 대한 방향성을 확립할 수 있었습니다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머신러닝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모델에 내재된 수학적 로직의 중요성을 인식하고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이에 대한 정확한 이해를 바탕으로 한 활용 역량의 필요성을 깨닫게 되었습니다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C0539-62E8-8AE5-CC01-53A0F304D92F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19</a:t>
            </a:r>
            <a:endParaRPr lang="ko-KR" altLang="en-US" dirty="0">
              <a:solidFill>
                <a:srgbClr val="224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821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0E821-2857-EAEA-D892-A2B64A09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365164B-84DC-7A0B-D01D-1872546F680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5706968-F4BB-20BC-E76F-A0A7DA106F03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6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DE205-138D-ECA8-2987-1F953C87711A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교외활동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53F9477-36F6-C713-0CBA-803395BA83F2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57D190E-FB01-4576-7961-0EF2604D16FF}"/>
              </a:ext>
            </a:extLst>
          </p:cNvPr>
          <p:cNvSpPr/>
          <p:nvPr/>
        </p:nvSpPr>
        <p:spPr>
          <a:xfrm>
            <a:off x="1519456" y="4317055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3AD934F-50CE-771A-BEE4-E4C88721D740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EF969B6-1A16-4219-FDAC-DCB4B3E817F5}"/>
              </a:ext>
            </a:extLst>
          </p:cNvPr>
          <p:cNvGrpSpPr/>
          <p:nvPr/>
        </p:nvGrpSpPr>
        <p:grpSpPr>
          <a:xfrm>
            <a:off x="832088" y="1614982"/>
            <a:ext cx="4996777" cy="4699938"/>
            <a:chOff x="832088" y="1597797"/>
            <a:chExt cx="4996777" cy="4553847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128EBA9-4F4A-53B7-9895-E37D7616708C}"/>
                </a:ext>
              </a:extLst>
            </p:cNvPr>
            <p:cNvSpPr/>
            <p:nvPr/>
          </p:nvSpPr>
          <p:spPr>
            <a:xfrm>
              <a:off x="832088" y="1597797"/>
              <a:ext cx="4996777" cy="45538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C5C6522-FA4B-3A36-A194-8AC46761B48F}"/>
                </a:ext>
              </a:extLst>
            </p:cNvPr>
            <p:cNvSpPr txBox="1"/>
            <p:nvPr/>
          </p:nvSpPr>
          <p:spPr>
            <a:xfrm>
              <a:off x="993236" y="2102659"/>
              <a:ext cx="4689107" cy="74084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marL="171450" indent="-171450" algn="just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구글 부트캠프 동료들과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Kaggle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에서 주최하는 ‘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Binary Prediction of Smoker Status using Bio-Signals’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대회에 참가하여 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"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흡연자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비흡연자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"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여부를 판별하는 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Binary classification </a:t>
              </a:r>
              <a:r>
                <a:rPr lang="ko-KR" altLang="en-US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문제를   해결하였습니다</a:t>
              </a:r>
              <a:r>
                <a:rPr lang="en-US" altLang="ko-KR" sz="12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. 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B4A1D33-52C5-F30E-9E46-4AB21403DE29}"/>
                </a:ext>
              </a:extLst>
            </p:cNvPr>
            <p:cNvSpPr txBox="1"/>
            <p:nvPr/>
          </p:nvSpPr>
          <p:spPr>
            <a:xfrm>
              <a:off x="993236" y="1775199"/>
              <a:ext cx="5180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spc="-3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FC751618-941A-E12D-568F-877F19FD843D}"/>
                </a:ext>
              </a:extLst>
            </p:cNvPr>
            <p:cNvCxnSpPr>
              <a:cxnSpLocks/>
            </p:cNvCxnSpPr>
            <p:nvPr/>
          </p:nvCxnSpPr>
          <p:spPr>
            <a:xfrm>
              <a:off x="993236" y="2063298"/>
              <a:ext cx="410400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AC4BE54-38F3-1548-5478-9F59B81EE4E9}"/>
              </a:ext>
            </a:extLst>
          </p:cNvPr>
          <p:cNvSpPr txBox="1"/>
          <p:nvPr/>
        </p:nvSpPr>
        <p:spPr>
          <a:xfrm flipH="1">
            <a:off x="608668" y="789960"/>
            <a:ext cx="487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구글 </a:t>
            </a:r>
            <a:r>
              <a:rPr lang="ko-KR" altLang="en-US" sz="2000" b="1" spc="-300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머신러닝</a:t>
            </a:r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부트캠프</a:t>
            </a:r>
            <a:endParaRPr lang="en-US" altLang="ko-KR" sz="2000" b="1" spc="-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en-US" altLang="ko-KR" sz="1600" dirty="0">
                <a:solidFill>
                  <a:schemeClr val="accent1">
                    <a:lumMod val="50000"/>
                  </a:schemeClr>
                </a:solidFill>
              </a:rPr>
              <a:t>KAGGLE </a:t>
            </a:r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대회 참여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B53019-DB93-F676-454F-AF78916C516B}"/>
              </a:ext>
            </a:extLst>
          </p:cNvPr>
          <p:cNvSpPr/>
          <p:nvPr/>
        </p:nvSpPr>
        <p:spPr>
          <a:xfrm>
            <a:off x="6363137" y="4416018"/>
            <a:ext cx="4996777" cy="18989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C18872-0BB6-B369-16EE-593AAF6B332A}"/>
              </a:ext>
            </a:extLst>
          </p:cNvPr>
          <p:cNvSpPr txBox="1"/>
          <p:nvPr/>
        </p:nvSpPr>
        <p:spPr>
          <a:xfrm>
            <a:off x="6524285" y="4429912"/>
            <a:ext cx="692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배운 점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BD8644F-B771-7351-39C1-71ABE0D23E16}"/>
              </a:ext>
            </a:extLst>
          </p:cNvPr>
          <p:cNvCxnSpPr>
            <a:cxnSpLocks/>
          </p:cNvCxnSpPr>
          <p:nvPr/>
        </p:nvCxnSpPr>
        <p:spPr>
          <a:xfrm>
            <a:off x="6524285" y="4811198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FA1BD5E-45FD-2F4C-B339-5CD555936F89}"/>
              </a:ext>
            </a:extLst>
          </p:cNvPr>
          <p:cNvSpPr txBox="1"/>
          <p:nvPr/>
        </p:nvSpPr>
        <p:spPr>
          <a:xfrm>
            <a:off x="6524285" y="4855566"/>
            <a:ext cx="4689107" cy="1405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저와 팀원 모두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Kaggle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대회에 처음 참여한 만큼 성과보다는 협업을 통한 문제 해결 과정을 경험하고 다양한 모델 학습을 통해 실질적인 분석 역량을 강화하는 데 목적을 두었습니다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Kaggle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대회를 통해 문제를 혼자서 해결할 때보다 팀을 이루어 서로 협동한다면 보다 효율적이고 높은 시너지를 발휘하여 좋은 성과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결과로 이어질 수 있다는 점을 배울 수 있었습니다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C070EC-6976-A96B-78D6-8A330AA28918}"/>
              </a:ext>
            </a:extLst>
          </p:cNvPr>
          <p:cNvSpPr txBox="1"/>
          <p:nvPr/>
        </p:nvSpPr>
        <p:spPr>
          <a:xfrm>
            <a:off x="993236" y="3383287"/>
            <a:ext cx="4689107" cy="1627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학습한 내용을 토대로 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Logistic Regression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과 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Random Forest 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알고리즘 등을 적용하여 모델링을 진행하였으나 대회에 참가한 다른 팀들에 비해 결과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(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성능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)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가 불만족스러웠습니다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.</a:t>
            </a:r>
          </a:p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이에 </a:t>
            </a:r>
            <a:r>
              <a:rPr lang="ko-KR" altLang="en-US" sz="1200" spc="-150" dirty="0" err="1">
                <a:solidFill>
                  <a:srgbClr val="404040"/>
                </a:solidFill>
                <a:latin typeface="+mn-ea"/>
              </a:rPr>
              <a:t>팀원들과의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지속적인 온라인 미팅과 </a:t>
            </a:r>
            <a:r>
              <a:rPr lang="ko-KR" altLang="en-US" sz="1200" spc="-150" dirty="0" err="1">
                <a:solidFill>
                  <a:srgbClr val="404040"/>
                </a:solidFill>
                <a:latin typeface="+mn-ea"/>
              </a:rPr>
              <a:t>심도있는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논의를 통해 모델을 개선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(</a:t>
            </a:r>
            <a:r>
              <a:rPr lang="ko-KR" altLang="en-US" sz="1200" spc="-150" dirty="0" err="1">
                <a:solidFill>
                  <a:srgbClr val="404040"/>
                </a:solidFill>
                <a:latin typeface="+mn-ea"/>
              </a:rPr>
              <a:t>전처리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개선 및 새로운 모델 활용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)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하였으며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, 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같은 대회에 참가한 부트캠프 </a:t>
            </a:r>
            <a:r>
              <a:rPr lang="ko-KR" altLang="en-US" sz="1200" spc="-150" dirty="0" err="1">
                <a:solidFill>
                  <a:srgbClr val="404040"/>
                </a:solidFill>
                <a:latin typeface="+mn-ea"/>
              </a:rPr>
              <a:t>동료들과도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적극적으로 의견을 교환하여 다양한 모델링 전략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(</a:t>
            </a:r>
            <a:r>
              <a:rPr lang="en-US" altLang="ko-KR" sz="1200" spc="-150" dirty="0" err="1">
                <a:solidFill>
                  <a:srgbClr val="404040"/>
                </a:solidFill>
                <a:latin typeface="+mn-ea"/>
              </a:rPr>
              <a:t>optuna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를 이용한 모델 앙상블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)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을 벤치마킹하였습니다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5C2F72-B120-7A71-CDFB-4E3302E91799}"/>
              </a:ext>
            </a:extLst>
          </p:cNvPr>
          <p:cNvSpPr txBox="1"/>
          <p:nvPr/>
        </p:nvSpPr>
        <p:spPr>
          <a:xfrm>
            <a:off x="993236" y="3053766"/>
            <a:ext cx="1582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문제점   및     해결방안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E2B98A3-45EC-1360-C5A2-E99B9A80FEEF}"/>
              </a:ext>
            </a:extLst>
          </p:cNvPr>
          <p:cNvCxnSpPr>
            <a:cxnSpLocks/>
          </p:cNvCxnSpPr>
          <p:nvPr/>
        </p:nvCxnSpPr>
        <p:spPr>
          <a:xfrm>
            <a:off x="993236" y="3349720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BF8277-3F2B-9F68-2EBD-92D98501A629}"/>
              </a:ext>
            </a:extLst>
          </p:cNvPr>
          <p:cNvSpPr txBox="1"/>
          <p:nvPr/>
        </p:nvSpPr>
        <p:spPr>
          <a:xfrm>
            <a:off x="993236" y="5396236"/>
            <a:ext cx="4689107" cy="7408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많은 시도 끝에 </a:t>
            </a:r>
            <a:r>
              <a:rPr lang="ko-KR" altLang="en-US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전치리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과정을 보완하고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Gradient Boosting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알고리즘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(LGBM, XGB, </a:t>
            </a:r>
            <a:r>
              <a:rPr lang="en-US" altLang="ko-KR" sz="12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CatBoost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적용하여 성능을 끌어 올렸으며 협업을 통한 문제해결 과정을 통해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1908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팀 중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166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등으로 상위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9%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이내를   달성할 수 있었습니다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0A5FD0-BDB2-2376-86CB-4AE6BE1322AD}"/>
              </a:ext>
            </a:extLst>
          </p:cNvPr>
          <p:cNvSpPr txBox="1"/>
          <p:nvPr/>
        </p:nvSpPr>
        <p:spPr>
          <a:xfrm>
            <a:off x="993236" y="5075867"/>
            <a:ext cx="5180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결과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DB5099A-C03F-C082-3610-BA77C888A184}"/>
              </a:ext>
            </a:extLst>
          </p:cNvPr>
          <p:cNvCxnSpPr>
            <a:cxnSpLocks/>
          </p:cNvCxnSpPr>
          <p:nvPr/>
        </p:nvCxnSpPr>
        <p:spPr>
          <a:xfrm>
            <a:off x="993236" y="5362669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EAB6920-C2F8-85ED-53FF-59360EB7F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0801" y="2882296"/>
            <a:ext cx="4821447" cy="763562"/>
          </a:xfrm>
          <a:prstGeom prst="rect">
            <a:avLst/>
          </a:prstGeom>
        </p:spPr>
      </p:pic>
      <p:grpSp>
        <p:nvGrpSpPr>
          <p:cNvPr id="24" name="그룹 1003">
            <a:extLst>
              <a:ext uri="{FF2B5EF4-FFF2-40B4-BE49-F238E27FC236}">
                <a16:creationId xmlns:a16="http://schemas.microsoft.com/office/drawing/2014/main" id="{08692BE1-9BB4-BD8C-81A8-306637C357B1}"/>
              </a:ext>
            </a:extLst>
          </p:cNvPr>
          <p:cNvGrpSpPr/>
          <p:nvPr/>
        </p:nvGrpSpPr>
        <p:grpSpPr>
          <a:xfrm>
            <a:off x="9310292" y="2977610"/>
            <a:ext cx="1372077" cy="1142781"/>
            <a:chOff x="14042095" y="4142888"/>
            <a:chExt cx="2549492" cy="1936739"/>
          </a:xfrm>
        </p:grpSpPr>
        <p:pic>
          <p:nvPicPr>
            <p:cNvPr id="25" name="Object 8">
              <a:extLst>
                <a:ext uri="{FF2B5EF4-FFF2-40B4-BE49-F238E27FC236}">
                  <a16:creationId xmlns:a16="http://schemas.microsoft.com/office/drawing/2014/main" id="{31068EAB-1A2F-4396-B46C-7E6E06E25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42095" y="4142888"/>
              <a:ext cx="2549492" cy="193673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51BC071-66EE-E2F2-BD7B-87077E836E9C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20</a:t>
            </a:r>
            <a:endParaRPr lang="ko-KR" altLang="en-US" dirty="0">
              <a:solidFill>
                <a:srgbClr val="224D60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5D52E96-54B4-8551-61C3-37412957C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849" y="3913933"/>
            <a:ext cx="5145977" cy="304495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D10294-39BB-5770-A58C-1F284535F275}"/>
              </a:ext>
            </a:extLst>
          </p:cNvPr>
          <p:cNvSpPr/>
          <p:nvPr/>
        </p:nvSpPr>
        <p:spPr>
          <a:xfrm>
            <a:off x="10839450" y="3225656"/>
            <a:ext cx="292809" cy="11488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0556BBD-7394-0EA2-17FD-E36154F53764}"/>
              </a:ext>
            </a:extLst>
          </p:cNvPr>
          <p:cNvSpPr/>
          <p:nvPr/>
        </p:nvSpPr>
        <p:spPr>
          <a:xfrm>
            <a:off x="9906000" y="3331705"/>
            <a:ext cx="528325" cy="20728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C34943DC-D0D9-A83E-7224-694248F36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3137" y="629315"/>
            <a:ext cx="4996775" cy="1792639"/>
          </a:xfrm>
          <a:prstGeom prst="rect">
            <a:avLst/>
          </a:prstGeom>
          <a:ln w="12700">
            <a:solidFill>
              <a:srgbClr val="163644"/>
            </a:solidFill>
          </a:ln>
        </p:spPr>
      </p:pic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F70828CA-CD81-0DD0-BE30-13F82F02E55E}"/>
              </a:ext>
            </a:extLst>
          </p:cNvPr>
          <p:cNvCxnSpPr/>
          <p:nvPr/>
        </p:nvCxnSpPr>
        <p:spPr>
          <a:xfrm flipH="1">
            <a:off x="10521950" y="3298633"/>
            <a:ext cx="241300" cy="97295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Object 17">
            <a:extLst>
              <a:ext uri="{FF2B5EF4-FFF2-40B4-BE49-F238E27FC236}">
                <a16:creationId xmlns:a16="http://schemas.microsoft.com/office/drawing/2014/main" id="{F2F89EA3-F7AB-3B49-26BA-A619D1859B69}"/>
              </a:ext>
            </a:extLst>
          </p:cNvPr>
          <p:cNvSpPr txBox="1"/>
          <p:nvPr/>
        </p:nvSpPr>
        <p:spPr>
          <a:xfrm>
            <a:off x="9778073" y="2419908"/>
            <a:ext cx="1589433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데이터 파이프라인</a:t>
            </a:r>
            <a:endParaRPr lang="en-US" sz="12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8F07CD6-A3BE-FC2B-E59C-0F827DBDDA97}"/>
              </a:ext>
            </a:extLst>
          </p:cNvPr>
          <p:cNvSpPr/>
          <p:nvPr/>
        </p:nvSpPr>
        <p:spPr>
          <a:xfrm>
            <a:off x="6363137" y="2703893"/>
            <a:ext cx="4996776" cy="1641786"/>
          </a:xfrm>
          <a:prstGeom prst="rect">
            <a:avLst/>
          </a:prstGeom>
          <a:noFill/>
          <a:ln w="12700">
            <a:solidFill>
              <a:srgbClr val="163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87B600A0-3C3F-1424-B059-F3CFE8C6751C}"/>
              </a:ext>
            </a:extLst>
          </p:cNvPr>
          <p:cNvSpPr/>
          <p:nvPr/>
        </p:nvSpPr>
        <p:spPr>
          <a:xfrm>
            <a:off x="10774802" y="3989218"/>
            <a:ext cx="423962" cy="1663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Object 17">
            <a:extLst>
              <a:ext uri="{FF2B5EF4-FFF2-40B4-BE49-F238E27FC236}">
                <a16:creationId xmlns:a16="http://schemas.microsoft.com/office/drawing/2014/main" id="{C6D06042-FBF6-5A38-46B3-6DC5DA52764C}"/>
              </a:ext>
            </a:extLst>
          </p:cNvPr>
          <p:cNvSpPr txBox="1"/>
          <p:nvPr/>
        </p:nvSpPr>
        <p:spPr>
          <a:xfrm>
            <a:off x="9930748" y="3750939"/>
            <a:ext cx="2110212" cy="261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▼</a:t>
            </a:r>
            <a:r>
              <a:rPr lang="en-US" altLang="ko-KR" sz="105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Score</a:t>
            </a:r>
            <a:endParaRPr lang="en-US" sz="1050" dirty="0"/>
          </a:p>
        </p:txBody>
      </p:sp>
      <p:sp>
        <p:nvSpPr>
          <p:cNvPr id="87" name="Object 24">
            <a:extLst>
              <a:ext uri="{FF2B5EF4-FFF2-40B4-BE49-F238E27FC236}">
                <a16:creationId xmlns:a16="http://schemas.microsoft.com/office/drawing/2014/main" id="{F4424F21-447C-52B0-97BF-30198F10899B}"/>
              </a:ext>
            </a:extLst>
          </p:cNvPr>
          <p:cNvSpPr txBox="1"/>
          <p:nvPr/>
        </p:nvSpPr>
        <p:spPr>
          <a:xfrm>
            <a:off x="6174379" y="2419908"/>
            <a:ext cx="1693272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▼Kaggle 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대회 </a:t>
            </a:r>
            <a:r>
              <a:rPr 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결과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8686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6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교외활동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5EAEBA4-A062-AB51-F778-8EE3BFDB19B3}"/>
              </a:ext>
            </a:extLst>
          </p:cNvPr>
          <p:cNvSpPr/>
          <p:nvPr/>
        </p:nvSpPr>
        <p:spPr>
          <a:xfrm>
            <a:off x="1519456" y="4729432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A260D79-7475-6715-BDA6-64A5CCD5C7AF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70347D9-189F-0104-ED73-22A5F2F2B005}"/>
              </a:ext>
            </a:extLst>
          </p:cNvPr>
          <p:cNvSpPr/>
          <p:nvPr/>
        </p:nvSpPr>
        <p:spPr>
          <a:xfrm>
            <a:off x="819948" y="1761072"/>
            <a:ext cx="4996777" cy="45061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11BB8D-7977-A914-E874-5CC672567CF5}"/>
              </a:ext>
            </a:extLst>
          </p:cNvPr>
          <p:cNvSpPr txBox="1"/>
          <p:nvPr/>
        </p:nvSpPr>
        <p:spPr>
          <a:xfrm>
            <a:off x="993236" y="2300675"/>
            <a:ext cx="4689107" cy="8931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구글을  포함한 넥슨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,  </a:t>
            </a:r>
            <a:r>
              <a:rPr lang="ko-KR" altLang="en-US" sz="1200" spc="-150" dirty="0" err="1">
                <a:solidFill>
                  <a:srgbClr val="404040"/>
                </a:solidFill>
                <a:latin typeface="+mn-ea"/>
              </a:rPr>
              <a:t>몰로코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,  KT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등 국내 대표적인 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AI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기업의  </a:t>
            </a:r>
            <a:r>
              <a:rPr lang="ko-KR" altLang="en-US" sz="1200" spc="-150" dirty="0" err="1">
                <a:solidFill>
                  <a:srgbClr val="404040"/>
                </a:solidFill>
                <a:latin typeface="+mn-ea"/>
              </a:rPr>
              <a:t>테크톡에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참여하여  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AI 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전문가  분들의  경험과  노하우를  배울 수 있었고 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,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 향후  데이터 분석 전문가로서 성장하기 위한    비전과  목표를  다질 수 있었습니다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B1CA75-265E-0FEC-A477-82E2D5EA2F26}"/>
              </a:ext>
            </a:extLst>
          </p:cNvPr>
          <p:cNvSpPr txBox="1"/>
          <p:nvPr/>
        </p:nvSpPr>
        <p:spPr>
          <a:xfrm>
            <a:off x="993236" y="1944846"/>
            <a:ext cx="6848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테크톡</a:t>
            </a:r>
            <a:endParaRPr lang="ko-KR" altLang="en-US" sz="16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83E6387-B451-D9F2-D683-3DFEE89411F8}"/>
              </a:ext>
            </a:extLst>
          </p:cNvPr>
          <p:cNvCxnSpPr>
            <a:cxnSpLocks/>
          </p:cNvCxnSpPr>
          <p:nvPr/>
        </p:nvCxnSpPr>
        <p:spPr>
          <a:xfrm>
            <a:off x="993236" y="2267108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0E08C3B-B534-4BB2-9210-BAA9A1A558F5}"/>
              </a:ext>
            </a:extLst>
          </p:cNvPr>
          <p:cNvSpPr txBox="1"/>
          <p:nvPr/>
        </p:nvSpPr>
        <p:spPr>
          <a:xfrm flipH="1">
            <a:off x="608668" y="794066"/>
            <a:ext cx="487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구글 </a:t>
            </a:r>
            <a:r>
              <a:rPr lang="ko-KR" altLang="en-US" sz="2000" b="1" spc="-300" dirty="0" err="1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머신러닝</a:t>
            </a:r>
            <a:r>
              <a:rPr lang="ko-KR" altLang="en-US" sz="2000" b="1" spc="-3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 부트캠프</a:t>
            </a:r>
            <a:endParaRPr lang="en-US" altLang="ko-KR" sz="2000" b="1" spc="-3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r>
              <a:rPr lang="ko-KR" altLang="en-US" sz="1600" dirty="0">
                <a:solidFill>
                  <a:schemeClr val="accent1">
                    <a:lumMod val="50000"/>
                  </a:schemeClr>
                </a:solidFill>
              </a:rPr>
              <a:t>다양한 활동 참여</a:t>
            </a:r>
            <a:endParaRPr lang="en-US" altLang="ko-KR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16D7FB-C156-43F1-903E-9D70BBAE471F}"/>
              </a:ext>
            </a:extLst>
          </p:cNvPr>
          <p:cNvSpPr txBox="1"/>
          <p:nvPr/>
        </p:nvSpPr>
        <p:spPr>
          <a:xfrm>
            <a:off x="993236" y="3795664"/>
            <a:ext cx="4689107" cy="1724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온라인으로만 미팅을 진행하던 팀원분들과 구글 부트캠프 졸업식을 통해 처음 대면으로 만날 수 있었습니다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뿐만 아니라 졸업식과 저녁식사를 통해 저와 같이 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와 데이터분석에 관심있는 다양한 분야의 동료분들과 이야기를 나눌 수 있었습니다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 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당시 졸업 축하를 위해 참석해 주셨던 부트캠프 선배님들로부터 축사와 부트캠프 이후의 커리어에 대한 이야기를 들을 수 있었습니다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94B38F-07A3-F16F-4289-38DEE532D190}"/>
              </a:ext>
            </a:extLst>
          </p:cNvPr>
          <p:cNvSpPr txBox="1"/>
          <p:nvPr/>
        </p:nvSpPr>
        <p:spPr>
          <a:xfrm>
            <a:off x="969191" y="3441291"/>
            <a:ext cx="21307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구글    부트캠프     졸업식</a:t>
            </a:r>
            <a:r>
              <a:rPr lang="en-US" altLang="ko-KR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수료</a:t>
            </a:r>
            <a:r>
              <a:rPr lang="en-US" altLang="ko-KR" sz="1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endParaRPr lang="ko-KR" altLang="en-US" sz="16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037C94C-DB59-73A8-9CCF-B34BC5D26DC8}"/>
              </a:ext>
            </a:extLst>
          </p:cNvPr>
          <p:cNvCxnSpPr>
            <a:cxnSpLocks/>
          </p:cNvCxnSpPr>
          <p:nvPr/>
        </p:nvCxnSpPr>
        <p:spPr>
          <a:xfrm>
            <a:off x="993236" y="3762097"/>
            <a:ext cx="4104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Object 27">
            <a:extLst>
              <a:ext uri="{FF2B5EF4-FFF2-40B4-BE49-F238E27FC236}">
                <a16:creationId xmlns:a16="http://schemas.microsoft.com/office/drawing/2014/main" id="{EC7292BA-A60A-3169-D196-B7E7F16B771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81127" y="1086555"/>
            <a:ext cx="3875974" cy="1874364"/>
          </a:xfrm>
          <a:prstGeom prst="rect">
            <a:avLst/>
          </a:prstGeom>
        </p:spPr>
      </p:pic>
      <p:sp>
        <p:nvSpPr>
          <p:cNvPr id="28" name="Object 30">
            <a:extLst>
              <a:ext uri="{FF2B5EF4-FFF2-40B4-BE49-F238E27FC236}">
                <a16:creationId xmlns:a16="http://schemas.microsoft.com/office/drawing/2014/main" id="{6202043B-4D80-98FE-0BAE-53AAE1359A2D}"/>
              </a:ext>
            </a:extLst>
          </p:cNvPr>
          <p:cNvSpPr txBox="1"/>
          <p:nvPr/>
        </p:nvSpPr>
        <p:spPr>
          <a:xfrm>
            <a:off x="10019210" y="2973966"/>
            <a:ext cx="937891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</a:t>
            </a:r>
            <a:r>
              <a:rPr 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테크톡</a:t>
            </a:r>
            <a:endParaRPr lang="en-US" sz="1200" dirty="0"/>
          </a:p>
        </p:txBody>
      </p:sp>
      <p:pic>
        <p:nvPicPr>
          <p:cNvPr id="29" name="Object 14">
            <a:extLst>
              <a:ext uri="{FF2B5EF4-FFF2-40B4-BE49-F238E27FC236}">
                <a16:creationId xmlns:a16="http://schemas.microsoft.com/office/drawing/2014/main" id="{7C12AFF4-CCE7-B8AD-4C12-2590CF9C882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08563" y="3907454"/>
            <a:ext cx="1769843" cy="2359791"/>
          </a:xfrm>
          <a:prstGeom prst="rect">
            <a:avLst/>
          </a:prstGeom>
        </p:spPr>
      </p:pic>
      <p:pic>
        <p:nvPicPr>
          <p:cNvPr id="30" name="Object 17">
            <a:extLst>
              <a:ext uri="{FF2B5EF4-FFF2-40B4-BE49-F238E27FC236}">
                <a16:creationId xmlns:a16="http://schemas.microsoft.com/office/drawing/2014/main" id="{91E47FCC-9182-9EC2-B47C-98E7569EB63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081794" y="3660745"/>
            <a:ext cx="1790189" cy="1342641"/>
          </a:xfrm>
          <a:prstGeom prst="rect">
            <a:avLst/>
          </a:prstGeom>
        </p:spPr>
      </p:pic>
      <p:sp>
        <p:nvSpPr>
          <p:cNvPr id="32" name="Object 26">
            <a:extLst>
              <a:ext uri="{FF2B5EF4-FFF2-40B4-BE49-F238E27FC236}">
                <a16:creationId xmlns:a16="http://schemas.microsoft.com/office/drawing/2014/main" id="{269C70A8-7B17-E91A-7CCF-21829ED836AC}"/>
              </a:ext>
            </a:extLst>
          </p:cNvPr>
          <p:cNvSpPr txBox="1"/>
          <p:nvPr/>
        </p:nvSpPr>
        <p:spPr>
          <a:xfrm>
            <a:off x="8022066" y="4748803"/>
            <a:ext cx="2059728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◀ </a:t>
            </a:r>
            <a:r>
              <a:rPr 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구글</a:t>
            </a:r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부트캠프</a:t>
            </a:r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졸업식</a:t>
            </a:r>
            <a:r>
              <a:rPr lang="en-US" altLang="ko-KR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 ▶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E252B-F34A-7EAC-E0B4-B45D77D7BC25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21</a:t>
            </a:r>
            <a:endParaRPr lang="ko-KR" altLang="en-US" dirty="0">
              <a:solidFill>
                <a:srgbClr val="224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9005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1714833"/>
            <a:ext cx="5514651" cy="2021435"/>
            <a:chOff x="6817895" y="1153359"/>
            <a:chExt cx="5514651" cy="202143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1153359"/>
              <a:ext cx="5514651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0" b="1" dirty="0">
                  <a:solidFill>
                    <a:schemeClr val="bg1"/>
                  </a:solidFill>
                  <a:latin typeface="+mj-ea"/>
                  <a:ea typeface="+mj-ea"/>
                </a:rPr>
                <a:t>7. </a:t>
              </a:r>
              <a:r>
                <a:rPr lang="ko-KR" altLang="en-US" sz="4800" b="1" dirty="0">
                  <a:solidFill>
                    <a:schemeClr val="bg1"/>
                  </a:solidFill>
                  <a:latin typeface="+mj-ea"/>
                  <a:ea typeface="+mj-ea"/>
                </a:rPr>
                <a:t>자격증 </a:t>
              </a:r>
              <a:r>
                <a:rPr lang="en-US" altLang="ko-KR" sz="4800" b="1" dirty="0">
                  <a:solidFill>
                    <a:schemeClr val="bg1"/>
                  </a:solidFill>
                  <a:latin typeface="+mj-ea"/>
                  <a:ea typeface="+mj-ea"/>
                </a:rPr>
                <a:t>&amp; </a:t>
              </a:r>
              <a:r>
                <a:rPr lang="ko-KR" altLang="en-US" sz="4800" b="1" dirty="0">
                  <a:solidFill>
                    <a:schemeClr val="bg1"/>
                  </a:solidFill>
                  <a:latin typeface="+mj-ea"/>
                  <a:ea typeface="+mj-ea"/>
                </a:rPr>
                <a:t>스킬</a:t>
              </a:r>
              <a:endParaRPr lang="ko-KR" altLang="en-US" sz="12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292614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317479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4B1C5-1DD9-AF15-DE3F-02859903813A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66F82-2383-8FB8-8C24-49C1562D79A2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22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888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7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2089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자격증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&amp;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스킬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0A2222-1861-0C93-F3FF-B480F0A8C532}"/>
              </a:ext>
            </a:extLst>
          </p:cNvPr>
          <p:cNvSpPr/>
          <p:nvPr/>
        </p:nvSpPr>
        <p:spPr>
          <a:xfrm>
            <a:off x="872568" y="2428435"/>
            <a:ext cx="3941202" cy="3508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86559F-3837-B749-A77F-EE960F0146CE}"/>
              </a:ext>
            </a:extLst>
          </p:cNvPr>
          <p:cNvSpPr/>
          <p:nvPr/>
        </p:nvSpPr>
        <p:spPr>
          <a:xfrm>
            <a:off x="872568" y="2428433"/>
            <a:ext cx="3941202" cy="60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9B041E-DDEB-6C62-ECA0-3BC0C2E9BA85}"/>
              </a:ext>
            </a:extLst>
          </p:cNvPr>
          <p:cNvSpPr txBox="1"/>
          <p:nvPr/>
        </p:nvSpPr>
        <p:spPr>
          <a:xfrm>
            <a:off x="2520003" y="2540756"/>
            <a:ext cx="646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95000"/>
                  </a:schemeClr>
                </a:solidFill>
              </a:rPr>
              <a:t>스킬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E2E9DD-A907-410C-F125-ADC1C9942C5F}"/>
              </a:ext>
            </a:extLst>
          </p:cNvPr>
          <p:cNvSpPr txBox="1"/>
          <p:nvPr/>
        </p:nvSpPr>
        <p:spPr>
          <a:xfrm>
            <a:off x="1042293" y="3665115"/>
            <a:ext cx="3861390" cy="125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Programming : Python ,R, SQL, JAVA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 Processing : Pandas, </a:t>
            </a:r>
            <a:r>
              <a:rPr lang="en-US" altLang="ko-KR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Numpy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Excel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Machine Learning : Scikit-learn, TensorFlow, </a:t>
            </a:r>
            <a:r>
              <a:rPr lang="en-US" altLang="ko-KR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PyTorch</a:t>
            </a:r>
            <a:endParaRPr lang="en-US" altLang="ko-KR" sz="16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Data Visualization : Tableau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C4C1EE-DDC8-63CB-5CB5-57A92E02D6BD}"/>
              </a:ext>
            </a:extLst>
          </p:cNvPr>
          <p:cNvGrpSpPr/>
          <p:nvPr/>
        </p:nvGrpSpPr>
        <p:grpSpPr>
          <a:xfrm>
            <a:off x="4973345" y="2428433"/>
            <a:ext cx="3941202" cy="3542435"/>
            <a:chOff x="3641239" y="2036556"/>
            <a:chExt cx="2086994" cy="354243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AF95BF3-A33E-3ED4-D4B8-1B89DC6B1DC5}"/>
                </a:ext>
              </a:extLst>
            </p:cNvPr>
            <p:cNvSpPr/>
            <p:nvPr/>
          </p:nvSpPr>
          <p:spPr>
            <a:xfrm>
              <a:off x="3641239" y="2070205"/>
              <a:ext cx="2086994" cy="35087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71F45B0-605A-3EEB-231C-67A24AD70A01}"/>
                </a:ext>
              </a:extLst>
            </p:cNvPr>
            <p:cNvSpPr/>
            <p:nvPr/>
          </p:nvSpPr>
          <p:spPr>
            <a:xfrm>
              <a:off x="3641239" y="2036556"/>
              <a:ext cx="2086994" cy="6042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D46FD89-E348-2DE4-1889-54E2ADFDD6B6}"/>
                </a:ext>
              </a:extLst>
            </p:cNvPr>
            <p:cNvSpPr txBox="1"/>
            <p:nvPr/>
          </p:nvSpPr>
          <p:spPr>
            <a:xfrm>
              <a:off x="4246154" y="2148879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자격증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245D7FA-2EDE-736A-9A25-5D557ABCECD3}"/>
                </a:ext>
              </a:extLst>
            </p:cNvPr>
            <p:cNvSpPr txBox="1"/>
            <p:nvPr/>
          </p:nvSpPr>
          <p:spPr>
            <a:xfrm>
              <a:off x="3688851" y="3273238"/>
              <a:ext cx="1946227" cy="1673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2025.10</a:t>
              </a:r>
              <a:r>
                <a:rPr lang="en-US" altLang="ko-KR" sz="1400" b="1" spc="-150" dirty="0">
                  <a:solidFill>
                    <a:srgbClr val="FF0000"/>
                  </a:solidFill>
                  <a:latin typeface="+mn-ea"/>
                </a:rPr>
                <a:t> HDAT - DA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Hyundai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Motor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Group</a:t>
              </a:r>
              <a:endPara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2023.06</a:t>
              </a:r>
              <a:r>
                <a:rPr lang="en-US" altLang="ko-KR" sz="1400" b="1" spc="-150" dirty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lang="ko-KR" altLang="en-US" sz="1400" b="1" spc="-150" dirty="0">
                  <a:solidFill>
                    <a:srgbClr val="FF0000"/>
                  </a:solidFill>
                  <a:latin typeface="+mn-ea"/>
                </a:rPr>
                <a:t>정보처리기사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한국산업인력공단</a:t>
              </a:r>
              <a:endPara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2022.09</a:t>
              </a:r>
              <a:r>
                <a:rPr lang="en-US" altLang="ko-KR" sz="1400" b="1" spc="-150" dirty="0">
                  <a:solidFill>
                    <a:srgbClr val="FF0000"/>
                  </a:solidFill>
                  <a:latin typeface="+mn-ea"/>
                </a:rPr>
                <a:t> SQLD 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4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한국데이터산업진흥원</a:t>
              </a:r>
              <a:endPara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2022.07</a:t>
              </a:r>
              <a:r>
                <a:rPr lang="en-US" altLang="ko-KR" sz="1400" b="1" spc="-150" dirty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lang="ko-KR" altLang="en-US" sz="1400" b="1" spc="-150" dirty="0" err="1">
                  <a:solidFill>
                    <a:srgbClr val="FF0000"/>
                  </a:solidFill>
                  <a:latin typeface="+mn-ea"/>
                </a:rPr>
                <a:t>빅데이터분석기사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4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한국데이터산업진흥원</a:t>
              </a:r>
              <a:endPara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A11B5A-83BB-081D-E73D-91C9BDEA3CF0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5BF3D1C-6A23-7713-62BB-02BECBB7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25" y="1267050"/>
            <a:ext cx="6167136" cy="75029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B92E7E4-EC18-6ED8-E375-51FAD4CE1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242" y="2279471"/>
            <a:ext cx="2186097" cy="1565983"/>
          </a:xfrm>
          <a:prstGeom prst="rect">
            <a:avLst/>
          </a:prstGeom>
        </p:spPr>
      </p:pic>
      <p:grpSp>
        <p:nvGrpSpPr>
          <p:cNvPr id="31" name="그룹 1005">
            <a:extLst>
              <a:ext uri="{FF2B5EF4-FFF2-40B4-BE49-F238E27FC236}">
                <a16:creationId xmlns:a16="http://schemas.microsoft.com/office/drawing/2014/main" id="{4C76E09C-C4FA-A035-4C32-66A6039CDCA6}"/>
              </a:ext>
            </a:extLst>
          </p:cNvPr>
          <p:cNvGrpSpPr/>
          <p:nvPr/>
        </p:nvGrpSpPr>
        <p:grpSpPr>
          <a:xfrm>
            <a:off x="9713542" y="4244771"/>
            <a:ext cx="2110397" cy="1744813"/>
            <a:chOff x="11632754" y="5758445"/>
            <a:chExt cx="3468654" cy="3118688"/>
          </a:xfrm>
        </p:grpSpPr>
        <p:pic>
          <p:nvPicPr>
            <p:cNvPr id="32" name="Object 27">
              <a:extLst>
                <a:ext uri="{FF2B5EF4-FFF2-40B4-BE49-F238E27FC236}">
                  <a16:creationId xmlns:a16="http://schemas.microsoft.com/office/drawing/2014/main" id="{2F5E1A1C-FA42-ABB8-043E-D8D197D29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32754" y="5758445"/>
              <a:ext cx="3468654" cy="3118688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76E2049-A4EA-56B6-3008-91CFC7C936A5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23</a:t>
            </a:r>
            <a:endParaRPr lang="ko-KR" altLang="en-US" dirty="0">
              <a:solidFill>
                <a:srgbClr val="224D60"/>
              </a:solidFill>
            </a:endParaRPr>
          </a:p>
        </p:txBody>
      </p:sp>
      <p:sp>
        <p:nvSpPr>
          <p:cNvPr id="11" name="Object 43">
            <a:extLst>
              <a:ext uri="{FF2B5EF4-FFF2-40B4-BE49-F238E27FC236}">
                <a16:creationId xmlns:a16="http://schemas.microsoft.com/office/drawing/2014/main" id="{67662929-D72C-FA22-4125-336793FF8EFD}"/>
              </a:ext>
            </a:extLst>
          </p:cNvPr>
          <p:cNvSpPr txBox="1"/>
          <p:nvPr/>
        </p:nvSpPr>
        <p:spPr>
          <a:xfrm>
            <a:off x="9498182" y="5911368"/>
            <a:ext cx="165049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</a:t>
            </a:r>
            <a:r>
              <a:rPr lang="ko-KR" alt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정보처리기사</a:t>
            </a:r>
            <a:endParaRPr lang="en-US" sz="1200" dirty="0"/>
          </a:p>
        </p:txBody>
      </p:sp>
      <p:sp>
        <p:nvSpPr>
          <p:cNvPr id="12" name="Object 24">
            <a:extLst>
              <a:ext uri="{FF2B5EF4-FFF2-40B4-BE49-F238E27FC236}">
                <a16:creationId xmlns:a16="http://schemas.microsoft.com/office/drawing/2014/main" id="{DB8E07FD-100F-1D22-E22B-587289A99615}"/>
              </a:ext>
            </a:extLst>
          </p:cNvPr>
          <p:cNvSpPr txBox="1"/>
          <p:nvPr/>
        </p:nvSpPr>
        <p:spPr>
          <a:xfrm>
            <a:off x="9570503" y="1903138"/>
            <a:ext cx="1693272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▼</a:t>
            </a:r>
            <a:r>
              <a:rPr lang="ko-KR" altLang="en-US" sz="1200" dirty="0" err="1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빅데이터분석기사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07764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1714833"/>
            <a:ext cx="5374105" cy="2021435"/>
            <a:chOff x="6817895" y="1153359"/>
            <a:chExt cx="5374105" cy="202143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1153359"/>
              <a:ext cx="4185761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0" b="1" dirty="0">
                  <a:solidFill>
                    <a:schemeClr val="bg1"/>
                  </a:solidFill>
                  <a:latin typeface="+mj-ea"/>
                  <a:ea typeface="+mj-ea"/>
                </a:rPr>
                <a:t>8. </a:t>
              </a:r>
              <a:r>
                <a:rPr lang="ko-KR" altLang="en-US" sz="4800" b="1" dirty="0">
                  <a:solidFill>
                    <a:schemeClr val="bg1"/>
                  </a:solidFill>
                  <a:latin typeface="+mj-ea"/>
                  <a:ea typeface="+mj-ea"/>
                </a:rPr>
                <a:t>수상내역</a:t>
              </a:r>
              <a:endParaRPr lang="ko-KR" altLang="en-US" sz="12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292614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317479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4B1C5-1DD9-AF15-DE3F-02859903813A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F1376-C6F3-C9E8-BC3B-BAA3E6D80EB5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24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212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8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수상내역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2C4C1EE-DDC8-63CB-5CB5-57A92E02D6BD}"/>
              </a:ext>
            </a:extLst>
          </p:cNvPr>
          <p:cNvGrpSpPr/>
          <p:nvPr/>
        </p:nvGrpSpPr>
        <p:grpSpPr>
          <a:xfrm>
            <a:off x="928225" y="2488458"/>
            <a:ext cx="4809409" cy="3542435"/>
            <a:chOff x="3641239" y="2036556"/>
            <a:chExt cx="2086994" cy="354243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AF95BF3-A33E-3ED4-D4B8-1B89DC6B1DC5}"/>
                </a:ext>
              </a:extLst>
            </p:cNvPr>
            <p:cNvSpPr/>
            <p:nvPr/>
          </p:nvSpPr>
          <p:spPr>
            <a:xfrm>
              <a:off x="3641239" y="2070205"/>
              <a:ext cx="2086994" cy="35087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71F45B0-605A-3EEB-231C-67A24AD70A01}"/>
                </a:ext>
              </a:extLst>
            </p:cNvPr>
            <p:cNvSpPr/>
            <p:nvPr/>
          </p:nvSpPr>
          <p:spPr>
            <a:xfrm>
              <a:off x="3641239" y="2036556"/>
              <a:ext cx="2086994" cy="6042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D46FD89-E348-2DE4-1889-54E2ADFDD6B6}"/>
                </a:ext>
              </a:extLst>
            </p:cNvPr>
            <p:cNvSpPr txBox="1"/>
            <p:nvPr/>
          </p:nvSpPr>
          <p:spPr>
            <a:xfrm>
              <a:off x="4408803" y="2148879"/>
              <a:ext cx="551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1">
                      <a:lumMod val="95000"/>
                    </a:schemeClr>
                  </a:solidFill>
                </a:rPr>
                <a:t>수상내역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245D7FA-2EDE-736A-9A25-5D557ABCECD3}"/>
                </a:ext>
              </a:extLst>
            </p:cNvPr>
            <p:cNvSpPr txBox="1"/>
            <p:nvPr/>
          </p:nvSpPr>
          <p:spPr>
            <a:xfrm>
              <a:off x="3688851" y="3273238"/>
              <a:ext cx="1946227" cy="703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2022.04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400" spc="-150" dirty="0">
                  <a:latin typeface="+mn-ea"/>
                </a:rPr>
                <a:t>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표창장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: </a:t>
              </a:r>
              <a:r>
                <a:rPr lang="ko-KR" altLang="en-US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경인지방병무청장</a:t>
              </a:r>
              <a:endPara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marL="285750" indent="-28575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400" b="1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2018.06</a:t>
              </a:r>
              <a:r>
                <a:rPr lang="en-US" altLang="ko-KR" sz="14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Dean’s list / </a:t>
              </a:r>
              <a:r>
                <a:rPr lang="ko-KR" altLang="en-US" sz="1400" spc="-150" dirty="0" err="1">
                  <a:solidFill>
                    <a:srgbClr val="404040"/>
                  </a:solidFill>
                  <a:latin typeface="+mn-ea"/>
                </a:rPr>
                <a:t>한양브레인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 장학금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 : </a:t>
              </a:r>
              <a:r>
                <a:rPr lang="ko-KR" altLang="en-US" sz="1400" spc="-150" dirty="0">
                  <a:solidFill>
                    <a:srgbClr val="404040"/>
                  </a:solidFill>
                  <a:latin typeface="+mn-ea"/>
                </a:rPr>
                <a:t>한양대학교 </a:t>
              </a:r>
              <a:r>
                <a:rPr lang="en-US" altLang="ko-KR" sz="1400" spc="-150" dirty="0">
                  <a:solidFill>
                    <a:srgbClr val="404040"/>
                  </a:solidFill>
                  <a:latin typeface="+mn-ea"/>
                </a:rPr>
                <a:t>(Ranked 1st )</a:t>
              </a:r>
              <a:endPara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A11B5A-83BB-081D-E73D-91C9BDEA3CF0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5BF3D1C-6A23-7713-62BB-02BECBB7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25" y="1267050"/>
            <a:ext cx="6167136" cy="750294"/>
          </a:xfrm>
          <a:prstGeom prst="rect">
            <a:avLst/>
          </a:prstGeom>
        </p:spPr>
      </p:pic>
      <p:pic>
        <p:nvPicPr>
          <p:cNvPr id="8" name="Object 29">
            <a:extLst>
              <a:ext uri="{FF2B5EF4-FFF2-40B4-BE49-F238E27FC236}">
                <a16:creationId xmlns:a16="http://schemas.microsoft.com/office/drawing/2014/main" id="{E0EDA3B4-3BC0-0F54-1B82-879152C6B70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057078" y="1453628"/>
            <a:ext cx="1665637" cy="2220849"/>
          </a:xfrm>
          <a:prstGeom prst="rect">
            <a:avLst/>
          </a:prstGeom>
        </p:spPr>
      </p:pic>
      <p:sp>
        <p:nvSpPr>
          <p:cNvPr id="10" name="Object 32">
            <a:extLst>
              <a:ext uri="{FF2B5EF4-FFF2-40B4-BE49-F238E27FC236}">
                <a16:creationId xmlns:a16="http://schemas.microsoft.com/office/drawing/2014/main" id="{39DA5EBA-C551-B397-57A6-2C49D2ADCC4E}"/>
              </a:ext>
            </a:extLst>
          </p:cNvPr>
          <p:cNvSpPr txBox="1"/>
          <p:nvPr/>
        </p:nvSpPr>
        <p:spPr>
          <a:xfrm>
            <a:off x="8489302" y="3725140"/>
            <a:ext cx="801188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▲표창장</a:t>
            </a:r>
            <a:endParaRPr lang="en-US" sz="12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2A05637-8633-7393-637D-0F6DFDE526C9}"/>
              </a:ext>
            </a:extLst>
          </p:cNvPr>
          <p:cNvGrpSpPr/>
          <p:nvPr/>
        </p:nvGrpSpPr>
        <p:grpSpPr>
          <a:xfrm>
            <a:off x="6901871" y="4224333"/>
            <a:ext cx="3976050" cy="1111487"/>
            <a:chOff x="11598998" y="6733075"/>
            <a:chExt cx="6171429" cy="1765458"/>
          </a:xfrm>
        </p:grpSpPr>
        <p:pic>
          <p:nvPicPr>
            <p:cNvPr id="11" name="Object 34">
              <a:extLst>
                <a:ext uri="{FF2B5EF4-FFF2-40B4-BE49-F238E27FC236}">
                  <a16:creationId xmlns:a16="http://schemas.microsoft.com/office/drawing/2014/main" id="{528E3D89-ADCC-1859-B2CE-E61A5B8F3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598998" y="6733075"/>
              <a:ext cx="6171429" cy="1765458"/>
            </a:xfrm>
            <a:prstGeom prst="rect">
              <a:avLst/>
            </a:prstGeom>
          </p:spPr>
        </p:pic>
        <p:pic>
          <p:nvPicPr>
            <p:cNvPr id="12" name="Object 37">
              <a:extLst>
                <a:ext uri="{FF2B5EF4-FFF2-40B4-BE49-F238E27FC236}">
                  <a16:creationId xmlns:a16="http://schemas.microsoft.com/office/drawing/2014/main" id="{9E15232D-9297-C7AB-FBE9-B8BC186C0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54915" y="7267345"/>
              <a:ext cx="1808440" cy="357983"/>
            </a:xfrm>
            <a:prstGeom prst="rect">
              <a:avLst/>
            </a:prstGeom>
          </p:spPr>
        </p:pic>
        <p:pic>
          <p:nvPicPr>
            <p:cNvPr id="13" name="Object 40">
              <a:extLst>
                <a:ext uri="{FF2B5EF4-FFF2-40B4-BE49-F238E27FC236}">
                  <a16:creationId xmlns:a16="http://schemas.microsoft.com/office/drawing/2014/main" id="{B5D4A59C-76AF-4789-F8AB-4F2170984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70068" y="6800531"/>
              <a:ext cx="466813" cy="466813"/>
            </a:xfrm>
            <a:prstGeom prst="rect">
              <a:avLst/>
            </a:prstGeom>
          </p:spPr>
        </p:pic>
      </p:grpSp>
      <p:sp>
        <p:nvSpPr>
          <p:cNvPr id="18" name="Object 43">
            <a:extLst>
              <a:ext uri="{FF2B5EF4-FFF2-40B4-BE49-F238E27FC236}">
                <a16:creationId xmlns:a16="http://schemas.microsoft.com/office/drawing/2014/main" id="{9292DEA7-F2A9-033C-C311-1E718ECEA65B}"/>
              </a:ext>
            </a:extLst>
          </p:cNvPr>
          <p:cNvSpPr txBox="1"/>
          <p:nvPr/>
        </p:nvSpPr>
        <p:spPr>
          <a:xfrm>
            <a:off x="8057078" y="5400376"/>
            <a:ext cx="1650496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Noto Sans CJK KR Regular" pitchFamily="34" charset="0"/>
                <a:cs typeface="Noto Sans CJK KR Regular" pitchFamily="34" charset="0"/>
              </a:rPr>
              <a:t>▲한양브레인 장학금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34B15-8038-5190-691C-52114855DFEB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25</a:t>
            </a:r>
            <a:endParaRPr lang="ko-KR" altLang="en-US" dirty="0">
              <a:solidFill>
                <a:srgbClr val="224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5063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4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17895" y="1714833"/>
            <a:ext cx="5374105" cy="2021435"/>
            <a:chOff x="6817895" y="1153359"/>
            <a:chExt cx="5374105" cy="202143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1153359"/>
              <a:ext cx="4899098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0" b="1" dirty="0">
                  <a:solidFill>
                    <a:schemeClr val="bg1"/>
                  </a:solidFill>
                  <a:latin typeface="+mj-ea"/>
                  <a:ea typeface="+mj-ea"/>
                </a:rPr>
                <a:t>9. </a:t>
              </a:r>
              <a:r>
                <a:rPr lang="ko-KR" altLang="en-US" sz="4800" b="1" dirty="0">
                  <a:solidFill>
                    <a:schemeClr val="bg1"/>
                  </a:solidFill>
                  <a:latin typeface="+mj-ea"/>
                  <a:ea typeface="+mj-ea"/>
                </a:rPr>
                <a:t>비전 </a:t>
              </a:r>
              <a:r>
                <a:rPr lang="en-US" altLang="ko-KR" sz="4800" b="1" dirty="0">
                  <a:solidFill>
                    <a:schemeClr val="bg1"/>
                  </a:solidFill>
                  <a:latin typeface="+mj-ea"/>
                  <a:ea typeface="+mj-ea"/>
                </a:rPr>
                <a:t>&amp;</a:t>
              </a:r>
              <a:r>
                <a:rPr lang="ko-KR" altLang="en-US" sz="4800" b="1" dirty="0">
                  <a:solidFill>
                    <a:schemeClr val="bg1"/>
                  </a:solidFill>
                  <a:latin typeface="+mj-ea"/>
                  <a:ea typeface="+mj-ea"/>
                </a:rPr>
                <a:t> 설계</a:t>
              </a:r>
              <a:endParaRPr lang="ko-KR" altLang="en-US" sz="120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292614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317479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4B1C5-1DD9-AF15-DE3F-02859903813A}"/>
              </a:ext>
            </a:extLst>
          </p:cNvPr>
          <p:cNvSpPr/>
          <p:nvPr/>
        </p:nvSpPr>
        <p:spPr>
          <a:xfrm>
            <a:off x="10026650" y="6477000"/>
            <a:ext cx="2165350" cy="298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F1376-C6F3-C9E8-BC3B-BAA3E6D80EB5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26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549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8326A7D-F71C-ED1C-CBFD-93F557654D2A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9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51639B-29EB-6E9D-733B-6F917838F571}"/>
              </a:ext>
            </a:extLst>
          </p:cNvPr>
          <p:cNvSpPr txBox="1"/>
          <p:nvPr/>
        </p:nvSpPr>
        <p:spPr>
          <a:xfrm>
            <a:off x="1163052" y="272716"/>
            <a:ext cx="1768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spc="-300" dirty="0">
                <a:solidFill>
                  <a:schemeClr val="accent1"/>
                </a:solidFill>
              </a:rPr>
              <a:t>비전 </a:t>
            </a:r>
            <a:r>
              <a:rPr lang="en-US" altLang="ko-KR" sz="2800" b="1" spc="-300" dirty="0">
                <a:solidFill>
                  <a:schemeClr val="accent1"/>
                </a:solidFill>
              </a:rPr>
              <a:t>&amp; </a:t>
            </a:r>
            <a:r>
              <a:rPr lang="ko-KR" altLang="en-US" sz="2800" b="1" spc="-300" dirty="0">
                <a:solidFill>
                  <a:schemeClr val="accent1"/>
                </a:solidFill>
              </a:rPr>
              <a:t>설계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A11B5A-83BB-081D-E73D-91C9BDEA3CF0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34B15-8038-5190-691C-52114855DFEB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27</a:t>
            </a:r>
            <a:endParaRPr lang="ko-KR" altLang="en-US" dirty="0">
              <a:solidFill>
                <a:srgbClr val="224D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452E61-3264-A3EB-998E-284CA415C6B2}"/>
              </a:ext>
            </a:extLst>
          </p:cNvPr>
          <p:cNvSpPr txBox="1"/>
          <p:nvPr/>
        </p:nvSpPr>
        <p:spPr>
          <a:xfrm>
            <a:off x="928224" y="1166804"/>
            <a:ext cx="10181735" cy="503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새로운 분야에 끊임없이 도전하고 발전하는 </a:t>
            </a:r>
            <a:r>
              <a:rPr lang="ko-KR" altLang="en-US" sz="2000" spc="-150" dirty="0">
                <a:solidFill>
                  <a:srgbClr val="1F4CF5"/>
                </a:solidFill>
                <a:latin typeface="+mn-ea"/>
              </a:rPr>
              <a:t>금융</a:t>
            </a:r>
            <a:r>
              <a:rPr lang="en-US" altLang="ko-KR" sz="2000" spc="-150" dirty="0">
                <a:solidFill>
                  <a:srgbClr val="1F4CF5"/>
                </a:solidFill>
                <a:latin typeface="+mn-ea"/>
              </a:rPr>
              <a:t> </a:t>
            </a:r>
            <a:r>
              <a:rPr lang="ko-KR" altLang="en-US" sz="2000" spc="-150" dirty="0">
                <a:solidFill>
                  <a:srgbClr val="1F4CF5"/>
                </a:solidFill>
                <a:latin typeface="+mn-ea"/>
              </a:rPr>
              <a:t>데이터분석 전문가</a:t>
            </a:r>
            <a:r>
              <a: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8021EB-23E6-35CF-C9D6-1A65EF8E7CA0}"/>
              </a:ext>
            </a:extLst>
          </p:cNvPr>
          <p:cNvSpPr txBox="1"/>
          <p:nvPr/>
        </p:nvSpPr>
        <p:spPr>
          <a:xfrm>
            <a:off x="928224" y="1803043"/>
            <a:ext cx="10491764" cy="6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금융과 데이터 분야   전문지식 학습과 </a:t>
            </a:r>
            <a:r>
              <a:rPr lang="ko-KR" altLang="en-US" sz="1200" spc="-150">
                <a:solidFill>
                  <a:srgbClr val="404040"/>
                </a:solidFill>
                <a:latin typeface="+mn-ea"/>
              </a:rPr>
              <a:t>경험을 바탕으로 새로운 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 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비즈니스 솔루션을 제공하고 금융 분야 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 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최고의  데이터분석 전문가로  성장하기 위해  끊임없이 도전하고 성장하겠습니다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부족한 부분은 끊임없는 학습과 자기계발을 통해서 채우고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, 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초심을 잃지 않고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,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항상 도전하고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,</a:t>
            </a:r>
            <a:r>
              <a:rPr lang="ko-KR" altLang="en-US" sz="1200" spc="-150" dirty="0">
                <a:solidFill>
                  <a:srgbClr val="404040"/>
                </a:solidFill>
                <a:latin typeface="+mn-ea"/>
              </a:rPr>
              <a:t> 몸소 실천하는 인재가 되도록 노력하겠습니다</a:t>
            </a:r>
            <a:r>
              <a:rPr lang="en-US" altLang="ko-KR" sz="1200" spc="-150" dirty="0">
                <a:solidFill>
                  <a:srgbClr val="404040"/>
                </a:solidFill>
                <a:latin typeface="+mn-ea"/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EBEA8F-80A7-1BA4-A3BD-4EBDC05FBD1A}"/>
              </a:ext>
            </a:extLst>
          </p:cNvPr>
          <p:cNvSpPr txBox="1"/>
          <p:nvPr/>
        </p:nvSpPr>
        <p:spPr>
          <a:xfrm>
            <a:off x="1000069" y="4472954"/>
            <a:ext cx="1573313" cy="89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동료의 의견을 경청하고 겸손한 태도로 대화하는  태도</a:t>
            </a:r>
            <a:endParaRPr lang="en-US" altLang="ko-KR" sz="12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6DAE4A-7C15-9DF4-997E-CDD00E9E0B5E}"/>
              </a:ext>
            </a:extLst>
          </p:cNvPr>
          <p:cNvSpPr txBox="1"/>
          <p:nvPr/>
        </p:nvSpPr>
        <p:spPr>
          <a:xfrm>
            <a:off x="3229463" y="4472953"/>
            <a:ext cx="1573313" cy="89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자기주도적 학습을 통해 지속적인 데이터 역량 </a:t>
            </a:r>
            <a:endParaRPr lang="en-US" altLang="ko-KR" sz="12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계발</a:t>
            </a:r>
            <a:endParaRPr lang="en-US" altLang="ko-KR" sz="12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59EF38-DBC6-3713-9DBC-2053CE8306D8}"/>
              </a:ext>
            </a:extLst>
          </p:cNvPr>
          <p:cNvSpPr txBox="1"/>
          <p:nvPr/>
        </p:nvSpPr>
        <p:spPr>
          <a:xfrm>
            <a:off x="5458857" y="4472953"/>
            <a:ext cx="1573313" cy="89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부트캠프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인턴경험을 </a:t>
            </a:r>
            <a:endParaRPr lang="en-US" altLang="ko-KR" sz="12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바탕으로 지속적인 </a:t>
            </a:r>
            <a:endParaRPr lang="en-US" altLang="ko-KR" sz="12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새로운 경험 추구</a:t>
            </a:r>
            <a:endParaRPr lang="en-US" altLang="ko-KR" sz="12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7D231C-FE31-C5D2-AF9C-6CB7D58F8275}"/>
              </a:ext>
            </a:extLst>
          </p:cNvPr>
          <p:cNvSpPr txBox="1"/>
          <p:nvPr/>
        </p:nvSpPr>
        <p:spPr>
          <a:xfrm>
            <a:off x="7632835" y="4472953"/>
            <a:ext cx="1632104" cy="893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원인</a:t>
            </a:r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문제점 분석을 통한 혁신적인 비즈니스 </a:t>
            </a:r>
            <a:endParaRPr lang="en-US" altLang="ko-KR" sz="12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솔루션 제시</a:t>
            </a:r>
            <a:endParaRPr lang="en-US" altLang="ko-KR" sz="12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556067-A412-D26C-B6A0-1EBC6BB25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224" y="2747074"/>
            <a:ext cx="8392131" cy="1398041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38496DCF-1C66-C0D5-3647-101A924FCAD8}"/>
              </a:ext>
            </a:extLst>
          </p:cNvPr>
          <p:cNvSpPr/>
          <p:nvPr/>
        </p:nvSpPr>
        <p:spPr>
          <a:xfrm>
            <a:off x="7753562" y="2754743"/>
            <a:ext cx="1390650" cy="139037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금융 </a:t>
            </a:r>
            <a:endParaRPr lang="en-US" altLang="ko-KR" dirty="0"/>
          </a:p>
          <a:p>
            <a:pPr algn="ctr"/>
            <a:r>
              <a:rPr lang="ko-KR" altLang="en-US" dirty="0"/>
              <a:t>데이터분석</a:t>
            </a:r>
            <a:endParaRPr lang="en-US" altLang="ko-KR" dirty="0"/>
          </a:p>
          <a:p>
            <a:pPr algn="ctr"/>
            <a:r>
              <a:rPr lang="ko-KR" altLang="en-US" dirty="0"/>
              <a:t>전문가</a:t>
            </a:r>
          </a:p>
        </p:txBody>
      </p:sp>
    </p:spTree>
    <p:extLst>
      <p:ext uri="{BB962C8B-B14F-4D97-AF65-F5344CB8AC3E}">
        <p14:creationId xmlns:p14="http://schemas.microsoft.com/office/powerpoint/2010/main" val="20464062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3FBA607-E7FC-B7F8-2868-BC448F31F79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27D3D02-66A7-B0C0-2CF2-A0900C18861C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54DFCD-6BFA-802A-68C5-CE8AE1818DA3}"/>
              </a:ext>
            </a:extLst>
          </p:cNvPr>
          <p:cNvSpPr txBox="1"/>
          <p:nvPr/>
        </p:nvSpPr>
        <p:spPr>
          <a:xfrm>
            <a:off x="3695346" y="2672718"/>
            <a:ext cx="48013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7200" b="1" dirty="0">
                <a:solidFill>
                  <a:schemeClr val="accent1"/>
                </a:solidFill>
              </a:rPr>
              <a:t>감사합니다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01EAC-39D2-CA09-720C-EDF7F167A7D4}"/>
              </a:ext>
            </a:extLst>
          </p:cNvPr>
          <p:cNvSpPr txBox="1"/>
          <p:nvPr/>
        </p:nvSpPr>
        <p:spPr>
          <a:xfrm>
            <a:off x="4770811" y="4277382"/>
            <a:ext cx="20625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Email	dlfwnqkr12@gmail.com</a:t>
            </a:r>
            <a:endParaRPr lang="ko-KR" altLang="en-US" sz="1200" dirty="0"/>
          </a:p>
        </p:txBody>
      </p:sp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BB84A156-89D3-24C7-611D-EAAE09E85E87}"/>
              </a:ext>
            </a:extLst>
          </p:cNvPr>
          <p:cNvSpPr/>
          <p:nvPr/>
        </p:nvSpPr>
        <p:spPr>
          <a:xfrm>
            <a:off x="1163052" y="2129883"/>
            <a:ext cx="9881937" cy="3077737"/>
          </a:xfrm>
          <a:prstGeom prst="bracketPair">
            <a:avLst>
              <a:gd name="adj" fmla="val 1231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F7A60A2-5E0A-B626-D43D-DCF27C64CA96}"/>
              </a:ext>
            </a:extLst>
          </p:cNvPr>
          <p:cNvSpPr/>
          <p:nvPr/>
        </p:nvSpPr>
        <p:spPr>
          <a:xfrm>
            <a:off x="10026650" y="6426200"/>
            <a:ext cx="2165350" cy="2984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30448-65BA-8F76-6E99-C82D82758338}"/>
              </a:ext>
            </a:extLst>
          </p:cNvPr>
          <p:cNvSpPr txBox="1"/>
          <p:nvPr/>
        </p:nvSpPr>
        <p:spPr>
          <a:xfrm>
            <a:off x="1767990" y="4277381"/>
            <a:ext cx="1576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/>
              <a:t>Phone	010-6770-2816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9E4526-36A3-5E23-5C0B-B05BFC614081}"/>
              </a:ext>
            </a:extLst>
          </p:cNvPr>
          <p:cNvSpPr txBox="1"/>
          <p:nvPr/>
        </p:nvSpPr>
        <p:spPr>
          <a:xfrm>
            <a:off x="7985788" y="4277381"/>
            <a:ext cx="2721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/>
              <a:t>Linkedin</a:t>
            </a:r>
            <a:r>
              <a:rPr lang="en-US" altLang="ko-KR" sz="1200" dirty="0"/>
              <a:t>	www.linkedin.com/in/1200park</a:t>
            </a:r>
            <a:endParaRPr lang="ko-KR" altLang="en-US" sz="1200" dirty="0"/>
          </a:p>
        </p:txBody>
      </p:sp>
      <p:pic>
        <p:nvPicPr>
          <p:cNvPr id="12" name="Object 10">
            <a:extLst>
              <a:ext uri="{FF2B5EF4-FFF2-40B4-BE49-F238E27FC236}">
                <a16:creationId xmlns:a16="http://schemas.microsoft.com/office/drawing/2014/main" id="{2767BF86-FC8D-B31E-4CD0-3602D977358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84634" y="4277381"/>
            <a:ext cx="343631" cy="309097"/>
          </a:xfrm>
          <a:prstGeom prst="rect">
            <a:avLst/>
          </a:prstGeom>
        </p:spPr>
      </p:pic>
      <p:pic>
        <p:nvPicPr>
          <p:cNvPr id="13" name="Object 15">
            <a:extLst>
              <a:ext uri="{FF2B5EF4-FFF2-40B4-BE49-F238E27FC236}">
                <a16:creationId xmlns:a16="http://schemas.microsoft.com/office/drawing/2014/main" id="{6660347D-5597-9F36-0F4D-4F7FAB5E3F0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51488" y="4270304"/>
            <a:ext cx="323250" cy="323250"/>
          </a:xfrm>
          <a:prstGeom prst="rect">
            <a:avLst/>
          </a:prstGeom>
        </p:spPr>
      </p:pic>
      <p:pic>
        <p:nvPicPr>
          <p:cNvPr id="14" name="Object 20">
            <a:extLst>
              <a:ext uri="{FF2B5EF4-FFF2-40B4-BE49-F238E27FC236}">
                <a16:creationId xmlns:a16="http://schemas.microsoft.com/office/drawing/2014/main" id="{D154AF58-4EDB-8F73-4CF8-D343C0CA5946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17717" y="4297894"/>
            <a:ext cx="268070" cy="2680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D2777B-2A1B-ED5B-4D6E-5842F405DD10}"/>
              </a:ext>
            </a:extLst>
          </p:cNvPr>
          <p:cNvSpPr txBox="1"/>
          <p:nvPr/>
        </p:nvSpPr>
        <p:spPr>
          <a:xfrm>
            <a:off x="95250" y="6406106"/>
            <a:ext cx="438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224D60"/>
                </a:solidFill>
              </a:rPr>
              <a:t>28</a:t>
            </a:r>
            <a:endParaRPr lang="ko-KR" altLang="en-US" dirty="0">
              <a:solidFill>
                <a:srgbClr val="224D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634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3294</TotalTime>
  <Words>3107</Words>
  <Application>Microsoft Office PowerPoint</Application>
  <PresentationFormat>와이드스크린</PresentationFormat>
  <Paragraphs>524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7" baseType="lpstr">
      <vt:lpstr>Noto Sans CJK KR Regular</vt:lpstr>
      <vt:lpstr>Pretendard</vt:lpstr>
      <vt:lpstr>Pretendard Black</vt:lpstr>
      <vt:lpstr>Malgun Gothic</vt:lpstr>
      <vt:lpstr>Malgun Gothic</vt:lpstr>
      <vt:lpstr>Arial</vt:lpstr>
      <vt:lpstr>Calibri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일주 박</cp:lastModifiedBy>
  <cp:revision>367</cp:revision>
  <dcterms:created xsi:type="dcterms:W3CDTF">2022-08-03T01:14:38Z</dcterms:created>
  <dcterms:modified xsi:type="dcterms:W3CDTF">2026-01-29T14:10:09Z</dcterms:modified>
</cp:coreProperties>
</file>